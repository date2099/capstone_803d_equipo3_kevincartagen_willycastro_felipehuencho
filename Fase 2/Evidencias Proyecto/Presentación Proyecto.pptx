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odec Pro Bold" charset="1" panose="00000600000000000000"/>
      <p:regular r:id="rId24"/>
    </p:embeddedFont>
    <p:embeddedFont>
      <p:font typeface="Lora Bold" charset="1" panose="00000800000000000000"/>
      <p:regular r:id="rId25"/>
    </p:embeddedFont>
    <p:embeddedFont>
      <p:font typeface="Open Sans Bold" charset="1" panose="020B0806030504020204"/>
      <p:regular r:id="rId26"/>
    </p:embeddedFont>
    <p:embeddedFont>
      <p:font typeface="Open Sans" charset="1" panose="020B0606030504020204"/>
      <p:regular r:id="rId27"/>
    </p:embeddedFont>
    <p:embeddedFont>
      <p:font typeface="Garet Bold" charset="1" panose="00000000000000000000"/>
      <p:regular r:id="rId28"/>
    </p:embeddedFont>
    <p:embeddedFont>
      <p:font typeface="Archivo Black" charset="1" panose="020B0A03020202020B04"/>
      <p:regular r:id="rId29"/>
    </p:embeddedFont>
    <p:embeddedFont>
      <p:font typeface="Agrandir Bold" charset="1" panose="000008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2.png" Type="http://schemas.openxmlformats.org/officeDocument/2006/relationships/image"/><Relationship Id="rId20" Target="../media/image30.pn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27" Target="../media/image37.png" Type="http://schemas.openxmlformats.org/officeDocument/2006/relationships/image"/><Relationship Id="rId28" Target="../media/image38.svg" Type="http://schemas.openxmlformats.org/officeDocument/2006/relationships/image"/><Relationship Id="rId29" Target="../media/image39.png" Type="http://schemas.openxmlformats.org/officeDocument/2006/relationships/image"/><Relationship Id="rId3" Target="../media/image13.svg" Type="http://schemas.openxmlformats.org/officeDocument/2006/relationships/image"/><Relationship Id="rId30" Target="../media/image40.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 Id="rId4" Target="../media/image6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png" Type="http://schemas.openxmlformats.org/officeDocument/2006/relationships/image"/><Relationship Id="rId4" Target="../media/image72.png" Type="http://schemas.openxmlformats.org/officeDocument/2006/relationships/image"/><Relationship Id="rId5" Target="../media/image7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5C69F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03384" y="-1675084"/>
            <a:ext cx="6000534" cy="3567590"/>
          </a:xfrm>
          <a:custGeom>
            <a:avLst/>
            <a:gdLst/>
            <a:ahLst/>
            <a:cxnLst/>
            <a:rect r="r" b="b" t="t" l="l"/>
            <a:pathLst>
              <a:path h="3567590" w="6000534">
                <a:moveTo>
                  <a:pt x="0" y="0"/>
                </a:moveTo>
                <a:lnTo>
                  <a:pt x="6000534" y="0"/>
                </a:lnTo>
                <a:lnTo>
                  <a:pt x="6000534" y="3567591"/>
                </a:lnTo>
                <a:lnTo>
                  <a:pt x="0" y="3567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2542441" y="859120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741048" y="53781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4180105" y="6181594"/>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904533" y="-494599"/>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275713" y="4625635"/>
            <a:ext cx="5081972" cy="3021463"/>
          </a:xfrm>
          <a:custGeom>
            <a:avLst/>
            <a:gdLst/>
            <a:ahLst/>
            <a:cxnLst/>
            <a:rect r="r" b="b" t="t" l="l"/>
            <a:pathLst>
              <a:path h="3021463" w="5081972">
                <a:moveTo>
                  <a:pt x="0" y="0"/>
                </a:moveTo>
                <a:lnTo>
                  <a:pt x="5081972" y="0"/>
                </a:lnTo>
                <a:lnTo>
                  <a:pt x="5081972" y="3021463"/>
                </a:lnTo>
                <a:lnTo>
                  <a:pt x="0" y="3021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4960748" y="776013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16481741" y="265415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0139" y="3704208"/>
            <a:ext cx="9450478" cy="3045706"/>
          </a:xfrm>
          <a:prstGeom prst="rect">
            <a:avLst/>
          </a:prstGeom>
        </p:spPr>
        <p:txBody>
          <a:bodyPr anchor="t" rtlCol="false" tIns="0" lIns="0" bIns="0" rIns="0">
            <a:spAutoFit/>
          </a:bodyPr>
          <a:lstStyle/>
          <a:p>
            <a:pPr algn="ctr">
              <a:lnSpc>
                <a:spcPts val="7527"/>
              </a:lnSpc>
            </a:pPr>
            <a:r>
              <a:rPr lang="en-US" sz="8007" b="true">
                <a:solidFill>
                  <a:srgbClr val="FFFFFF"/>
                </a:solidFill>
                <a:latin typeface="Codec Pro Bold"/>
                <a:ea typeface="Codec Pro Bold"/>
                <a:cs typeface="Codec Pro Bold"/>
                <a:sym typeface="Codec Pro Bold"/>
              </a:rPr>
              <a:t>Intranet</a:t>
            </a:r>
          </a:p>
          <a:p>
            <a:pPr algn="ctr">
              <a:lnSpc>
                <a:spcPts val="7527"/>
              </a:lnSpc>
            </a:pPr>
            <a:r>
              <a:rPr lang="en-US" sz="8007" b="true">
                <a:solidFill>
                  <a:srgbClr val="FFFFFF"/>
                </a:solidFill>
                <a:latin typeface="Codec Pro Bold"/>
                <a:ea typeface="Codec Pro Bold"/>
                <a:cs typeface="Codec Pro Bold"/>
                <a:sym typeface="Codec Pro Bold"/>
              </a:rPr>
              <a:t>Colegio San Agustin de Hipona</a:t>
            </a:r>
          </a:p>
        </p:txBody>
      </p:sp>
      <p:grpSp>
        <p:nvGrpSpPr>
          <p:cNvPr name="Group 11" id="11"/>
          <p:cNvGrpSpPr/>
          <p:nvPr/>
        </p:nvGrpSpPr>
        <p:grpSpPr>
          <a:xfrm rot="0">
            <a:off x="5531401" y="7032332"/>
            <a:ext cx="7225199" cy="700433"/>
            <a:chOff x="0" y="0"/>
            <a:chExt cx="1356880" cy="131540"/>
          </a:xfrm>
        </p:grpSpPr>
        <p:sp>
          <p:nvSpPr>
            <p:cNvPr name="Freeform 12" id="12"/>
            <p:cNvSpPr/>
            <p:nvPr/>
          </p:nvSpPr>
          <p:spPr>
            <a:xfrm flipH="false" flipV="false" rot="0">
              <a:off x="0" y="0"/>
              <a:ext cx="1356880" cy="131540"/>
            </a:xfrm>
            <a:custGeom>
              <a:avLst/>
              <a:gdLst/>
              <a:ahLst/>
              <a:cxnLst/>
              <a:rect r="r" b="b" t="t" l="l"/>
              <a:pathLst>
                <a:path h="131540" w="1356880">
                  <a:moveTo>
                    <a:pt x="65770" y="0"/>
                  </a:moveTo>
                  <a:lnTo>
                    <a:pt x="1291110" y="0"/>
                  </a:lnTo>
                  <a:cubicBezTo>
                    <a:pt x="1327434" y="0"/>
                    <a:pt x="1356880" y="29446"/>
                    <a:pt x="1356880" y="65770"/>
                  </a:cubicBezTo>
                  <a:lnTo>
                    <a:pt x="1356880" y="65770"/>
                  </a:lnTo>
                  <a:cubicBezTo>
                    <a:pt x="1356880" y="83213"/>
                    <a:pt x="1349951" y="99942"/>
                    <a:pt x="1337617" y="112276"/>
                  </a:cubicBezTo>
                  <a:cubicBezTo>
                    <a:pt x="1325283" y="124611"/>
                    <a:pt x="1308554" y="131540"/>
                    <a:pt x="1291110" y="131540"/>
                  </a:cubicBezTo>
                  <a:lnTo>
                    <a:pt x="65770" y="131540"/>
                  </a:lnTo>
                  <a:cubicBezTo>
                    <a:pt x="29446" y="131540"/>
                    <a:pt x="0" y="102094"/>
                    <a:pt x="0" y="65770"/>
                  </a:cubicBezTo>
                  <a:lnTo>
                    <a:pt x="0" y="65770"/>
                  </a:lnTo>
                  <a:cubicBezTo>
                    <a:pt x="0" y="29446"/>
                    <a:pt x="29446" y="0"/>
                    <a:pt x="65770" y="0"/>
                  </a:cubicBezTo>
                  <a:close/>
                </a:path>
              </a:pathLst>
            </a:custGeom>
            <a:solidFill>
              <a:srgbClr val="5666F8"/>
            </a:solidFill>
            <a:ln cap="rnd">
              <a:noFill/>
              <a:prstDash val="solid"/>
              <a:round/>
            </a:ln>
          </p:spPr>
        </p:sp>
        <p:sp>
          <p:nvSpPr>
            <p:cNvPr name="TextBox 13" id="13"/>
            <p:cNvSpPr txBox="true"/>
            <p:nvPr/>
          </p:nvSpPr>
          <p:spPr>
            <a:xfrm>
              <a:off x="0" y="-9525"/>
              <a:ext cx="1356880" cy="141065"/>
            </a:xfrm>
            <a:prstGeom prst="rect">
              <a:avLst/>
            </a:prstGeom>
          </p:spPr>
          <p:txBody>
            <a:bodyPr anchor="ctr" rtlCol="false" tIns="31918" lIns="31918" bIns="31918" rIns="31918"/>
            <a:lstStyle/>
            <a:p>
              <a:pPr algn="ctr">
                <a:lnSpc>
                  <a:spcPts val="1381"/>
                </a:lnSpc>
              </a:pPr>
            </a:p>
          </p:txBody>
        </p:sp>
      </p:grpSp>
      <p:sp>
        <p:nvSpPr>
          <p:cNvPr name="TextBox 14" id="14"/>
          <p:cNvSpPr txBox="true"/>
          <p:nvPr/>
        </p:nvSpPr>
        <p:spPr>
          <a:xfrm rot="0">
            <a:off x="6521477" y="7235129"/>
            <a:ext cx="5245047" cy="405721"/>
          </a:xfrm>
          <a:prstGeom prst="rect">
            <a:avLst/>
          </a:prstGeom>
        </p:spPr>
        <p:txBody>
          <a:bodyPr anchor="t" rtlCol="false" tIns="0" lIns="0" bIns="0" rIns="0">
            <a:spAutoFit/>
          </a:bodyPr>
          <a:lstStyle/>
          <a:p>
            <a:pPr algn="ctr">
              <a:lnSpc>
                <a:spcPts val="2620"/>
              </a:lnSpc>
            </a:pPr>
            <a:r>
              <a:rPr lang="en-US" b="true" sz="2787" spc="78">
                <a:solidFill>
                  <a:srgbClr val="E4E5EC"/>
                </a:solidFill>
                <a:latin typeface="Codec Pro Bold"/>
                <a:ea typeface="Codec Pro Bold"/>
                <a:cs typeface="Codec Pro Bold"/>
                <a:sym typeface="Codec Pro Bold"/>
              </a:rPr>
              <a:t> PROYECTO CAPSTONE</a:t>
            </a:r>
          </a:p>
        </p:txBody>
      </p:sp>
      <p:sp>
        <p:nvSpPr>
          <p:cNvPr name="Freeform 15" id="15"/>
          <p:cNvSpPr/>
          <p:nvPr/>
        </p:nvSpPr>
        <p:spPr>
          <a:xfrm flipH="false" flipV="false" rot="0">
            <a:off x="7613950" y="1825372"/>
            <a:ext cx="955143" cy="1002536"/>
          </a:xfrm>
          <a:custGeom>
            <a:avLst/>
            <a:gdLst/>
            <a:ahLst/>
            <a:cxnLst/>
            <a:rect r="r" b="b" t="t" l="l"/>
            <a:pathLst>
              <a:path h="1002536" w="955143">
                <a:moveTo>
                  <a:pt x="0" y="0"/>
                </a:moveTo>
                <a:lnTo>
                  <a:pt x="955143" y="0"/>
                </a:lnTo>
                <a:lnTo>
                  <a:pt x="955143" y="1002536"/>
                </a:lnTo>
                <a:lnTo>
                  <a:pt x="0" y="10025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8794864" y="197141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
        <p:nvSpPr>
          <p:cNvPr name="TextBox 17" id="17"/>
          <p:cNvSpPr txBox="true"/>
          <p:nvPr/>
        </p:nvSpPr>
        <p:spPr>
          <a:xfrm rot="0">
            <a:off x="5531401" y="7965389"/>
            <a:ext cx="7368338" cy="281386"/>
          </a:xfrm>
          <a:prstGeom prst="rect">
            <a:avLst/>
          </a:prstGeom>
        </p:spPr>
        <p:txBody>
          <a:bodyPr anchor="t" rtlCol="false" tIns="0" lIns="0" bIns="0" rIns="0">
            <a:spAutoFit/>
          </a:bodyPr>
          <a:lstStyle/>
          <a:p>
            <a:pPr algn="l">
              <a:lnSpc>
                <a:spcPts val="1851"/>
              </a:lnSpc>
            </a:pPr>
            <a:r>
              <a:rPr lang="en-US" b="true" sz="1889" spc="128">
                <a:solidFill>
                  <a:srgbClr val="FFFFFF"/>
                </a:solidFill>
                <a:latin typeface="Codec Pro Bold"/>
                <a:ea typeface="Codec Pro Bold"/>
                <a:cs typeface="Codec Pro Bold"/>
                <a:sym typeface="Codec Pro Bold"/>
              </a:rPr>
              <a:t>FELIPE HUENCHO - KEVIN CARTAGENA - WILLY CASTRO</a:t>
            </a:r>
          </a:p>
        </p:txBody>
      </p:sp>
      <p:sp>
        <p:nvSpPr>
          <p:cNvPr name="TextBox 18" id="18"/>
          <p:cNvSpPr txBox="true"/>
          <p:nvPr/>
        </p:nvSpPr>
        <p:spPr>
          <a:xfrm rot="0">
            <a:off x="7264936" y="8734081"/>
            <a:ext cx="4245359" cy="281386"/>
          </a:xfrm>
          <a:prstGeom prst="rect">
            <a:avLst/>
          </a:prstGeom>
        </p:spPr>
        <p:txBody>
          <a:bodyPr anchor="t" rtlCol="false" tIns="0" lIns="0" bIns="0" rIns="0">
            <a:spAutoFit/>
          </a:bodyPr>
          <a:lstStyle/>
          <a:p>
            <a:pPr algn="l">
              <a:lnSpc>
                <a:spcPts val="1851"/>
              </a:lnSpc>
            </a:pPr>
            <a:r>
              <a:rPr lang="en-US" b="true" sz="1889" spc="128">
                <a:solidFill>
                  <a:srgbClr val="FFFFFF"/>
                </a:solidFill>
                <a:latin typeface="Codec Pro Bold"/>
                <a:ea typeface="Codec Pro Bold"/>
                <a:cs typeface="Codec Pro Bold"/>
                <a:sym typeface="Codec Pro Bold"/>
              </a:rPr>
              <a:t>DOCENTE: CARLOS CORREA</a:t>
            </a:r>
          </a:p>
        </p:txBody>
      </p:sp>
      <p:sp>
        <p:nvSpPr>
          <p:cNvPr name="TextBox 19" id="19"/>
          <p:cNvSpPr txBox="true"/>
          <p:nvPr/>
        </p:nvSpPr>
        <p:spPr>
          <a:xfrm rot="0">
            <a:off x="8295822" y="9101191"/>
            <a:ext cx="1635666" cy="281386"/>
          </a:xfrm>
          <a:prstGeom prst="rect">
            <a:avLst/>
          </a:prstGeom>
        </p:spPr>
        <p:txBody>
          <a:bodyPr anchor="t" rtlCol="false" tIns="0" lIns="0" bIns="0" rIns="0">
            <a:spAutoFit/>
          </a:bodyPr>
          <a:lstStyle/>
          <a:p>
            <a:pPr algn="l">
              <a:lnSpc>
                <a:spcPts val="1851"/>
              </a:lnSpc>
            </a:pPr>
            <a:r>
              <a:rPr lang="en-US" b="true" sz="1889" spc="128">
                <a:solidFill>
                  <a:srgbClr val="FFFFFF"/>
                </a:solidFill>
                <a:latin typeface="Codec Pro Bold"/>
                <a:ea typeface="Codec Pro Bold"/>
                <a:cs typeface="Codec Pro Bold"/>
                <a:sym typeface="Codec Pro Bold"/>
              </a:rPr>
              <a:t>13/10/2025</a:t>
            </a:r>
          </a:p>
        </p:txBody>
      </p:sp>
      <p:sp>
        <p:nvSpPr>
          <p:cNvPr name="TextBox 20" id="20"/>
          <p:cNvSpPr txBox="true"/>
          <p:nvPr/>
        </p:nvSpPr>
        <p:spPr>
          <a:xfrm rot="0">
            <a:off x="6277664" y="8282895"/>
            <a:ext cx="7368338" cy="222585"/>
          </a:xfrm>
          <a:prstGeom prst="rect">
            <a:avLst/>
          </a:prstGeom>
        </p:spPr>
        <p:txBody>
          <a:bodyPr anchor="t" rtlCol="false" tIns="0" lIns="0" bIns="0" rIns="0">
            <a:spAutoFit/>
          </a:bodyPr>
          <a:lstStyle/>
          <a:p>
            <a:pPr algn="l">
              <a:lnSpc>
                <a:spcPts val="1459"/>
              </a:lnSpc>
            </a:pPr>
            <a:r>
              <a:rPr lang="en-US" b="true" sz="1489" spc="101">
                <a:solidFill>
                  <a:srgbClr val="FFFFFF"/>
                </a:solidFill>
                <a:latin typeface="Codec Pro Bold"/>
                <a:ea typeface="Codec Pro Bold"/>
                <a:cs typeface="Codec Pro Bold"/>
                <a:sym typeface="Codec Pro Bold"/>
              </a:rPr>
              <a:t>SCRUM MASTER - PRODUCT OWNER - DESARROLLADOR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658979" y="2258388"/>
            <a:ext cx="17310327" cy="0"/>
          </a:xfrm>
          <a:prstGeom prst="line">
            <a:avLst/>
          </a:prstGeom>
          <a:ln cap="flat" w="38100">
            <a:solidFill>
              <a:srgbClr val="FFBD59"/>
            </a:solidFill>
            <a:prstDash val="solid"/>
            <a:headEnd type="none" len="sm" w="sm"/>
            <a:tailEnd type="none" len="sm" w="sm"/>
          </a:ln>
        </p:spPr>
      </p:sp>
      <p:sp>
        <p:nvSpPr>
          <p:cNvPr name="AutoShape 9" id="9"/>
          <p:cNvSpPr/>
          <p:nvPr/>
        </p:nvSpPr>
        <p:spPr>
          <a:xfrm>
            <a:off x="3276317" y="3357211"/>
            <a:ext cx="0" cy="1025256"/>
          </a:xfrm>
          <a:prstGeom prst="line">
            <a:avLst/>
          </a:prstGeom>
          <a:ln cap="flat" w="47625">
            <a:solidFill>
              <a:srgbClr val="0A2456"/>
            </a:solidFill>
            <a:prstDash val="solid"/>
            <a:headEnd type="none" len="sm" w="sm"/>
            <a:tailEnd type="none" len="sm" w="sm"/>
          </a:ln>
        </p:spPr>
      </p:sp>
      <p:sp>
        <p:nvSpPr>
          <p:cNvPr name="AutoShape 10" id="10"/>
          <p:cNvSpPr/>
          <p:nvPr/>
        </p:nvSpPr>
        <p:spPr>
          <a:xfrm>
            <a:off x="3276317" y="4910472"/>
            <a:ext cx="0" cy="1025256"/>
          </a:xfrm>
          <a:prstGeom prst="line">
            <a:avLst/>
          </a:prstGeom>
          <a:ln cap="flat" w="47625">
            <a:solidFill>
              <a:srgbClr val="0A2456"/>
            </a:solidFill>
            <a:prstDash val="solid"/>
            <a:headEnd type="none" len="sm" w="sm"/>
            <a:tailEnd type="none" len="sm" w="sm"/>
          </a:ln>
        </p:spPr>
      </p:sp>
      <p:sp>
        <p:nvSpPr>
          <p:cNvPr name="AutoShape 11" id="11"/>
          <p:cNvSpPr/>
          <p:nvPr/>
        </p:nvSpPr>
        <p:spPr>
          <a:xfrm>
            <a:off x="3299223" y="6389584"/>
            <a:ext cx="0" cy="1025256"/>
          </a:xfrm>
          <a:prstGeom prst="line">
            <a:avLst/>
          </a:prstGeom>
          <a:ln cap="flat" w="47625">
            <a:solidFill>
              <a:srgbClr val="0A2456"/>
            </a:solidFill>
            <a:prstDash val="solid"/>
            <a:headEnd type="none" len="sm" w="sm"/>
            <a:tailEnd type="none" len="sm" w="sm"/>
          </a:ln>
        </p:spPr>
      </p:sp>
      <p:sp>
        <p:nvSpPr>
          <p:cNvPr name="AutoShape 12" id="12"/>
          <p:cNvSpPr/>
          <p:nvPr/>
        </p:nvSpPr>
        <p:spPr>
          <a:xfrm>
            <a:off x="3299223" y="7795287"/>
            <a:ext cx="0" cy="1025256"/>
          </a:xfrm>
          <a:prstGeom prst="line">
            <a:avLst/>
          </a:prstGeom>
          <a:ln cap="flat" w="47625">
            <a:solidFill>
              <a:srgbClr val="0A2456"/>
            </a:solidFill>
            <a:prstDash val="solid"/>
            <a:headEnd type="none" len="sm" w="sm"/>
            <a:tailEnd type="none" len="sm" w="sm"/>
          </a:ln>
        </p:spPr>
      </p:sp>
      <p:sp>
        <p:nvSpPr>
          <p:cNvPr name="AutoShape 13" id="13"/>
          <p:cNvSpPr/>
          <p:nvPr/>
        </p:nvSpPr>
        <p:spPr>
          <a:xfrm>
            <a:off x="9997609" y="3330935"/>
            <a:ext cx="0" cy="1025256"/>
          </a:xfrm>
          <a:prstGeom prst="line">
            <a:avLst/>
          </a:prstGeom>
          <a:ln cap="flat" w="47625">
            <a:solidFill>
              <a:srgbClr val="0A2456"/>
            </a:solidFill>
            <a:prstDash val="solid"/>
            <a:headEnd type="none" len="sm" w="sm"/>
            <a:tailEnd type="none" len="sm" w="sm"/>
          </a:ln>
        </p:spPr>
      </p:sp>
      <p:sp>
        <p:nvSpPr>
          <p:cNvPr name="AutoShape 14" id="14"/>
          <p:cNvSpPr/>
          <p:nvPr/>
        </p:nvSpPr>
        <p:spPr>
          <a:xfrm>
            <a:off x="10021422" y="4752620"/>
            <a:ext cx="0" cy="1025256"/>
          </a:xfrm>
          <a:prstGeom prst="line">
            <a:avLst/>
          </a:prstGeom>
          <a:ln cap="flat" w="47625">
            <a:solidFill>
              <a:srgbClr val="0A2456"/>
            </a:solidFill>
            <a:prstDash val="solid"/>
            <a:headEnd type="none" len="sm" w="sm"/>
            <a:tailEnd type="none" len="sm" w="sm"/>
          </a:ln>
        </p:spPr>
      </p:sp>
      <p:sp>
        <p:nvSpPr>
          <p:cNvPr name="Freeform 15" id="15"/>
          <p:cNvSpPr/>
          <p:nvPr/>
        </p:nvSpPr>
        <p:spPr>
          <a:xfrm flipH="false" flipV="false" rot="0">
            <a:off x="3310445" y="3443456"/>
            <a:ext cx="762642" cy="751087"/>
          </a:xfrm>
          <a:custGeom>
            <a:avLst/>
            <a:gdLst/>
            <a:ahLst/>
            <a:cxnLst/>
            <a:rect r="r" b="b" t="t" l="l"/>
            <a:pathLst>
              <a:path h="751087" w="762642">
                <a:moveTo>
                  <a:pt x="0" y="0"/>
                </a:moveTo>
                <a:lnTo>
                  <a:pt x="762642" y="0"/>
                </a:lnTo>
                <a:lnTo>
                  <a:pt x="762642" y="751086"/>
                </a:lnTo>
                <a:lnTo>
                  <a:pt x="0" y="751086"/>
                </a:lnTo>
                <a:lnTo>
                  <a:pt x="0" y="0"/>
                </a:lnTo>
                <a:close/>
              </a:path>
            </a:pathLst>
          </a:custGeom>
          <a:blipFill>
            <a:blip r:embed="rId2"/>
            <a:stretch>
              <a:fillRect l="0" t="0" r="0" b="0"/>
            </a:stretch>
          </a:blipFill>
        </p:spPr>
      </p:sp>
      <p:sp>
        <p:nvSpPr>
          <p:cNvPr name="Freeform 16" id="16"/>
          <p:cNvSpPr/>
          <p:nvPr/>
        </p:nvSpPr>
        <p:spPr>
          <a:xfrm flipH="false" flipV="false" rot="0">
            <a:off x="3349851" y="5086639"/>
            <a:ext cx="767828" cy="806469"/>
          </a:xfrm>
          <a:custGeom>
            <a:avLst/>
            <a:gdLst/>
            <a:ahLst/>
            <a:cxnLst/>
            <a:rect r="r" b="b" t="t" l="l"/>
            <a:pathLst>
              <a:path h="806469" w="767828">
                <a:moveTo>
                  <a:pt x="0" y="0"/>
                </a:moveTo>
                <a:lnTo>
                  <a:pt x="767828" y="0"/>
                </a:lnTo>
                <a:lnTo>
                  <a:pt x="767828" y="806469"/>
                </a:lnTo>
                <a:lnTo>
                  <a:pt x="0" y="806469"/>
                </a:lnTo>
                <a:lnTo>
                  <a:pt x="0" y="0"/>
                </a:lnTo>
                <a:close/>
              </a:path>
            </a:pathLst>
          </a:custGeom>
          <a:blipFill>
            <a:blip r:embed="rId3"/>
            <a:stretch>
              <a:fillRect l="-10435" t="0" r="-12649" b="0"/>
            </a:stretch>
          </a:blipFill>
        </p:spPr>
      </p:sp>
      <p:sp>
        <p:nvSpPr>
          <p:cNvPr name="Freeform 17" id="17"/>
          <p:cNvSpPr/>
          <p:nvPr/>
        </p:nvSpPr>
        <p:spPr>
          <a:xfrm flipH="false" flipV="false" rot="0">
            <a:off x="3356058" y="6586683"/>
            <a:ext cx="774725" cy="689989"/>
          </a:xfrm>
          <a:custGeom>
            <a:avLst/>
            <a:gdLst/>
            <a:ahLst/>
            <a:cxnLst/>
            <a:rect r="r" b="b" t="t" l="l"/>
            <a:pathLst>
              <a:path h="689989" w="774725">
                <a:moveTo>
                  <a:pt x="0" y="0"/>
                </a:moveTo>
                <a:lnTo>
                  <a:pt x="774725" y="0"/>
                </a:lnTo>
                <a:lnTo>
                  <a:pt x="774725" y="689989"/>
                </a:lnTo>
                <a:lnTo>
                  <a:pt x="0" y="689989"/>
                </a:lnTo>
                <a:lnTo>
                  <a:pt x="0" y="0"/>
                </a:lnTo>
                <a:close/>
              </a:path>
            </a:pathLst>
          </a:custGeom>
          <a:blipFill>
            <a:blip r:embed="rId4"/>
            <a:stretch>
              <a:fillRect l="0" t="0" r="0" b="0"/>
            </a:stretch>
          </a:blipFill>
        </p:spPr>
      </p:sp>
      <p:sp>
        <p:nvSpPr>
          <p:cNvPr name="Freeform 18" id="18"/>
          <p:cNvSpPr/>
          <p:nvPr/>
        </p:nvSpPr>
        <p:spPr>
          <a:xfrm flipH="false" flipV="false" rot="0">
            <a:off x="3401871" y="7856899"/>
            <a:ext cx="683099" cy="751925"/>
          </a:xfrm>
          <a:custGeom>
            <a:avLst/>
            <a:gdLst/>
            <a:ahLst/>
            <a:cxnLst/>
            <a:rect r="r" b="b" t="t" l="l"/>
            <a:pathLst>
              <a:path h="751925" w="683099">
                <a:moveTo>
                  <a:pt x="0" y="0"/>
                </a:moveTo>
                <a:lnTo>
                  <a:pt x="683099" y="0"/>
                </a:lnTo>
                <a:lnTo>
                  <a:pt x="683099" y="751925"/>
                </a:lnTo>
                <a:lnTo>
                  <a:pt x="0" y="751925"/>
                </a:lnTo>
                <a:lnTo>
                  <a:pt x="0" y="0"/>
                </a:lnTo>
                <a:close/>
              </a:path>
            </a:pathLst>
          </a:custGeom>
          <a:blipFill>
            <a:blip r:embed="rId5"/>
            <a:stretch>
              <a:fillRect l="-14471" t="0" r="-13358" b="0"/>
            </a:stretch>
          </a:blipFill>
        </p:spPr>
      </p:sp>
      <p:sp>
        <p:nvSpPr>
          <p:cNvPr name="Freeform 19" id="19"/>
          <p:cNvSpPr/>
          <p:nvPr/>
        </p:nvSpPr>
        <p:spPr>
          <a:xfrm flipH="false" flipV="false" rot="0">
            <a:off x="10079343" y="3443456"/>
            <a:ext cx="729882" cy="671955"/>
          </a:xfrm>
          <a:custGeom>
            <a:avLst/>
            <a:gdLst/>
            <a:ahLst/>
            <a:cxnLst/>
            <a:rect r="r" b="b" t="t" l="l"/>
            <a:pathLst>
              <a:path h="671955" w="729882">
                <a:moveTo>
                  <a:pt x="0" y="0"/>
                </a:moveTo>
                <a:lnTo>
                  <a:pt x="729882" y="0"/>
                </a:lnTo>
                <a:lnTo>
                  <a:pt x="729882" y="671954"/>
                </a:lnTo>
                <a:lnTo>
                  <a:pt x="0" y="671954"/>
                </a:lnTo>
                <a:lnTo>
                  <a:pt x="0" y="0"/>
                </a:lnTo>
                <a:close/>
              </a:path>
            </a:pathLst>
          </a:custGeom>
          <a:blipFill>
            <a:blip r:embed="rId6"/>
            <a:stretch>
              <a:fillRect l="0" t="0" r="0" b="0"/>
            </a:stretch>
          </a:blipFill>
        </p:spPr>
      </p:sp>
      <p:sp>
        <p:nvSpPr>
          <p:cNvPr name="Freeform 20" id="20"/>
          <p:cNvSpPr/>
          <p:nvPr/>
        </p:nvSpPr>
        <p:spPr>
          <a:xfrm flipH="false" flipV="false" rot="0">
            <a:off x="10103155" y="4867177"/>
            <a:ext cx="788709" cy="748786"/>
          </a:xfrm>
          <a:custGeom>
            <a:avLst/>
            <a:gdLst/>
            <a:ahLst/>
            <a:cxnLst/>
            <a:rect r="r" b="b" t="t" l="l"/>
            <a:pathLst>
              <a:path h="748786" w="788709">
                <a:moveTo>
                  <a:pt x="0" y="0"/>
                </a:moveTo>
                <a:lnTo>
                  <a:pt x="788709" y="0"/>
                </a:lnTo>
                <a:lnTo>
                  <a:pt x="788709" y="748786"/>
                </a:lnTo>
                <a:lnTo>
                  <a:pt x="0" y="748786"/>
                </a:lnTo>
                <a:lnTo>
                  <a:pt x="0" y="0"/>
                </a:lnTo>
                <a:close/>
              </a:path>
            </a:pathLst>
          </a:custGeom>
          <a:blipFill>
            <a:blip r:embed="rId7"/>
            <a:stretch>
              <a:fillRect l="0" t="-7058" r="0" b="0"/>
            </a:stretch>
          </a:blipFill>
        </p:spPr>
      </p:sp>
      <p:sp>
        <p:nvSpPr>
          <p:cNvPr name="TextBox 21" id="21"/>
          <p:cNvSpPr txBox="true"/>
          <p:nvPr/>
        </p:nvSpPr>
        <p:spPr>
          <a:xfrm rot="0">
            <a:off x="5314919" y="550792"/>
            <a:ext cx="7491264" cy="721403"/>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Contenido de la presentación</a:t>
            </a:r>
          </a:p>
        </p:txBody>
      </p:sp>
      <p:sp>
        <p:nvSpPr>
          <p:cNvPr name="TextBox 22" id="22"/>
          <p:cNvSpPr txBox="true"/>
          <p:nvPr/>
        </p:nvSpPr>
        <p:spPr>
          <a:xfrm rot="0">
            <a:off x="4164712" y="3426108"/>
            <a:ext cx="2346336" cy="494806"/>
          </a:xfrm>
          <a:prstGeom prst="rect">
            <a:avLst/>
          </a:prstGeom>
        </p:spPr>
        <p:txBody>
          <a:bodyPr anchor="t" rtlCol="false" tIns="0" lIns="0" bIns="0" rIns="0">
            <a:spAutoFit/>
          </a:bodyPr>
          <a:lstStyle/>
          <a:p>
            <a:pPr algn="ctr">
              <a:lnSpc>
                <a:spcPts val="4044"/>
              </a:lnSpc>
              <a:spcBef>
                <a:spcPct val="0"/>
              </a:spcBef>
            </a:pPr>
            <a:r>
              <a:rPr lang="en-US" b="true" sz="2888">
                <a:solidFill>
                  <a:srgbClr val="1E3061"/>
                </a:solidFill>
                <a:latin typeface="Open Sans Bold"/>
                <a:ea typeface="Open Sans Bold"/>
                <a:cs typeface="Open Sans Bold"/>
                <a:sym typeface="Open Sans Bold"/>
              </a:rPr>
              <a:t>Introducción</a:t>
            </a:r>
          </a:p>
        </p:txBody>
      </p:sp>
      <p:sp>
        <p:nvSpPr>
          <p:cNvPr name="TextBox 23" id="23"/>
          <p:cNvSpPr txBox="true"/>
          <p:nvPr/>
        </p:nvSpPr>
        <p:spPr>
          <a:xfrm rot="0">
            <a:off x="4164712" y="4935485"/>
            <a:ext cx="3487646" cy="493797"/>
          </a:xfrm>
          <a:prstGeom prst="rect">
            <a:avLst/>
          </a:prstGeom>
        </p:spPr>
        <p:txBody>
          <a:bodyPr anchor="t" rtlCol="false" tIns="0" lIns="0" bIns="0" rIns="0">
            <a:spAutoFit/>
          </a:bodyPr>
          <a:lstStyle/>
          <a:p>
            <a:pPr algn="ctr">
              <a:lnSpc>
                <a:spcPts val="4035"/>
              </a:lnSpc>
              <a:spcBef>
                <a:spcPct val="0"/>
              </a:spcBef>
            </a:pPr>
            <a:r>
              <a:rPr lang="en-US" b="true" sz="2882">
                <a:solidFill>
                  <a:srgbClr val="1E3061"/>
                </a:solidFill>
                <a:latin typeface="Open Sans Bold"/>
                <a:ea typeface="Open Sans Bold"/>
                <a:cs typeface="Open Sans Bold"/>
                <a:sym typeface="Open Sans Bold"/>
              </a:rPr>
              <a:t>Ajustes al Proyecto</a:t>
            </a:r>
          </a:p>
        </p:txBody>
      </p:sp>
      <p:sp>
        <p:nvSpPr>
          <p:cNvPr name="TextBox 24" id="24"/>
          <p:cNvSpPr txBox="true"/>
          <p:nvPr/>
        </p:nvSpPr>
        <p:spPr>
          <a:xfrm rot="0">
            <a:off x="4164712" y="6437982"/>
            <a:ext cx="3570465" cy="493696"/>
          </a:xfrm>
          <a:prstGeom prst="rect">
            <a:avLst/>
          </a:prstGeom>
        </p:spPr>
        <p:txBody>
          <a:bodyPr anchor="t" rtlCol="false" tIns="0" lIns="0" bIns="0" rIns="0">
            <a:spAutoFit/>
          </a:bodyPr>
          <a:lstStyle/>
          <a:p>
            <a:pPr algn="ctr">
              <a:lnSpc>
                <a:spcPts val="4034"/>
              </a:lnSpc>
              <a:spcBef>
                <a:spcPct val="0"/>
              </a:spcBef>
            </a:pPr>
            <a:r>
              <a:rPr lang="en-US" b="true" sz="2881">
                <a:solidFill>
                  <a:srgbClr val="1E3061"/>
                </a:solidFill>
                <a:latin typeface="Open Sans Bold"/>
                <a:ea typeface="Open Sans Bold"/>
                <a:cs typeface="Open Sans Bold"/>
                <a:sym typeface="Open Sans Bold"/>
              </a:rPr>
              <a:t>Evidencias Técnicas</a:t>
            </a:r>
          </a:p>
        </p:txBody>
      </p:sp>
      <p:sp>
        <p:nvSpPr>
          <p:cNvPr name="TextBox 25" id="25"/>
          <p:cNvSpPr txBox="true"/>
          <p:nvPr/>
        </p:nvSpPr>
        <p:spPr>
          <a:xfrm rot="0">
            <a:off x="4241376" y="7799749"/>
            <a:ext cx="2287868" cy="494725"/>
          </a:xfrm>
          <a:prstGeom prst="rect">
            <a:avLst/>
          </a:prstGeom>
        </p:spPr>
        <p:txBody>
          <a:bodyPr anchor="t" rtlCol="false" tIns="0" lIns="0" bIns="0" rIns="0">
            <a:spAutoFit/>
          </a:bodyPr>
          <a:lstStyle/>
          <a:p>
            <a:pPr algn="ctr">
              <a:lnSpc>
                <a:spcPts val="4043"/>
              </a:lnSpc>
              <a:spcBef>
                <a:spcPct val="0"/>
              </a:spcBef>
            </a:pPr>
            <a:r>
              <a:rPr lang="en-US" b="true" sz="2888">
                <a:solidFill>
                  <a:srgbClr val="1E3061"/>
                </a:solidFill>
                <a:latin typeface="Open Sans Bold"/>
                <a:ea typeface="Open Sans Bold"/>
                <a:cs typeface="Open Sans Bold"/>
                <a:sym typeface="Open Sans Bold"/>
              </a:rPr>
              <a:t>Metodología</a:t>
            </a:r>
          </a:p>
        </p:txBody>
      </p:sp>
      <p:sp>
        <p:nvSpPr>
          <p:cNvPr name="TextBox 26" id="26"/>
          <p:cNvSpPr txBox="true"/>
          <p:nvPr/>
        </p:nvSpPr>
        <p:spPr>
          <a:xfrm rot="0">
            <a:off x="10868052" y="3300061"/>
            <a:ext cx="2697020" cy="494725"/>
          </a:xfrm>
          <a:prstGeom prst="rect">
            <a:avLst/>
          </a:prstGeom>
        </p:spPr>
        <p:txBody>
          <a:bodyPr anchor="t" rtlCol="false" tIns="0" lIns="0" bIns="0" rIns="0">
            <a:spAutoFit/>
          </a:bodyPr>
          <a:lstStyle/>
          <a:p>
            <a:pPr algn="ctr">
              <a:lnSpc>
                <a:spcPts val="4043"/>
              </a:lnSpc>
              <a:spcBef>
                <a:spcPct val="0"/>
              </a:spcBef>
            </a:pPr>
            <a:r>
              <a:rPr lang="en-US" b="true" sz="2888">
                <a:solidFill>
                  <a:srgbClr val="1E3061"/>
                </a:solidFill>
                <a:latin typeface="Open Sans Bold"/>
                <a:ea typeface="Open Sans Bold"/>
                <a:cs typeface="Open Sans Bold"/>
                <a:sym typeface="Open Sans Bold"/>
              </a:rPr>
              <a:t>Github y Trello</a:t>
            </a:r>
          </a:p>
        </p:txBody>
      </p:sp>
      <p:sp>
        <p:nvSpPr>
          <p:cNvPr name="TextBox 27" id="27"/>
          <p:cNvSpPr txBox="true"/>
          <p:nvPr/>
        </p:nvSpPr>
        <p:spPr>
          <a:xfrm rot="0">
            <a:off x="11053438" y="4852078"/>
            <a:ext cx="2005992" cy="494725"/>
          </a:xfrm>
          <a:prstGeom prst="rect">
            <a:avLst/>
          </a:prstGeom>
        </p:spPr>
        <p:txBody>
          <a:bodyPr anchor="t" rtlCol="false" tIns="0" lIns="0" bIns="0" rIns="0">
            <a:spAutoFit/>
          </a:bodyPr>
          <a:lstStyle/>
          <a:p>
            <a:pPr algn="ctr">
              <a:lnSpc>
                <a:spcPts val="4043"/>
              </a:lnSpc>
              <a:spcBef>
                <a:spcPct val="0"/>
              </a:spcBef>
            </a:pPr>
            <a:r>
              <a:rPr lang="en-US" b="true" sz="2888">
                <a:solidFill>
                  <a:srgbClr val="1E3061"/>
                </a:solidFill>
                <a:latin typeface="Open Sans Bold"/>
                <a:ea typeface="Open Sans Bold"/>
                <a:cs typeface="Open Sans Bold"/>
                <a:sym typeface="Open Sans Bold"/>
              </a:rPr>
              <a:t>Conclusión</a:t>
            </a:r>
          </a:p>
        </p:txBody>
      </p:sp>
      <p:sp>
        <p:nvSpPr>
          <p:cNvPr name="TextBox 28" id="28"/>
          <p:cNvSpPr txBox="true"/>
          <p:nvPr/>
        </p:nvSpPr>
        <p:spPr>
          <a:xfrm rot="0">
            <a:off x="4117679" y="2379070"/>
            <a:ext cx="9868072" cy="372745"/>
          </a:xfrm>
          <a:prstGeom prst="rect">
            <a:avLst/>
          </a:prstGeom>
        </p:spPr>
        <p:txBody>
          <a:bodyPr anchor="t" rtlCol="false" tIns="0" lIns="0" bIns="0" rIns="0">
            <a:spAutoFit/>
          </a:bodyPr>
          <a:lstStyle/>
          <a:p>
            <a:pPr algn="ctr">
              <a:lnSpc>
                <a:spcPts val="3079"/>
              </a:lnSpc>
              <a:spcBef>
                <a:spcPct val="0"/>
              </a:spcBef>
            </a:pPr>
            <a:r>
              <a:rPr lang="en-US" sz="2199">
                <a:solidFill>
                  <a:srgbClr val="1E3061">
                    <a:alpha val="37647"/>
                  </a:srgbClr>
                </a:solidFill>
                <a:latin typeface="Open Sans"/>
                <a:ea typeface="Open Sans"/>
                <a:cs typeface="Open Sans"/>
                <a:sym typeface="Open Sans"/>
              </a:rPr>
              <a:t>En esta presentación se verán los siguientes puntos</a:t>
            </a:r>
          </a:p>
        </p:txBody>
      </p:sp>
      <p:sp>
        <p:nvSpPr>
          <p:cNvPr name="TextBox 29" id="29"/>
          <p:cNvSpPr txBox="true"/>
          <p:nvPr/>
        </p:nvSpPr>
        <p:spPr>
          <a:xfrm rot="0">
            <a:off x="4164712" y="3969168"/>
            <a:ext cx="4023650"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Contexto del proyecto y objetivos generales</a:t>
            </a:r>
          </a:p>
        </p:txBody>
      </p:sp>
      <p:sp>
        <p:nvSpPr>
          <p:cNvPr name="TextBox 30" id="30"/>
          <p:cNvSpPr txBox="true"/>
          <p:nvPr/>
        </p:nvSpPr>
        <p:spPr>
          <a:xfrm rot="0">
            <a:off x="4164712" y="5501796"/>
            <a:ext cx="4303000"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Modificaciones y adaptaciones implementadas</a:t>
            </a:r>
          </a:p>
        </p:txBody>
      </p:sp>
      <p:sp>
        <p:nvSpPr>
          <p:cNvPr name="TextBox 31" id="31"/>
          <p:cNvSpPr txBox="true"/>
          <p:nvPr/>
        </p:nvSpPr>
        <p:spPr>
          <a:xfrm rot="0">
            <a:off x="4164712" y="6947477"/>
            <a:ext cx="4499136"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Documentación, codigos y pruebas de desarrollo</a:t>
            </a:r>
          </a:p>
        </p:txBody>
      </p:sp>
      <p:sp>
        <p:nvSpPr>
          <p:cNvPr name="TextBox 32" id="32"/>
          <p:cNvSpPr txBox="true"/>
          <p:nvPr/>
        </p:nvSpPr>
        <p:spPr>
          <a:xfrm rot="0">
            <a:off x="4241376" y="8346071"/>
            <a:ext cx="3027938"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Enfoque y estrategias del trabajo</a:t>
            </a:r>
          </a:p>
        </p:txBody>
      </p:sp>
      <p:sp>
        <p:nvSpPr>
          <p:cNvPr name="TextBox 33" id="33"/>
          <p:cNvSpPr txBox="true"/>
          <p:nvPr/>
        </p:nvSpPr>
        <p:spPr>
          <a:xfrm rot="0">
            <a:off x="10900850" y="3851501"/>
            <a:ext cx="3317131"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Gestión de versiones y colaboración</a:t>
            </a:r>
          </a:p>
        </p:txBody>
      </p:sp>
      <p:sp>
        <p:nvSpPr>
          <p:cNvPr name="TextBox 34" id="34"/>
          <p:cNvSpPr txBox="true"/>
          <p:nvPr/>
        </p:nvSpPr>
        <p:spPr>
          <a:xfrm rot="0">
            <a:off x="11053438" y="5378454"/>
            <a:ext cx="3367239" cy="263909"/>
          </a:xfrm>
          <a:prstGeom prst="rect">
            <a:avLst/>
          </a:prstGeom>
        </p:spPr>
        <p:txBody>
          <a:bodyPr anchor="t" rtlCol="false" tIns="0" lIns="0" bIns="0" rIns="0">
            <a:spAutoFit/>
          </a:bodyPr>
          <a:lstStyle/>
          <a:p>
            <a:pPr algn="ctr">
              <a:lnSpc>
                <a:spcPts val="2179"/>
              </a:lnSpc>
              <a:spcBef>
                <a:spcPct val="0"/>
              </a:spcBef>
            </a:pPr>
            <a:r>
              <a:rPr lang="en-US" sz="1556">
                <a:solidFill>
                  <a:srgbClr val="1E3061">
                    <a:alpha val="50980"/>
                  </a:srgbClr>
                </a:solidFill>
                <a:latin typeface="Open Sans"/>
                <a:ea typeface="Open Sans"/>
                <a:cs typeface="Open Sans"/>
                <a:sym typeface="Open Sans"/>
              </a:rPr>
              <a:t>Resultados y aprendizajes obtenidos</a:t>
            </a:r>
          </a:p>
        </p:txBody>
      </p:sp>
      <p:sp>
        <p:nvSpPr>
          <p:cNvPr name="Freeform 35" id="35"/>
          <p:cNvSpPr/>
          <p:nvPr/>
        </p:nvSpPr>
        <p:spPr>
          <a:xfrm flipH="false" flipV="false" rot="0">
            <a:off x="-2306449" y="-2735499"/>
            <a:ext cx="3096504" cy="1841012"/>
          </a:xfrm>
          <a:custGeom>
            <a:avLst/>
            <a:gdLst/>
            <a:ahLst/>
            <a:cxnLst/>
            <a:rect r="r" b="b" t="t" l="l"/>
            <a:pathLst>
              <a:path h="1841012" w="3096504">
                <a:moveTo>
                  <a:pt x="0" y="0"/>
                </a:moveTo>
                <a:lnTo>
                  <a:pt x="3096504" y="0"/>
                </a:lnTo>
                <a:lnTo>
                  <a:pt x="3096504" y="1841012"/>
                </a:lnTo>
                <a:lnTo>
                  <a:pt x="0" y="18410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6" id="36"/>
          <p:cNvSpPr/>
          <p:nvPr/>
        </p:nvSpPr>
        <p:spPr>
          <a:xfrm flipH="false" flipV="false" rot="0">
            <a:off x="-3151546" y="-1593559"/>
            <a:ext cx="3096504" cy="1841012"/>
          </a:xfrm>
          <a:custGeom>
            <a:avLst/>
            <a:gdLst/>
            <a:ahLst/>
            <a:cxnLst/>
            <a:rect r="r" b="b" t="t" l="l"/>
            <a:pathLst>
              <a:path h="1841012" w="3096504">
                <a:moveTo>
                  <a:pt x="0" y="0"/>
                </a:moveTo>
                <a:lnTo>
                  <a:pt x="3096504" y="0"/>
                </a:lnTo>
                <a:lnTo>
                  <a:pt x="3096504" y="1841012"/>
                </a:lnTo>
                <a:lnTo>
                  <a:pt x="0" y="18410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false" flipV="false" rot="0">
            <a:off x="-3427453" y="515911"/>
            <a:ext cx="2622491" cy="1559190"/>
          </a:xfrm>
          <a:custGeom>
            <a:avLst/>
            <a:gdLst/>
            <a:ahLst/>
            <a:cxnLst/>
            <a:rect r="r" b="b" t="t" l="l"/>
            <a:pathLst>
              <a:path h="1559190" w="2622491">
                <a:moveTo>
                  <a:pt x="0" y="0"/>
                </a:moveTo>
                <a:lnTo>
                  <a:pt x="2622491" y="0"/>
                </a:lnTo>
                <a:lnTo>
                  <a:pt x="2622491" y="1559190"/>
                </a:lnTo>
                <a:lnTo>
                  <a:pt x="0" y="15591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8" id="38"/>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682791" y="3010367"/>
            <a:ext cx="6705378" cy="0"/>
          </a:xfrm>
          <a:prstGeom prst="line">
            <a:avLst/>
          </a:prstGeom>
          <a:ln cap="flat" w="38100">
            <a:solidFill>
              <a:srgbClr val="FFBD59"/>
            </a:solidFill>
            <a:prstDash val="solid"/>
            <a:headEnd type="none" len="sm" w="sm"/>
            <a:tailEnd type="none" len="sm" w="sm"/>
          </a:ln>
        </p:spPr>
      </p:sp>
      <p:sp>
        <p:nvSpPr>
          <p:cNvPr name="AutoShape 9" id="9"/>
          <p:cNvSpPr/>
          <p:nvPr/>
        </p:nvSpPr>
        <p:spPr>
          <a:xfrm>
            <a:off x="682791" y="3510024"/>
            <a:ext cx="0" cy="5429956"/>
          </a:xfrm>
          <a:prstGeom prst="line">
            <a:avLst/>
          </a:prstGeom>
          <a:ln cap="flat" w="47625">
            <a:solidFill>
              <a:srgbClr val="0A2456"/>
            </a:solidFill>
            <a:prstDash val="solid"/>
            <a:headEnd type="none" len="sm" w="sm"/>
            <a:tailEnd type="none" len="sm" w="sm"/>
          </a:ln>
        </p:spPr>
      </p:sp>
      <p:sp>
        <p:nvSpPr>
          <p:cNvPr name="AutoShape 10" id="10"/>
          <p:cNvSpPr/>
          <p:nvPr/>
        </p:nvSpPr>
        <p:spPr>
          <a:xfrm>
            <a:off x="8648423" y="3010367"/>
            <a:ext cx="6705378" cy="0"/>
          </a:xfrm>
          <a:prstGeom prst="line">
            <a:avLst/>
          </a:prstGeom>
          <a:ln cap="flat" w="38100">
            <a:solidFill>
              <a:srgbClr val="FFBD59"/>
            </a:solidFill>
            <a:prstDash val="solid"/>
            <a:headEnd type="none" len="sm" w="sm"/>
            <a:tailEnd type="none" len="sm" w="sm"/>
          </a:ln>
        </p:spPr>
      </p:sp>
      <p:sp>
        <p:nvSpPr>
          <p:cNvPr name="AutoShape 11" id="11"/>
          <p:cNvSpPr/>
          <p:nvPr/>
        </p:nvSpPr>
        <p:spPr>
          <a:xfrm>
            <a:off x="8648423" y="3510024"/>
            <a:ext cx="0" cy="3821392"/>
          </a:xfrm>
          <a:prstGeom prst="line">
            <a:avLst/>
          </a:prstGeom>
          <a:ln cap="flat" w="47625">
            <a:solidFill>
              <a:srgbClr val="0A2456"/>
            </a:solidFill>
            <a:prstDash val="solid"/>
            <a:headEnd type="none" len="sm" w="sm"/>
            <a:tailEnd type="none" len="sm" w="sm"/>
          </a:ln>
        </p:spPr>
      </p:sp>
      <p:sp>
        <p:nvSpPr>
          <p:cNvPr name="Freeform 12" id="12"/>
          <p:cNvSpPr/>
          <p:nvPr/>
        </p:nvSpPr>
        <p:spPr>
          <a:xfrm flipH="false" flipV="false" rot="0">
            <a:off x="15469053" y="7700694"/>
            <a:ext cx="2600701" cy="1436530"/>
          </a:xfrm>
          <a:custGeom>
            <a:avLst/>
            <a:gdLst/>
            <a:ahLst/>
            <a:cxnLst/>
            <a:rect r="r" b="b" t="t" l="l"/>
            <a:pathLst>
              <a:path h="1436530" w="2600701">
                <a:moveTo>
                  <a:pt x="0" y="0"/>
                </a:moveTo>
                <a:lnTo>
                  <a:pt x="2600701" y="0"/>
                </a:lnTo>
                <a:lnTo>
                  <a:pt x="2600701" y="1436530"/>
                </a:lnTo>
                <a:lnTo>
                  <a:pt x="0" y="1436530"/>
                </a:lnTo>
                <a:lnTo>
                  <a:pt x="0" y="0"/>
                </a:lnTo>
                <a:close/>
              </a:path>
            </a:pathLst>
          </a:custGeom>
          <a:blipFill>
            <a:blip r:embed="rId2"/>
            <a:stretch>
              <a:fillRect l="0" t="0" r="-71600" b="0"/>
            </a:stretch>
          </a:blipFill>
        </p:spPr>
      </p:sp>
      <p:sp>
        <p:nvSpPr>
          <p:cNvPr name="TextBox 13" id="13"/>
          <p:cNvSpPr txBox="true"/>
          <p:nvPr/>
        </p:nvSpPr>
        <p:spPr>
          <a:xfrm rot="0">
            <a:off x="7247129" y="550792"/>
            <a:ext cx="3626842" cy="721403"/>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Introducción  </a:t>
            </a:r>
          </a:p>
        </p:txBody>
      </p:sp>
      <p:sp>
        <p:nvSpPr>
          <p:cNvPr name="TextBox 14" id="14"/>
          <p:cNvSpPr txBox="true"/>
          <p:nvPr/>
        </p:nvSpPr>
        <p:spPr>
          <a:xfrm rot="0">
            <a:off x="1034617" y="3496142"/>
            <a:ext cx="1426220" cy="389536"/>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Ubicación</a:t>
            </a:r>
          </a:p>
        </p:txBody>
      </p:sp>
      <p:sp>
        <p:nvSpPr>
          <p:cNvPr name="TextBox 15" id="15"/>
          <p:cNvSpPr txBox="true"/>
          <p:nvPr/>
        </p:nvSpPr>
        <p:spPr>
          <a:xfrm rot="0">
            <a:off x="716919" y="2368137"/>
            <a:ext cx="5892842" cy="481331"/>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ns"/>
                <a:ea typeface="Open Sans"/>
                <a:cs typeface="Open Sans"/>
                <a:sym typeface="Open Sans"/>
              </a:rPr>
              <a:t>Colegio San Agustín de Hipona</a:t>
            </a:r>
          </a:p>
        </p:txBody>
      </p:sp>
      <p:sp>
        <p:nvSpPr>
          <p:cNvPr name="TextBox 16" id="16"/>
          <p:cNvSpPr txBox="true"/>
          <p:nvPr/>
        </p:nvSpPr>
        <p:spPr>
          <a:xfrm rot="0">
            <a:off x="1028700" y="3881210"/>
            <a:ext cx="6855562" cy="8532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El Colegio San Agustín de Hipona está ubicado en Santo Domingo, Región de Valparaíso, sus puertas fueron abiertas en marzo 2022 como un colegio particular privado.</a:t>
            </a:r>
          </a:p>
        </p:txBody>
      </p:sp>
      <p:sp>
        <p:nvSpPr>
          <p:cNvPr name="TextBox 17" id="17"/>
          <p:cNvSpPr txBox="true"/>
          <p:nvPr/>
        </p:nvSpPr>
        <p:spPr>
          <a:xfrm rot="0">
            <a:off x="9012676" y="3496142"/>
            <a:ext cx="1475184" cy="389536"/>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Problema </a:t>
            </a:r>
          </a:p>
        </p:txBody>
      </p:sp>
      <p:sp>
        <p:nvSpPr>
          <p:cNvPr name="TextBox 18" id="18"/>
          <p:cNvSpPr txBox="true"/>
          <p:nvPr/>
        </p:nvSpPr>
        <p:spPr>
          <a:xfrm rot="0">
            <a:off x="8682551" y="2368137"/>
            <a:ext cx="5892842" cy="481331"/>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ns"/>
                <a:ea typeface="Open Sans"/>
                <a:cs typeface="Open Sans"/>
                <a:sym typeface="Open Sans"/>
              </a:rPr>
              <a:t>Información del proyecto</a:t>
            </a:r>
          </a:p>
        </p:txBody>
      </p:sp>
      <p:sp>
        <p:nvSpPr>
          <p:cNvPr name="TextBox 19" id="19"/>
          <p:cNvSpPr txBox="true"/>
          <p:nvPr/>
        </p:nvSpPr>
        <p:spPr>
          <a:xfrm rot="0">
            <a:off x="9012676" y="3990453"/>
            <a:ext cx="6855562" cy="8532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El colegio se rige por Exels como fuente de datos (con información sensible), tienen la información de los alumnos, profesores, apoderados y matriculas. </a:t>
            </a:r>
          </a:p>
        </p:txBody>
      </p:sp>
      <p:sp>
        <p:nvSpPr>
          <p:cNvPr name="TextBox 20" id="20"/>
          <p:cNvSpPr txBox="true"/>
          <p:nvPr/>
        </p:nvSpPr>
        <p:spPr>
          <a:xfrm rot="0">
            <a:off x="9012676" y="4885761"/>
            <a:ext cx="1505545" cy="389536"/>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Necesidad</a:t>
            </a:r>
          </a:p>
        </p:txBody>
      </p:sp>
      <p:sp>
        <p:nvSpPr>
          <p:cNvPr name="TextBox 21" id="21"/>
          <p:cNvSpPr txBox="true"/>
          <p:nvPr/>
        </p:nvSpPr>
        <p:spPr>
          <a:xfrm rot="0">
            <a:off x="9012676" y="5385007"/>
            <a:ext cx="6855562" cy="2817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El colegio necesita automatizar y digitalizar sus procesos.</a:t>
            </a:r>
          </a:p>
        </p:txBody>
      </p:sp>
      <p:sp>
        <p:nvSpPr>
          <p:cNvPr name="TextBox 22" id="22"/>
          <p:cNvSpPr txBox="true"/>
          <p:nvPr/>
        </p:nvSpPr>
        <p:spPr>
          <a:xfrm rot="0">
            <a:off x="8996085" y="5988428"/>
            <a:ext cx="3490714" cy="389536"/>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Solución que brindamos</a:t>
            </a:r>
          </a:p>
        </p:txBody>
      </p:sp>
      <p:sp>
        <p:nvSpPr>
          <p:cNvPr name="TextBox 23" id="23"/>
          <p:cNvSpPr txBox="true"/>
          <p:nvPr/>
        </p:nvSpPr>
        <p:spPr>
          <a:xfrm rot="0">
            <a:off x="8996085" y="6478149"/>
            <a:ext cx="6855562" cy="8532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Es implementar una intranet, el cual tenga una base de datos segura en la nube el cual pueda ser el centro de información segura, junto con un sitio web para los alumnos, profesores y administradores.</a:t>
            </a:r>
          </a:p>
        </p:txBody>
      </p:sp>
      <p:sp>
        <p:nvSpPr>
          <p:cNvPr name="TextBox 24" id="24"/>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36181" y="2611587"/>
            <a:ext cx="5394318" cy="6224527"/>
            <a:chOff x="0" y="0"/>
            <a:chExt cx="1140163" cy="1315639"/>
          </a:xfrm>
        </p:grpSpPr>
        <p:sp>
          <p:nvSpPr>
            <p:cNvPr name="Freeform 9" id="9"/>
            <p:cNvSpPr/>
            <p:nvPr/>
          </p:nvSpPr>
          <p:spPr>
            <a:xfrm flipH="false" flipV="false" rot="0">
              <a:off x="0" y="0"/>
              <a:ext cx="1140163" cy="1315639"/>
            </a:xfrm>
            <a:custGeom>
              <a:avLst/>
              <a:gdLst/>
              <a:ahLst/>
              <a:cxnLst/>
              <a:rect r="r" b="b" t="t" l="l"/>
              <a:pathLst>
                <a:path h="1315639" w="1140163">
                  <a:moveTo>
                    <a:pt x="4306" y="0"/>
                  </a:moveTo>
                  <a:lnTo>
                    <a:pt x="1135857" y="0"/>
                  </a:lnTo>
                  <a:cubicBezTo>
                    <a:pt x="1138235" y="0"/>
                    <a:pt x="1140163" y="1928"/>
                    <a:pt x="1140163" y="4306"/>
                  </a:cubicBezTo>
                  <a:lnTo>
                    <a:pt x="1140163" y="1311333"/>
                  </a:lnTo>
                  <a:cubicBezTo>
                    <a:pt x="1140163" y="1313711"/>
                    <a:pt x="1138235" y="1315639"/>
                    <a:pt x="1135857" y="1315639"/>
                  </a:cubicBezTo>
                  <a:lnTo>
                    <a:pt x="4306" y="1315639"/>
                  </a:lnTo>
                  <a:cubicBezTo>
                    <a:pt x="1928" y="1315639"/>
                    <a:pt x="0" y="1313711"/>
                    <a:pt x="0" y="1311333"/>
                  </a:cubicBezTo>
                  <a:lnTo>
                    <a:pt x="0" y="4306"/>
                  </a:lnTo>
                  <a:cubicBezTo>
                    <a:pt x="0" y="1928"/>
                    <a:pt x="1928" y="0"/>
                    <a:pt x="4306" y="0"/>
                  </a:cubicBezTo>
                  <a:close/>
                </a:path>
              </a:pathLst>
            </a:custGeom>
            <a:solidFill>
              <a:srgbClr val="FAFBFB"/>
            </a:solidFill>
            <a:ln w="9525" cap="sq">
              <a:solidFill>
                <a:srgbClr val="FF3131"/>
              </a:solidFill>
              <a:prstDash val="solid"/>
              <a:miter/>
            </a:ln>
          </p:spPr>
        </p:sp>
        <p:sp>
          <p:nvSpPr>
            <p:cNvPr name="TextBox 10" id="10"/>
            <p:cNvSpPr txBox="true"/>
            <p:nvPr/>
          </p:nvSpPr>
          <p:spPr>
            <a:xfrm>
              <a:off x="0" y="-38100"/>
              <a:ext cx="1140163" cy="135373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36181" y="2611587"/>
            <a:ext cx="5394318" cy="773854"/>
            <a:chOff x="0" y="0"/>
            <a:chExt cx="1140163" cy="163565"/>
          </a:xfrm>
        </p:grpSpPr>
        <p:sp>
          <p:nvSpPr>
            <p:cNvPr name="Freeform 12" id="12"/>
            <p:cNvSpPr/>
            <p:nvPr/>
          </p:nvSpPr>
          <p:spPr>
            <a:xfrm flipH="false" flipV="false" rot="0">
              <a:off x="0" y="0"/>
              <a:ext cx="1140163" cy="163565"/>
            </a:xfrm>
            <a:custGeom>
              <a:avLst/>
              <a:gdLst/>
              <a:ahLst/>
              <a:cxnLst/>
              <a:rect r="r" b="b" t="t" l="l"/>
              <a:pathLst>
                <a:path h="163565" w="1140163">
                  <a:moveTo>
                    <a:pt x="4306" y="0"/>
                  </a:moveTo>
                  <a:lnTo>
                    <a:pt x="1135857" y="0"/>
                  </a:lnTo>
                  <a:cubicBezTo>
                    <a:pt x="1138235" y="0"/>
                    <a:pt x="1140163" y="1928"/>
                    <a:pt x="1140163" y="4306"/>
                  </a:cubicBezTo>
                  <a:lnTo>
                    <a:pt x="1140163" y="159259"/>
                  </a:lnTo>
                  <a:cubicBezTo>
                    <a:pt x="1140163" y="160401"/>
                    <a:pt x="1139709" y="161496"/>
                    <a:pt x="1138902" y="162304"/>
                  </a:cubicBezTo>
                  <a:cubicBezTo>
                    <a:pt x="1138094" y="163111"/>
                    <a:pt x="1136999" y="163565"/>
                    <a:pt x="1135857" y="163565"/>
                  </a:cubicBezTo>
                  <a:lnTo>
                    <a:pt x="4306" y="163565"/>
                  </a:lnTo>
                  <a:cubicBezTo>
                    <a:pt x="1928" y="163565"/>
                    <a:pt x="0" y="161637"/>
                    <a:pt x="0" y="159259"/>
                  </a:cubicBezTo>
                  <a:lnTo>
                    <a:pt x="0" y="4306"/>
                  </a:lnTo>
                  <a:cubicBezTo>
                    <a:pt x="0" y="1928"/>
                    <a:pt x="1928" y="0"/>
                    <a:pt x="4306" y="0"/>
                  </a:cubicBezTo>
                  <a:close/>
                </a:path>
              </a:pathLst>
            </a:custGeom>
            <a:solidFill>
              <a:srgbClr val="FF3131">
                <a:alpha val="44706"/>
              </a:srgbClr>
            </a:solidFill>
            <a:ln w="9525" cap="sq">
              <a:solidFill>
                <a:srgbClr val="00357A">
                  <a:alpha val="44706"/>
                </a:srgbClr>
              </a:solidFill>
              <a:prstDash val="solid"/>
              <a:miter/>
            </a:ln>
          </p:spPr>
        </p:sp>
        <p:sp>
          <p:nvSpPr>
            <p:cNvPr name="TextBox 13" id="13"/>
            <p:cNvSpPr txBox="true"/>
            <p:nvPr/>
          </p:nvSpPr>
          <p:spPr>
            <a:xfrm>
              <a:off x="0" y="-38100"/>
              <a:ext cx="1140163" cy="201665"/>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a:off x="536181" y="3392518"/>
            <a:ext cx="5394318" cy="0"/>
          </a:xfrm>
          <a:prstGeom prst="line">
            <a:avLst/>
          </a:prstGeom>
          <a:ln cap="flat" w="19050">
            <a:solidFill>
              <a:srgbClr val="FFBD59"/>
            </a:solidFill>
            <a:prstDash val="solid"/>
            <a:headEnd type="none" len="sm" w="sm"/>
            <a:tailEnd type="none" len="sm" w="sm"/>
          </a:ln>
        </p:spPr>
      </p:sp>
      <p:sp>
        <p:nvSpPr>
          <p:cNvPr name="Freeform 15" id="15"/>
          <p:cNvSpPr/>
          <p:nvPr/>
        </p:nvSpPr>
        <p:spPr>
          <a:xfrm flipH="false" flipV="false" rot="0">
            <a:off x="974823" y="2802434"/>
            <a:ext cx="429544" cy="371751"/>
          </a:xfrm>
          <a:custGeom>
            <a:avLst/>
            <a:gdLst/>
            <a:ahLst/>
            <a:cxnLst/>
            <a:rect r="r" b="b" t="t" l="l"/>
            <a:pathLst>
              <a:path h="371751" w="429544">
                <a:moveTo>
                  <a:pt x="0" y="0"/>
                </a:moveTo>
                <a:lnTo>
                  <a:pt x="429544" y="0"/>
                </a:lnTo>
                <a:lnTo>
                  <a:pt x="429544" y="371751"/>
                </a:lnTo>
                <a:lnTo>
                  <a:pt x="0" y="371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787955" y="3681227"/>
            <a:ext cx="4924973" cy="960256"/>
            <a:chOff x="0" y="0"/>
            <a:chExt cx="1481093" cy="288779"/>
          </a:xfrm>
        </p:grpSpPr>
        <p:sp>
          <p:nvSpPr>
            <p:cNvPr name="Freeform 17" id="17"/>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18" id="18"/>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87955" y="4949571"/>
            <a:ext cx="4924973" cy="960256"/>
            <a:chOff x="0" y="0"/>
            <a:chExt cx="1481093" cy="288779"/>
          </a:xfrm>
        </p:grpSpPr>
        <p:sp>
          <p:nvSpPr>
            <p:cNvPr name="Freeform 20" id="20"/>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21" id="21"/>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787955" y="6217916"/>
            <a:ext cx="4924973" cy="960256"/>
            <a:chOff x="0" y="0"/>
            <a:chExt cx="1481093" cy="288779"/>
          </a:xfrm>
        </p:grpSpPr>
        <p:sp>
          <p:nvSpPr>
            <p:cNvPr name="Freeform 23" id="23"/>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24" id="24"/>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770853" y="7486260"/>
            <a:ext cx="4924973" cy="960256"/>
            <a:chOff x="0" y="0"/>
            <a:chExt cx="1481093" cy="288779"/>
          </a:xfrm>
        </p:grpSpPr>
        <p:sp>
          <p:nvSpPr>
            <p:cNvPr name="Freeform 26" id="26"/>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27" id="27"/>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6190221" y="2611587"/>
            <a:ext cx="5394318" cy="6224527"/>
            <a:chOff x="0" y="0"/>
            <a:chExt cx="1140163" cy="1315639"/>
          </a:xfrm>
        </p:grpSpPr>
        <p:sp>
          <p:nvSpPr>
            <p:cNvPr name="Freeform 29" id="29"/>
            <p:cNvSpPr/>
            <p:nvPr/>
          </p:nvSpPr>
          <p:spPr>
            <a:xfrm flipH="false" flipV="false" rot="0">
              <a:off x="0" y="0"/>
              <a:ext cx="1140163" cy="1315639"/>
            </a:xfrm>
            <a:custGeom>
              <a:avLst/>
              <a:gdLst/>
              <a:ahLst/>
              <a:cxnLst/>
              <a:rect r="r" b="b" t="t" l="l"/>
              <a:pathLst>
                <a:path h="1315639" w="1140163">
                  <a:moveTo>
                    <a:pt x="4306" y="0"/>
                  </a:moveTo>
                  <a:lnTo>
                    <a:pt x="1135857" y="0"/>
                  </a:lnTo>
                  <a:cubicBezTo>
                    <a:pt x="1138235" y="0"/>
                    <a:pt x="1140163" y="1928"/>
                    <a:pt x="1140163" y="4306"/>
                  </a:cubicBezTo>
                  <a:lnTo>
                    <a:pt x="1140163" y="1311333"/>
                  </a:lnTo>
                  <a:cubicBezTo>
                    <a:pt x="1140163" y="1313711"/>
                    <a:pt x="1138235" y="1315639"/>
                    <a:pt x="1135857" y="1315639"/>
                  </a:cubicBezTo>
                  <a:lnTo>
                    <a:pt x="4306" y="1315639"/>
                  </a:lnTo>
                  <a:cubicBezTo>
                    <a:pt x="1928" y="1315639"/>
                    <a:pt x="0" y="1313711"/>
                    <a:pt x="0" y="1311333"/>
                  </a:cubicBezTo>
                  <a:lnTo>
                    <a:pt x="0" y="4306"/>
                  </a:lnTo>
                  <a:cubicBezTo>
                    <a:pt x="0" y="1928"/>
                    <a:pt x="1928" y="0"/>
                    <a:pt x="4306" y="0"/>
                  </a:cubicBezTo>
                  <a:close/>
                </a:path>
              </a:pathLst>
            </a:custGeom>
            <a:solidFill>
              <a:srgbClr val="FAFBFB"/>
            </a:solidFill>
            <a:ln w="9525" cap="sq">
              <a:solidFill>
                <a:srgbClr val="00357A"/>
              </a:solidFill>
              <a:prstDash val="solid"/>
              <a:miter/>
            </a:ln>
          </p:spPr>
        </p:sp>
        <p:sp>
          <p:nvSpPr>
            <p:cNvPr name="TextBox 30" id="30"/>
            <p:cNvSpPr txBox="true"/>
            <p:nvPr/>
          </p:nvSpPr>
          <p:spPr>
            <a:xfrm>
              <a:off x="0" y="-38100"/>
              <a:ext cx="1140163" cy="1353739"/>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6190221" y="2611587"/>
            <a:ext cx="5394318" cy="773854"/>
            <a:chOff x="0" y="0"/>
            <a:chExt cx="1140163" cy="163565"/>
          </a:xfrm>
        </p:grpSpPr>
        <p:sp>
          <p:nvSpPr>
            <p:cNvPr name="Freeform 32" id="32"/>
            <p:cNvSpPr/>
            <p:nvPr/>
          </p:nvSpPr>
          <p:spPr>
            <a:xfrm flipH="false" flipV="false" rot="0">
              <a:off x="0" y="0"/>
              <a:ext cx="1140163" cy="163565"/>
            </a:xfrm>
            <a:custGeom>
              <a:avLst/>
              <a:gdLst/>
              <a:ahLst/>
              <a:cxnLst/>
              <a:rect r="r" b="b" t="t" l="l"/>
              <a:pathLst>
                <a:path h="163565" w="1140163">
                  <a:moveTo>
                    <a:pt x="4306" y="0"/>
                  </a:moveTo>
                  <a:lnTo>
                    <a:pt x="1135857" y="0"/>
                  </a:lnTo>
                  <a:cubicBezTo>
                    <a:pt x="1138235" y="0"/>
                    <a:pt x="1140163" y="1928"/>
                    <a:pt x="1140163" y="4306"/>
                  </a:cubicBezTo>
                  <a:lnTo>
                    <a:pt x="1140163" y="159259"/>
                  </a:lnTo>
                  <a:cubicBezTo>
                    <a:pt x="1140163" y="160401"/>
                    <a:pt x="1139709" y="161496"/>
                    <a:pt x="1138902" y="162304"/>
                  </a:cubicBezTo>
                  <a:cubicBezTo>
                    <a:pt x="1138094" y="163111"/>
                    <a:pt x="1136999" y="163565"/>
                    <a:pt x="1135857" y="163565"/>
                  </a:cubicBezTo>
                  <a:lnTo>
                    <a:pt x="4306" y="163565"/>
                  </a:lnTo>
                  <a:cubicBezTo>
                    <a:pt x="1928" y="163565"/>
                    <a:pt x="0" y="161637"/>
                    <a:pt x="0" y="159259"/>
                  </a:cubicBezTo>
                  <a:lnTo>
                    <a:pt x="0" y="4306"/>
                  </a:lnTo>
                  <a:cubicBezTo>
                    <a:pt x="0" y="1928"/>
                    <a:pt x="1928" y="0"/>
                    <a:pt x="4306" y="0"/>
                  </a:cubicBezTo>
                  <a:close/>
                </a:path>
              </a:pathLst>
            </a:custGeom>
            <a:solidFill>
              <a:srgbClr val="1E6DE7">
                <a:alpha val="44706"/>
              </a:srgbClr>
            </a:solidFill>
            <a:ln w="9525" cap="sq">
              <a:solidFill>
                <a:srgbClr val="00357A">
                  <a:alpha val="44706"/>
                </a:srgbClr>
              </a:solidFill>
              <a:prstDash val="solid"/>
              <a:miter/>
            </a:ln>
          </p:spPr>
        </p:sp>
        <p:sp>
          <p:nvSpPr>
            <p:cNvPr name="TextBox 33" id="33"/>
            <p:cNvSpPr txBox="true"/>
            <p:nvPr/>
          </p:nvSpPr>
          <p:spPr>
            <a:xfrm>
              <a:off x="0" y="-38100"/>
              <a:ext cx="1140163" cy="201665"/>
            </a:xfrm>
            <a:prstGeom prst="rect">
              <a:avLst/>
            </a:prstGeom>
          </p:spPr>
          <p:txBody>
            <a:bodyPr anchor="ctr" rtlCol="false" tIns="50800" lIns="50800" bIns="50800" rIns="50800"/>
            <a:lstStyle/>
            <a:p>
              <a:pPr algn="ctr">
                <a:lnSpc>
                  <a:spcPts val="2659"/>
                </a:lnSpc>
              </a:pPr>
            </a:p>
          </p:txBody>
        </p:sp>
      </p:grpSp>
      <p:sp>
        <p:nvSpPr>
          <p:cNvPr name="AutoShape 34" id="34"/>
          <p:cNvSpPr/>
          <p:nvPr/>
        </p:nvSpPr>
        <p:spPr>
          <a:xfrm>
            <a:off x="6190221" y="3392518"/>
            <a:ext cx="5394318" cy="0"/>
          </a:xfrm>
          <a:prstGeom prst="line">
            <a:avLst/>
          </a:prstGeom>
          <a:ln cap="flat" w="19050">
            <a:solidFill>
              <a:srgbClr val="FFBD59"/>
            </a:solidFill>
            <a:prstDash val="solid"/>
            <a:headEnd type="none" len="sm" w="sm"/>
            <a:tailEnd type="none" len="sm" w="sm"/>
          </a:ln>
        </p:spPr>
      </p:sp>
      <p:grpSp>
        <p:nvGrpSpPr>
          <p:cNvPr name="Group 35" id="35"/>
          <p:cNvGrpSpPr/>
          <p:nvPr/>
        </p:nvGrpSpPr>
        <p:grpSpPr>
          <a:xfrm rot="0">
            <a:off x="6441995" y="3681227"/>
            <a:ext cx="4924973" cy="960256"/>
            <a:chOff x="0" y="0"/>
            <a:chExt cx="1481093" cy="288779"/>
          </a:xfrm>
        </p:grpSpPr>
        <p:sp>
          <p:nvSpPr>
            <p:cNvPr name="Freeform 36" id="36"/>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37" id="37"/>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6441995" y="4949571"/>
            <a:ext cx="4924973" cy="960256"/>
            <a:chOff x="0" y="0"/>
            <a:chExt cx="1481093" cy="288779"/>
          </a:xfrm>
        </p:grpSpPr>
        <p:sp>
          <p:nvSpPr>
            <p:cNvPr name="Freeform 39" id="39"/>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40" id="40"/>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6441995" y="6217916"/>
            <a:ext cx="4924973" cy="960256"/>
            <a:chOff x="0" y="0"/>
            <a:chExt cx="1481093" cy="288779"/>
          </a:xfrm>
        </p:grpSpPr>
        <p:sp>
          <p:nvSpPr>
            <p:cNvPr name="Freeform 42" id="42"/>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43" id="43"/>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6424893" y="7486260"/>
            <a:ext cx="4924973" cy="960256"/>
            <a:chOff x="0" y="0"/>
            <a:chExt cx="1481093" cy="288779"/>
          </a:xfrm>
        </p:grpSpPr>
        <p:sp>
          <p:nvSpPr>
            <p:cNvPr name="Freeform 45" id="45"/>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46" id="46"/>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1841713" y="2589901"/>
            <a:ext cx="5394318" cy="6639853"/>
            <a:chOff x="0" y="0"/>
            <a:chExt cx="1140163" cy="1403424"/>
          </a:xfrm>
        </p:grpSpPr>
        <p:sp>
          <p:nvSpPr>
            <p:cNvPr name="Freeform 48" id="48"/>
            <p:cNvSpPr/>
            <p:nvPr/>
          </p:nvSpPr>
          <p:spPr>
            <a:xfrm flipH="false" flipV="false" rot="0">
              <a:off x="0" y="0"/>
              <a:ext cx="1140163" cy="1403424"/>
            </a:xfrm>
            <a:custGeom>
              <a:avLst/>
              <a:gdLst/>
              <a:ahLst/>
              <a:cxnLst/>
              <a:rect r="r" b="b" t="t" l="l"/>
              <a:pathLst>
                <a:path h="1403424" w="1140163">
                  <a:moveTo>
                    <a:pt x="4306" y="0"/>
                  </a:moveTo>
                  <a:lnTo>
                    <a:pt x="1135857" y="0"/>
                  </a:lnTo>
                  <a:cubicBezTo>
                    <a:pt x="1138235" y="0"/>
                    <a:pt x="1140163" y="1928"/>
                    <a:pt x="1140163" y="4306"/>
                  </a:cubicBezTo>
                  <a:lnTo>
                    <a:pt x="1140163" y="1399118"/>
                  </a:lnTo>
                  <a:cubicBezTo>
                    <a:pt x="1140163" y="1401496"/>
                    <a:pt x="1138235" y="1403424"/>
                    <a:pt x="1135857" y="1403424"/>
                  </a:cubicBezTo>
                  <a:lnTo>
                    <a:pt x="4306" y="1403424"/>
                  </a:lnTo>
                  <a:cubicBezTo>
                    <a:pt x="1928" y="1403424"/>
                    <a:pt x="0" y="1401496"/>
                    <a:pt x="0" y="1399118"/>
                  </a:cubicBezTo>
                  <a:lnTo>
                    <a:pt x="0" y="4306"/>
                  </a:lnTo>
                  <a:cubicBezTo>
                    <a:pt x="0" y="1928"/>
                    <a:pt x="1928" y="0"/>
                    <a:pt x="4306" y="0"/>
                  </a:cubicBezTo>
                  <a:close/>
                </a:path>
              </a:pathLst>
            </a:custGeom>
            <a:solidFill>
              <a:srgbClr val="FAFBFB"/>
            </a:solidFill>
            <a:ln w="9525" cap="sq">
              <a:solidFill>
                <a:srgbClr val="1B9B48"/>
              </a:solidFill>
              <a:prstDash val="solid"/>
              <a:miter/>
            </a:ln>
          </p:spPr>
        </p:sp>
        <p:sp>
          <p:nvSpPr>
            <p:cNvPr name="TextBox 49" id="49"/>
            <p:cNvSpPr txBox="true"/>
            <p:nvPr/>
          </p:nvSpPr>
          <p:spPr>
            <a:xfrm>
              <a:off x="0" y="-38100"/>
              <a:ext cx="1140163" cy="1441524"/>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11864982" y="2611587"/>
            <a:ext cx="5394318" cy="773854"/>
            <a:chOff x="0" y="0"/>
            <a:chExt cx="1140163" cy="163565"/>
          </a:xfrm>
        </p:grpSpPr>
        <p:sp>
          <p:nvSpPr>
            <p:cNvPr name="Freeform 51" id="51"/>
            <p:cNvSpPr/>
            <p:nvPr/>
          </p:nvSpPr>
          <p:spPr>
            <a:xfrm flipH="false" flipV="false" rot="0">
              <a:off x="0" y="0"/>
              <a:ext cx="1140163" cy="163565"/>
            </a:xfrm>
            <a:custGeom>
              <a:avLst/>
              <a:gdLst/>
              <a:ahLst/>
              <a:cxnLst/>
              <a:rect r="r" b="b" t="t" l="l"/>
              <a:pathLst>
                <a:path h="163565" w="1140163">
                  <a:moveTo>
                    <a:pt x="4306" y="0"/>
                  </a:moveTo>
                  <a:lnTo>
                    <a:pt x="1135857" y="0"/>
                  </a:lnTo>
                  <a:cubicBezTo>
                    <a:pt x="1138235" y="0"/>
                    <a:pt x="1140163" y="1928"/>
                    <a:pt x="1140163" y="4306"/>
                  </a:cubicBezTo>
                  <a:lnTo>
                    <a:pt x="1140163" y="159259"/>
                  </a:lnTo>
                  <a:cubicBezTo>
                    <a:pt x="1140163" y="160401"/>
                    <a:pt x="1139709" y="161496"/>
                    <a:pt x="1138902" y="162304"/>
                  </a:cubicBezTo>
                  <a:cubicBezTo>
                    <a:pt x="1138094" y="163111"/>
                    <a:pt x="1136999" y="163565"/>
                    <a:pt x="1135857" y="163565"/>
                  </a:cubicBezTo>
                  <a:lnTo>
                    <a:pt x="4306" y="163565"/>
                  </a:lnTo>
                  <a:cubicBezTo>
                    <a:pt x="1928" y="163565"/>
                    <a:pt x="0" y="161637"/>
                    <a:pt x="0" y="159259"/>
                  </a:cubicBezTo>
                  <a:lnTo>
                    <a:pt x="0" y="4306"/>
                  </a:lnTo>
                  <a:cubicBezTo>
                    <a:pt x="0" y="1928"/>
                    <a:pt x="1928" y="0"/>
                    <a:pt x="4306" y="0"/>
                  </a:cubicBezTo>
                  <a:close/>
                </a:path>
              </a:pathLst>
            </a:custGeom>
            <a:solidFill>
              <a:srgbClr val="3DA455">
                <a:alpha val="44706"/>
              </a:srgbClr>
            </a:solidFill>
            <a:ln w="9525" cap="sq">
              <a:solidFill>
                <a:srgbClr val="00357A">
                  <a:alpha val="44706"/>
                </a:srgbClr>
              </a:solidFill>
              <a:prstDash val="solid"/>
              <a:miter/>
            </a:ln>
          </p:spPr>
        </p:sp>
        <p:sp>
          <p:nvSpPr>
            <p:cNvPr name="TextBox 52" id="52"/>
            <p:cNvSpPr txBox="true"/>
            <p:nvPr/>
          </p:nvSpPr>
          <p:spPr>
            <a:xfrm>
              <a:off x="0" y="-38100"/>
              <a:ext cx="1140163" cy="201665"/>
            </a:xfrm>
            <a:prstGeom prst="rect">
              <a:avLst/>
            </a:prstGeom>
          </p:spPr>
          <p:txBody>
            <a:bodyPr anchor="ctr" rtlCol="false" tIns="50800" lIns="50800" bIns="50800" rIns="50800"/>
            <a:lstStyle/>
            <a:p>
              <a:pPr algn="ctr">
                <a:lnSpc>
                  <a:spcPts val="2659"/>
                </a:lnSpc>
              </a:pPr>
            </a:p>
          </p:txBody>
        </p:sp>
      </p:grpSp>
      <p:sp>
        <p:nvSpPr>
          <p:cNvPr name="AutoShape 53" id="53"/>
          <p:cNvSpPr/>
          <p:nvPr/>
        </p:nvSpPr>
        <p:spPr>
          <a:xfrm flipV="true">
            <a:off x="11864982" y="3385334"/>
            <a:ext cx="5368234" cy="7183"/>
          </a:xfrm>
          <a:prstGeom prst="line">
            <a:avLst/>
          </a:prstGeom>
          <a:ln cap="flat" w="19050">
            <a:solidFill>
              <a:srgbClr val="FFBD59"/>
            </a:solidFill>
            <a:prstDash val="solid"/>
            <a:headEnd type="none" len="sm" w="sm"/>
            <a:tailEnd type="none" len="sm" w="sm"/>
          </a:ln>
        </p:spPr>
      </p:sp>
      <p:grpSp>
        <p:nvGrpSpPr>
          <p:cNvPr name="Group 54" id="54"/>
          <p:cNvGrpSpPr/>
          <p:nvPr/>
        </p:nvGrpSpPr>
        <p:grpSpPr>
          <a:xfrm rot="0">
            <a:off x="12116757" y="3681227"/>
            <a:ext cx="4924973" cy="960256"/>
            <a:chOff x="0" y="0"/>
            <a:chExt cx="1481093" cy="288779"/>
          </a:xfrm>
        </p:grpSpPr>
        <p:sp>
          <p:nvSpPr>
            <p:cNvPr name="Freeform 55" id="55"/>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56" id="56"/>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12116757" y="4949571"/>
            <a:ext cx="4924973" cy="960256"/>
            <a:chOff x="0" y="0"/>
            <a:chExt cx="1481093" cy="288779"/>
          </a:xfrm>
        </p:grpSpPr>
        <p:sp>
          <p:nvSpPr>
            <p:cNvPr name="Freeform 58" id="58"/>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59" id="59"/>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12116757" y="6217916"/>
            <a:ext cx="4924973" cy="960256"/>
            <a:chOff x="0" y="0"/>
            <a:chExt cx="1481093" cy="288779"/>
          </a:xfrm>
        </p:grpSpPr>
        <p:sp>
          <p:nvSpPr>
            <p:cNvPr name="Freeform 61" id="61"/>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62" id="62"/>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12099655" y="7486260"/>
            <a:ext cx="4924973" cy="960256"/>
            <a:chOff x="0" y="0"/>
            <a:chExt cx="1481093" cy="288779"/>
          </a:xfrm>
        </p:grpSpPr>
        <p:sp>
          <p:nvSpPr>
            <p:cNvPr name="Freeform 64" id="64"/>
            <p:cNvSpPr/>
            <p:nvPr/>
          </p:nvSpPr>
          <p:spPr>
            <a:xfrm flipH="false" flipV="false" rot="0">
              <a:off x="0" y="0"/>
              <a:ext cx="1481093" cy="288779"/>
            </a:xfrm>
            <a:custGeom>
              <a:avLst/>
              <a:gdLst/>
              <a:ahLst/>
              <a:cxnLst/>
              <a:rect r="r" b="b" t="t" l="l"/>
              <a:pathLst>
                <a:path h="288779" w="1481093">
                  <a:moveTo>
                    <a:pt x="0" y="0"/>
                  </a:moveTo>
                  <a:lnTo>
                    <a:pt x="1481093" y="0"/>
                  </a:lnTo>
                  <a:lnTo>
                    <a:pt x="1481093" y="288779"/>
                  </a:lnTo>
                  <a:lnTo>
                    <a:pt x="0" y="288779"/>
                  </a:lnTo>
                  <a:close/>
                </a:path>
              </a:pathLst>
            </a:custGeom>
            <a:solidFill>
              <a:srgbClr val="00357A">
                <a:alpha val="11765"/>
              </a:srgbClr>
            </a:solidFill>
          </p:spPr>
        </p:sp>
        <p:sp>
          <p:nvSpPr>
            <p:cNvPr name="TextBox 65" id="65"/>
            <p:cNvSpPr txBox="true"/>
            <p:nvPr/>
          </p:nvSpPr>
          <p:spPr>
            <a:xfrm>
              <a:off x="0" y="-38100"/>
              <a:ext cx="1481093" cy="326879"/>
            </a:xfrm>
            <a:prstGeom prst="rect">
              <a:avLst/>
            </a:prstGeom>
          </p:spPr>
          <p:txBody>
            <a:bodyPr anchor="ctr" rtlCol="false" tIns="50800" lIns="50800" bIns="50800" rIns="50800"/>
            <a:lstStyle/>
            <a:p>
              <a:pPr algn="ctr">
                <a:lnSpc>
                  <a:spcPts val="2659"/>
                </a:lnSpc>
              </a:pPr>
            </a:p>
          </p:txBody>
        </p:sp>
      </p:grpSp>
      <p:sp>
        <p:nvSpPr>
          <p:cNvPr name="Freeform 66" id="66"/>
          <p:cNvSpPr/>
          <p:nvPr/>
        </p:nvSpPr>
        <p:spPr>
          <a:xfrm flipH="false" flipV="false" rot="0">
            <a:off x="6563915" y="2827605"/>
            <a:ext cx="325067" cy="321410"/>
          </a:xfrm>
          <a:custGeom>
            <a:avLst/>
            <a:gdLst/>
            <a:ahLst/>
            <a:cxnLst/>
            <a:rect r="r" b="b" t="t" l="l"/>
            <a:pathLst>
              <a:path h="321410" w="325067">
                <a:moveTo>
                  <a:pt x="0" y="0"/>
                </a:moveTo>
                <a:lnTo>
                  <a:pt x="325067" y="0"/>
                </a:lnTo>
                <a:lnTo>
                  <a:pt x="325067" y="321409"/>
                </a:lnTo>
                <a:lnTo>
                  <a:pt x="0" y="3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7" id="67"/>
          <p:cNvSpPr/>
          <p:nvPr/>
        </p:nvSpPr>
        <p:spPr>
          <a:xfrm flipH="false" flipV="false" rot="0">
            <a:off x="12222713" y="2850924"/>
            <a:ext cx="335317" cy="335317"/>
          </a:xfrm>
          <a:custGeom>
            <a:avLst/>
            <a:gdLst/>
            <a:ahLst/>
            <a:cxnLst/>
            <a:rect r="r" b="b" t="t" l="l"/>
            <a:pathLst>
              <a:path h="335317" w="335317">
                <a:moveTo>
                  <a:pt x="0" y="0"/>
                </a:moveTo>
                <a:lnTo>
                  <a:pt x="335317" y="0"/>
                </a:lnTo>
                <a:lnTo>
                  <a:pt x="335317" y="335317"/>
                </a:lnTo>
                <a:lnTo>
                  <a:pt x="0" y="3353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8" id="68"/>
          <p:cNvGrpSpPr/>
          <p:nvPr/>
        </p:nvGrpSpPr>
        <p:grpSpPr>
          <a:xfrm rot="0">
            <a:off x="854911" y="3830722"/>
            <a:ext cx="594974" cy="594974"/>
            <a:chOff x="0" y="0"/>
            <a:chExt cx="812800" cy="812800"/>
          </a:xfrm>
        </p:grpSpPr>
        <p:sp>
          <p:nvSpPr>
            <p:cNvPr name="Freeform 69" id="6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44706"/>
              </a:srgbClr>
            </a:solidFill>
          </p:spPr>
        </p:sp>
        <p:sp>
          <p:nvSpPr>
            <p:cNvPr name="TextBox 70" id="7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1" id="71"/>
          <p:cNvSpPr/>
          <p:nvPr/>
        </p:nvSpPr>
        <p:spPr>
          <a:xfrm flipH="false" flipV="false" rot="0">
            <a:off x="1001121" y="3970341"/>
            <a:ext cx="302554" cy="309973"/>
          </a:xfrm>
          <a:custGeom>
            <a:avLst/>
            <a:gdLst/>
            <a:ahLst/>
            <a:cxnLst/>
            <a:rect r="r" b="b" t="t" l="l"/>
            <a:pathLst>
              <a:path h="309973" w="302554">
                <a:moveTo>
                  <a:pt x="0" y="0"/>
                </a:moveTo>
                <a:lnTo>
                  <a:pt x="302554" y="0"/>
                </a:lnTo>
                <a:lnTo>
                  <a:pt x="302554" y="309973"/>
                </a:lnTo>
                <a:lnTo>
                  <a:pt x="0" y="3099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2" id="72"/>
          <p:cNvGrpSpPr/>
          <p:nvPr/>
        </p:nvGrpSpPr>
        <p:grpSpPr>
          <a:xfrm rot="0">
            <a:off x="854911" y="5121008"/>
            <a:ext cx="594974" cy="594974"/>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44706"/>
              </a:srgbClr>
            </a:solidFill>
          </p:spPr>
        </p:sp>
        <p:sp>
          <p:nvSpPr>
            <p:cNvPr name="TextBox 74" id="7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5" id="75"/>
          <p:cNvSpPr/>
          <p:nvPr/>
        </p:nvSpPr>
        <p:spPr>
          <a:xfrm flipH="false" flipV="false" rot="0">
            <a:off x="980896" y="5246367"/>
            <a:ext cx="343005" cy="344257"/>
          </a:xfrm>
          <a:custGeom>
            <a:avLst/>
            <a:gdLst/>
            <a:ahLst/>
            <a:cxnLst/>
            <a:rect r="r" b="b" t="t" l="l"/>
            <a:pathLst>
              <a:path h="344257" w="343005">
                <a:moveTo>
                  <a:pt x="0" y="0"/>
                </a:moveTo>
                <a:lnTo>
                  <a:pt x="343005" y="0"/>
                </a:lnTo>
                <a:lnTo>
                  <a:pt x="343005" y="344257"/>
                </a:lnTo>
                <a:lnTo>
                  <a:pt x="0" y="3442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6" id="76"/>
          <p:cNvSpPr txBox="true"/>
          <p:nvPr/>
        </p:nvSpPr>
        <p:spPr>
          <a:xfrm rot="0">
            <a:off x="1418874" y="6402988"/>
            <a:ext cx="3628931" cy="248707"/>
          </a:xfrm>
          <a:prstGeom prst="rect">
            <a:avLst/>
          </a:prstGeom>
        </p:spPr>
        <p:txBody>
          <a:bodyPr anchor="t" rtlCol="false" tIns="0" lIns="0" bIns="0" rIns="0">
            <a:spAutoFit/>
          </a:bodyPr>
          <a:lstStyle/>
          <a:p>
            <a:pPr algn="ctr">
              <a:lnSpc>
                <a:spcPts val="2053"/>
              </a:lnSpc>
              <a:spcBef>
                <a:spcPct val="0"/>
              </a:spcBef>
            </a:pPr>
            <a:r>
              <a:rPr lang="en-US" sz="1466">
                <a:solidFill>
                  <a:srgbClr val="000000"/>
                </a:solidFill>
                <a:latin typeface="Open Sans"/>
                <a:ea typeface="Open Sans"/>
                <a:cs typeface="Open Sans"/>
                <a:sym typeface="Open Sans"/>
              </a:rPr>
              <a:t>Problemas de salud en el desarrollador</a:t>
            </a:r>
          </a:p>
        </p:txBody>
      </p:sp>
      <p:grpSp>
        <p:nvGrpSpPr>
          <p:cNvPr name="Group 77" id="77"/>
          <p:cNvGrpSpPr/>
          <p:nvPr/>
        </p:nvGrpSpPr>
        <p:grpSpPr>
          <a:xfrm rot="0">
            <a:off x="854911" y="6431563"/>
            <a:ext cx="594974" cy="594974"/>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44706"/>
              </a:srgbClr>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0" id="80"/>
          <p:cNvSpPr/>
          <p:nvPr/>
        </p:nvSpPr>
        <p:spPr>
          <a:xfrm flipH="false" flipV="false" rot="0">
            <a:off x="965655" y="6542307"/>
            <a:ext cx="373486" cy="373486"/>
          </a:xfrm>
          <a:custGeom>
            <a:avLst/>
            <a:gdLst/>
            <a:ahLst/>
            <a:cxnLst/>
            <a:rect r="r" b="b" t="t" l="l"/>
            <a:pathLst>
              <a:path h="373486" w="373486">
                <a:moveTo>
                  <a:pt x="0" y="0"/>
                </a:moveTo>
                <a:lnTo>
                  <a:pt x="373486" y="0"/>
                </a:lnTo>
                <a:lnTo>
                  <a:pt x="373486" y="373487"/>
                </a:lnTo>
                <a:lnTo>
                  <a:pt x="0" y="3734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1" id="81"/>
          <p:cNvGrpSpPr/>
          <p:nvPr/>
        </p:nvGrpSpPr>
        <p:grpSpPr>
          <a:xfrm rot="0">
            <a:off x="854911" y="7702047"/>
            <a:ext cx="594974" cy="594974"/>
            <a:chOff x="0" y="0"/>
            <a:chExt cx="812800" cy="812800"/>
          </a:xfrm>
        </p:grpSpPr>
        <p:sp>
          <p:nvSpPr>
            <p:cNvPr name="Freeform 82" id="8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44706"/>
              </a:srgbClr>
            </a:solidFill>
          </p:spPr>
        </p:sp>
        <p:sp>
          <p:nvSpPr>
            <p:cNvPr name="TextBox 83" id="8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4" id="84"/>
          <p:cNvSpPr/>
          <p:nvPr/>
        </p:nvSpPr>
        <p:spPr>
          <a:xfrm flipH="false" flipV="false" rot="0">
            <a:off x="952815" y="7799951"/>
            <a:ext cx="399166" cy="399166"/>
          </a:xfrm>
          <a:custGeom>
            <a:avLst/>
            <a:gdLst/>
            <a:ahLst/>
            <a:cxnLst/>
            <a:rect r="r" b="b" t="t" l="l"/>
            <a:pathLst>
              <a:path h="399166" w="399166">
                <a:moveTo>
                  <a:pt x="0" y="0"/>
                </a:moveTo>
                <a:lnTo>
                  <a:pt x="399166" y="0"/>
                </a:lnTo>
                <a:lnTo>
                  <a:pt x="399166" y="399166"/>
                </a:lnTo>
                <a:lnTo>
                  <a:pt x="0" y="3991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85" id="85"/>
          <p:cNvGrpSpPr/>
          <p:nvPr/>
        </p:nvGrpSpPr>
        <p:grpSpPr>
          <a:xfrm rot="0">
            <a:off x="6638439" y="3830722"/>
            <a:ext cx="594974" cy="594974"/>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57A">
                <a:alpha val="44706"/>
              </a:srgbClr>
            </a:solidFill>
          </p:spPr>
        </p:sp>
        <p:sp>
          <p:nvSpPr>
            <p:cNvPr name="TextBox 87" id="8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8" id="88"/>
          <p:cNvGrpSpPr/>
          <p:nvPr/>
        </p:nvGrpSpPr>
        <p:grpSpPr>
          <a:xfrm rot="0">
            <a:off x="6638439" y="5121008"/>
            <a:ext cx="594974" cy="594974"/>
            <a:chOff x="0" y="0"/>
            <a:chExt cx="812800" cy="812800"/>
          </a:xfrm>
        </p:grpSpPr>
        <p:sp>
          <p:nvSpPr>
            <p:cNvPr name="Freeform 89" id="8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57A">
                <a:alpha val="44706"/>
              </a:srgbClr>
            </a:solidFill>
          </p:spPr>
        </p:sp>
        <p:sp>
          <p:nvSpPr>
            <p:cNvPr name="TextBox 90" id="9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91" id="91"/>
          <p:cNvSpPr txBox="true"/>
          <p:nvPr/>
        </p:nvSpPr>
        <p:spPr>
          <a:xfrm rot="0">
            <a:off x="7122202" y="6402988"/>
            <a:ext cx="3628931" cy="248707"/>
          </a:xfrm>
          <a:prstGeom prst="rect">
            <a:avLst/>
          </a:prstGeom>
        </p:spPr>
        <p:txBody>
          <a:bodyPr anchor="t" rtlCol="false" tIns="0" lIns="0" bIns="0" rIns="0">
            <a:spAutoFit/>
          </a:bodyPr>
          <a:lstStyle/>
          <a:p>
            <a:pPr algn="ctr">
              <a:lnSpc>
                <a:spcPts val="2053"/>
              </a:lnSpc>
              <a:spcBef>
                <a:spcPct val="0"/>
              </a:spcBef>
            </a:pPr>
            <a:r>
              <a:rPr lang="en-US" sz="1466">
                <a:solidFill>
                  <a:srgbClr val="000000"/>
                </a:solidFill>
                <a:latin typeface="Open Sans"/>
                <a:ea typeface="Open Sans"/>
                <a:cs typeface="Open Sans"/>
                <a:sym typeface="Open Sans"/>
              </a:rPr>
              <a:t>Uso de Trello y reuniones frecuentes</a:t>
            </a:r>
          </a:p>
        </p:txBody>
      </p:sp>
      <p:grpSp>
        <p:nvGrpSpPr>
          <p:cNvPr name="Group 92" id="92"/>
          <p:cNvGrpSpPr/>
          <p:nvPr/>
        </p:nvGrpSpPr>
        <p:grpSpPr>
          <a:xfrm rot="0">
            <a:off x="6638439" y="6431563"/>
            <a:ext cx="594974" cy="594974"/>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57A">
                <a:alpha val="44706"/>
              </a:srgbClr>
            </a:solidFill>
          </p:spPr>
        </p:sp>
        <p:sp>
          <p:nvSpPr>
            <p:cNvPr name="TextBox 94" id="9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5" id="95"/>
          <p:cNvGrpSpPr/>
          <p:nvPr/>
        </p:nvGrpSpPr>
        <p:grpSpPr>
          <a:xfrm rot="0">
            <a:off x="6638439" y="7702047"/>
            <a:ext cx="594974" cy="594974"/>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57A">
                <a:alpha val="44706"/>
              </a:srgbClr>
            </a:solidFill>
          </p:spPr>
        </p:sp>
        <p:sp>
          <p:nvSpPr>
            <p:cNvPr name="TextBox 97" id="9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8" id="98"/>
          <p:cNvGrpSpPr/>
          <p:nvPr/>
        </p:nvGrpSpPr>
        <p:grpSpPr>
          <a:xfrm rot="0">
            <a:off x="12317963" y="3830722"/>
            <a:ext cx="594974" cy="594974"/>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B48">
                <a:alpha val="44706"/>
              </a:srgbClr>
            </a:solidFill>
          </p:spPr>
        </p:sp>
        <p:sp>
          <p:nvSpPr>
            <p:cNvPr name="TextBox 100" id="10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1" id="101"/>
          <p:cNvGrpSpPr/>
          <p:nvPr/>
        </p:nvGrpSpPr>
        <p:grpSpPr>
          <a:xfrm rot="0">
            <a:off x="12317963" y="5121008"/>
            <a:ext cx="594974" cy="594974"/>
            <a:chOff x="0" y="0"/>
            <a:chExt cx="812800" cy="812800"/>
          </a:xfrm>
        </p:grpSpPr>
        <p:sp>
          <p:nvSpPr>
            <p:cNvPr name="Freeform 102" id="10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B48">
                <a:alpha val="44706"/>
              </a:srgbClr>
            </a:solidFill>
          </p:spPr>
        </p:sp>
        <p:sp>
          <p:nvSpPr>
            <p:cNvPr name="TextBox 103" id="10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04" id="104"/>
          <p:cNvSpPr txBox="true"/>
          <p:nvPr/>
        </p:nvSpPr>
        <p:spPr>
          <a:xfrm rot="0">
            <a:off x="12968322" y="6428803"/>
            <a:ext cx="3628931" cy="248489"/>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Interfaces funcionales</a:t>
            </a:r>
          </a:p>
        </p:txBody>
      </p:sp>
      <p:grpSp>
        <p:nvGrpSpPr>
          <p:cNvPr name="Group 105" id="105"/>
          <p:cNvGrpSpPr/>
          <p:nvPr/>
        </p:nvGrpSpPr>
        <p:grpSpPr>
          <a:xfrm rot="0">
            <a:off x="12317963" y="6431563"/>
            <a:ext cx="594974" cy="594974"/>
            <a:chOff x="0" y="0"/>
            <a:chExt cx="812800" cy="812800"/>
          </a:xfrm>
        </p:grpSpPr>
        <p:sp>
          <p:nvSpPr>
            <p:cNvPr name="Freeform 106" id="10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B48">
                <a:alpha val="44706"/>
              </a:srgbClr>
            </a:solidFill>
          </p:spPr>
        </p:sp>
        <p:sp>
          <p:nvSpPr>
            <p:cNvPr name="TextBox 107" id="10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8" id="108"/>
          <p:cNvGrpSpPr/>
          <p:nvPr/>
        </p:nvGrpSpPr>
        <p:grpSpPr>
          <a:xfrm rot="0">
            <a:off x="12317963" y="7702047"/>
            <a:ext cx="594974" cy="594974"/>
            <a:chOff x="0" y="0"/>
            <a:chExt cx="812800" cy="812800"/>
          </a:xfrm>
        </p:grpSpPr>
        <p:sp>
          <p:nvSpPr>
            <p:cNvPr name="Freeform 109" id="10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B48">
                <a:alpha val="44706"/>
              </a:srgbClr>
            </a:solidFill>
          </p:spPr>
        </p:sp>
        <p:sp>
          <p:nvSpPr>
            <p:cNvPr name="TextBox 110" id="1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1" id="111"/>
          <p:cNvSpPr/>
          <p:nvPr/>
        </p:nvSpPr>
        <p:spPr>
          <a:xfrm flipH="false" flipV="false" rot="0">
            <a:off x="6785879" y="3940649"/>
            <a:ext cx="300095" cy="375119"/>
          </a:xfrm>
          <a:custGeom>
            <a:avLst/>
            <a:gdLst/>
            <a:ahLst/>
            <a:cxnLst/>
            <a:rect r="r" b="b" t="t" l="l"/>
            <a:pathLst>
              <a:path h="375119" w="300095">
                <a:moveTo>
                  <a:pt x="0" y="0"/>
                </a:moveTo>
                <a:lnTo>
                  <a:pt x="300095" y="0"/>
                </a:lnTo>
                <a:lnTo>
                  <a:pt x="300095" y="375120"/>
                </a:lnTo>
                <a:lnTo>
                  <a:pt x="0" y="3751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2" id="112"/>
          <p:cNvSpPr/>
          <p:nvPr/>
        </p:nvSpPr>
        <p:spPr>
          <a:xfrm flipH="false" flipV="false" rot="0">
            <a:off x="6716008" y="5215371"/>
            <a:ext cx="406194" cy="406194"/>
          </a:xfrm>
          <a:custGeom>
            <a:avLst/>
            <a:gdLst/>
            <a:ahLst/>
            <a:cxnLst/>
            <a:rect r="r" b="b" t="t" l="l"/>
            <a:pathLst>
              <a:path h="406194" w="406194">
                <a:moveTo>
                  <a:pt x="0" y="0"/>
                </a:moveTo>
                <a:lnTo>
                  <a:pt x="406194" y="0"/>
                </a:lnTo>
                <a:lnTo>
                  <a:pt x="406194" y="406194"/>
                </a:lnTo>
                <a:lnTo>
                  <a:pt x="0" y="4061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3" id="113"/>
          <p:cNvSpPr/>
          <p:nvPr/>
        </p:nvSpPr>
        <p:spPr>
          <a:xfrm flipH="false" flipV="false" rot="0">
            <a:off x="6751818" y="6541630"/>
            <a:ext cx="351284" cy="351284"/>
          </a:xfrm>
          <a:custGeom>
            <a:avLst/>
            <a:gdLst/>
            <a:ahLst/>
            <a:cxnLst/>
            <a:rect r="r" b="b" t="t" l="l"/>
            <a:pathLst>
              <a:path h="351284" w="351284">
                <a:moveTo>
                  <a:pt x="0" y="0"/>
                </a:moveTo>
                <a:lnTo>
                  <a:pt x="351284" y="0"/>
                </a:lnTo>
                <a:lnTo>
                  <a:pt x="351284" y="351283"/>
                </a:lnTo>
                <a:lnTo>
                  <a:pt x="0" y="351283"/>
                </a:lnTo>
                <a:lnTo>
                  <a:pt x="0" y="0"/>
                </a:lnTo>
                <a:close/>
              </a:path>
            </a:pathLst>
          </a:custGeom>
          <a:blipFill>
            <a:blip r:embed="rId20"/>
            <a:stretch>
              <a:fillRect l="0" t="0" r="0" b="0"/>
            </a:stretch>
          </a:blipFill>
        </p:spPr>
      </p:sp>
      <p:sp>
        <p:nvSpPr>
          <p:cNvPr name="Freeform 114" id="114"/>
          <p:cNvSpPr/>
          <p:nvPr/>
        </p:nvSpPr>
        <p:spPr>
          <a:xfrm flipH="false" flipV="false" rot="0">
            <a:off x="6768605" y="7801384"/>
            <a:ext cx="335593" cy="409260"/>
          </a:xfrm>
          <a:custGeom>
            <a:avLst/>
            <a:gdLst/>
            <a:ahLst/>
            <a:cxnLst/>
            <a:rect r="r" b="b" t="t" l="l"/>
            <a:pathLst>
              <a:path h="409260" w="335593">
                <a:moveTo>
                  <a:pt x="0" y="0"/>
                </a:moveTo>
                <a:lnTo>
                  <a:pt x="335593" y="0"/>
                </a:lnTo>
                <a:lnTo>
                  <a:pt x="335593" y="409260"/>
                </a:lnTo>
                <a:lnTo>
                  <a:pt x="0" y="40926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15" id="115"/>
          <p:cNvSpPr/>
          <p:nvPr/>
        </p:nvSpPr>
        <p:spPr>
          <a:xfrm flipH="false" flipV="false" rot="0">
            <a:off x="12393102" y="3905195"/>
            <a:ext cx="488824" cy="488824"/>
          </a:xfrm>
          <a:custGeom>
            <a:avLst/>
            <a:gdLst/>
            <a:ahLst/>
            <a:cxnLst/>
            <a:rect r="r" b="b" t="t" l="l"/>
            <a:pathLst>
              <a:path h="488824" w="488824">
                <a:moveTo>
                  <a:pt x="0" y="0"/>
                </a:moveTo>
                <a:lnTo>
                  <a:pt x="488824" y="0"/>
                </a:lnTo>
                <a:lnTo>
                  <a:pt x="488824" y="488825"/>
                </a:lnTo>
                <a:lnTo>
                  <a:pt x="0" y="48882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16" id="116"/>
          <p:cNvSpPr/>
          <p:nvPr/>
        </p:nvSpPr>
        <p:spPr>
          <a:xfrm flipH="false" flipV="false" rot="0">
            <a:off x="12393102" y="5198554"/>
            <a:ext cx="460831" cy="427421"/>
          </a:xfrm>
          <a:custGeom>
            <a:avLst/>
            <a:gdLst/>
            <a:ahLst/>
            <a:cxnLst/>
            <a:rect r="r" b="b" t="t" l="l"/>
            <a:pathLst>
              <a:path h="427421" w="460831">
                <a:moveTo>
                  <a:pt x="0" y="0"/>
                </a:moveTo>
                <a:lnTo>
                  <a:pt x="460831" y="0"/>
                </a:lnTo>
                <a:lnTo>
                  <a:pt x="460831" y="427420"/>
                </a:lnTo>
                <a:lnTo>
                  <a:pt x="0" y="42742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17" id="117"/>
          <p:cNvSpPr/>
          <p:nvPr/>
        </p:nvSpPr>
        <p:spPr>
          <a:xfrm flipH="false" flipV="false" rot="0">
            <a:off x="12374665" y="6490636"/>
            <a:ext cx="497705" cy="488995"/>
          </a:xfrm>
          <a:custGeom>
            <a:avLst/>
            <a:gdLst/>
            <a:ahLst/>
            <a:cxnLst/>
            <a:rect r="r" b="b" t="t" l="l"/>
            <a:pathLst>
              <a:path h="488995" w="497705">
                <a:moveTo>
                  <a:pt x="0" y="0"/>
                </a:moveTo>
                <a:lnTo>
                  <a:pt x="497705" y="0"/>
                </a:lnTo>
                <a:lnTo>
                  <a:pt x="497705" y="488995"/>
                </a:lnTo>
                <a:lnTo>
                  <a:pt x="0" y="48899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18" id="118"/>
          <p:cNvSpPr/>
          <p:nvPr/>
        </p:nvSpPr>
        <p:spPr>
          <a:xfrm flipH="false" flipV="false" rot="0">
            <a:off x="12359196" y="7759197"/>
            <a:ext cx="494737" cy="451447"/>
          </a:xfrm>
          <a:custGeom>
            <a:avLst/>
            <a:gdLst/>
            <a:ahLst/>
            <a:cxnLst/>
            <a:rect r="r" b="b" t="t" l="l"/>
            <a:pathLst>
              <a:path h="451447" w="494737">
                <a:moveTo>
                  <a:pt x="0" y="0"/>
                </a:moveTo>
                <a:lnTo>
                  <a:pt x="494737" y="0"/>
                </a:lnTo>
                <a:lnTo>
                  <a:pt x="494737" y="451447"/>
                </a:lnTo>
                <a:lnTo>
                  <a:pt x="0" y="45144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TextBox 119" id="119"/>
          <p:cNvSpPr txBox="true"/>
          <p:nvPr/>
        </p:nvSpPr>
        <p:spPr>
          <a:xfrm rot="0">
            <a:off x="2284257" y="550792"/>
            <a:ext cx="13552587" cy="721403"/>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Ajustes Realizados durante el desarrollo del proyecto</a:t>
            </a:r>
          </a:p>
        </p:txBody>
      </p:sp>
      <p:sp>
        <p:nvSpPr>
          <p:cNvPr name="TextBox 120" id="120"/>
          <p:cNvSpPr txBox="true"/>
          <p:nvPr/>
        </p:nvSpPr>
        <p:spPr>
          <a:xfrm rot="0">
            <a:off x="1404367" y="2759911"/>
            <a:ext cx="3643438" cy="429581"/>
          </a:xfrm>
          <a:prstGeom prst="rect">
            <a:avLst/>
          </a:prstGeom>
        </p:spPr>
        <p:txBody>
          <a:bodyPr anchor="t" rtlCol="false" tIns="0" lIns="0" bIns="0" rIns="0">
            <a:spAutoFit/>
          </a:bodyPr>
          <a:lstStyle/>
          <a:p>
            <a:pPr algn="ctr">
              <a:lnSpc>
                <a:spcPts val="3563"/>
              </a:lnSpc>
              <a:spcBef>
                <a:spcPct val="0"/>
              </a:spcBef>
            </a:pPr>
            <a:r>
              <a:rPr lang="en-US" b="true" sz="2545">
                <a:solidFill>
                  <a:srgbClr val="70172A"/>
                </a:solidFill>
                <a:latin typeface="Open Sans Bold"/>
                <a:ea typeface="Open Sans Bold"/>
                <a:cs typeface="Open Sans Bold"/>
                <a:sym typeface="Open Sans Bold"/>
              </a:rPr>
              <a:t>Dificultades Técnicas</a:t>
            </a:r>
          </a:p>
        </p:txBody>
      </p:sp>
      <p:sp>
        <p:nvSpPr>
          <p:cNvPr name="TextBox 121" id="121"/>
          <p:cNvSpPr txBox="true"/>
          <p:nvPr/>
        </p:nvSpPr>
        <p:spPr>
          <a:xfrm rot="0">
            <a:off x="6996134" y="2749707"/>
            <a:ext cx="3816696" cy="429581"/>
          </a:xfrm>
          <a:prstGeom prst="rect">
            <a:avLst/>
          </a:prstGeom>
        </p:spPr>
        <p:txBody>
          <a:bodyPr anchor="t" rtlCol="false" tIns="0" lIns="0" bIns="0" rIns="0">
            <a:spAutoFit/>
          </a:bodyPr>
          <a:lstStyle/>
          <a:p>
            <a:pPr algn="ctr">
              <a:lnSpc>
                <a:spcPts val="3563"/>
              </a:lnSpc>
              <a:spcBef>
                <a:spcPct val="0"/>
              </a:spcBef>
            </a:pPr>
            <a:r>
              <a:rPr lang="en-US" b="true" sz="2545">
                <a:solidFill>
                  <a:srgbClr val="1E3061"/>
                </a:solidFill>
                <a:latin typeface="Open Sans Bold"/>
                <a:ea typeface="Open Sans Bold"/>
                <a:cs typeface="Open Sans Bold"/>
                <a:sym typeface="Open Sans Bold"/>
              </a:rPr>
              <a:t>Ajustes implementados</a:t>
            </a:r>
          </a:p>
        </p:txBody>
      </p:sp>
      <p:sp>
        <p:nvSpPr>
          <p:cNvPr name="TextBox 122" id="122"/>
          <p:cNvSpPr txBox="true"/>
          <p:nvPr/>
        </p:nvSpPr>
        <p:spPr>
          <a:xfrm rot="0">
            <a:off x="12651338" y="2779980"/>
            <a:ext cx="4262899" cy="429581"/>
          </a:xfrm>
          <a:prstGeom prst="rect">
            <a:avLst/>
          </a:prstGeom>
        </p:spPr>
        <p:txBody>
          <a:bodyPr anchor="t" rtlCol="false" tIns="0" lIns="0" bIns="0" rIns="0">
            <a:spAutoFit/>
          </a:bodyPr>
          <a:lstStyle/>
          <a:p>
            <a:pPr algn="ctr">
              <a:lnSpc>
                <a:spcPts val="3563"/>
              </a:lnSpc>
              <a:spcBef>
                <a:spcPct val="0"/>
              </a:spcBef>
            </a:pPr>
            <a:r>
              <a:rPr lang="en-US" b="true" sz="2545">
                <a:solidFill>
                  <a:srgbClr val="3A501C"/>
                </a:solidFill>
                <a:latin typeface="Open Sans Bold"/>
                <a:ea typeface="Open Sans Bold"/>
                <a:cs typeface="Open Sans Bold"/>
                <a:sym typeface="Open Sans Bold"/>
              </a:rPr>
              <a:t>Facilitadores y Resultados</a:t>
            </a:r>
          </a:p>
        </p:txBody>
      </p:sp>
      <p:sp>
        <p:nvSpPr>
          <p:cNvPr name="TextBox 123" id="123"/>
          <p:cNvSpPr txBox="true"/>
          <p:nvPr/>
        </p:nvSpPr>
        <p:spPr>
          <a:xfrm rot="0">
            <a:off x="1482573" y="3876620"/>
            <a:ext cx="3628931" cy="248707"/>
          </a:xfrm>
          <a:prstGeom prst="rect">
            <a:avLst/>
          </a:prstGeom>
        </p:spPr>
        <p:txBody>
          <a:bodyPr anchor="t" rtlCol="false" tIns="0" lIns="0" bIns="0" rIns="0">
            <a:spAutoFit/>
          </a:bodyPr>
          <a:lstStyle/>
          <a:p>
            <a:pPr algn="ctr">
              <a:lnSpc>
                <a:spcPts val="2053"/>
              </a:lnSpc>
              <a:spcBef>
                <a:spcPct val="0"/>
              </a:spcBef>
            </a:pPr>
            <a:r>
              <a:rPr lang="en-US" sz="1466">
                <a:solidFill>
                  <a:srgbClr val="000000"/>
                </a:solidFill>
                <a:latin typeface="Open Sans"/>
                <a:ea typeface="Open Sans"/>
                <a:cs typeface="Open Sans"/>
                <a:sym typeface="Open Sans"/>
              </a:rPr>
              <a:t>Retraso en la entrega de la base de datos</a:t>
            </a:r>
          </a:p>
        </p:txBody>
      </p:sp>
      <p:sp>
        <p:nvSpPr>
          <p:cNvPr name="TextBox 124" id="124"/>
          <p:cNvSpPr txBox="true"/>
          <p:nvPr/>
        </p:nvSpPr>
        <p:spPr>
          <a:xfrm rot="0">
            <a:off x="1528091" y="4171260"/>
            <a:ext cx="3421199" cy="179943"/>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Dependencia crítica para avanzar con el desarrollo</a:t>
            </a:r>
          </a:p>
        </p:txBody>
      </p:sp>
      <p:sp>
        <p:nvSpPr>
          <p:cNvPr name="TextBox 125" id="125"/>
          <p:cNvSpPr txBox="true"/>
          <p:nvPr/>
        </p:nvSpPr>
        <p:spPr>
          <a:xfrm rot="0">
            <a:off x="1527012" y="5169979"/>
            <a:ext cx="3628931" cy="248516"/>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Falta de claridad en las métricas</a:t>
            </a:r>
          </a:p>
        </p:txBody>
      </p:sp>
      <p:sp>
        <p:nvSpPr>
          <p:cNvPr name="TextBox 126" id="126"/>
          <p:cNvSpPr txBox="true"/>
          <p:nvPr/>
        </p:nvSpPr>
        <p:spPr>
          <a:xfrm rot="0">
            <a:off x="1527012" y="5466120"/>
            <a:ext cx="3421199" cy="182290"/>
          </a:xfrm>
          <a:prstGeom prst="rect">
            <a:avLst/>
          </a:prstGeom>
        </p:spPr>
        <p:txBody>
          <a:bodyPr anchor="t" rtlCol="false" tIns="0" lIns="0" bIns="0" rIns="0">
            <a:spAutoFit/>
          </a:bodyPr>
          <a:lstStyle/>
          <a:p>
            <a:pPr algn="just">
              <a:lnSpc>
                <a:spcPts val="1502"/>
              </a:lnSpc>
              <a:spcBef>
                <a:spcPct val="0"/>
              </a:spcBef>
            </a:pPr>
            <a:r>
              <a:rPr lang="en-US" sz="1073" spc="-44">
                <a:solidFill>
                  <a:srgbClr val="000000">
                    <a:alpha val="50980"/>
                  </a:srgbClr>
                </a:solidFill>
                <a:latin typeface="Open Sans"/>
                <a:ea typeface="Open Sans"/>
                <a:cs typeface="Open Sans"/>
                <a:sym typeface="Open Sans"/>
              </a:rPr>
              <a:t>No se especificaba en que métricas estábamos trabajando</a:t>
            </a:r>
          </a:p>
        </p:txBody>
      </p:sp>
      <p:sp>
        <p:nvSpPr>
          <p:cNvPr name="TextBox 127" id="127"/>
          <p:cNvSpPr txBox="true"/>
          <p:nvPr/>
        </p:nvSpPr>
        <p:spPr>
          <a:xfrm rot="0">
            <a:off x="1522740" y="6699321"/>
            <a:ext cx="3421199" cy="368135"/>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Ausencia temporal de Willy el cual Felipe siguió con la base de datos hasta que Willy se sintiera mejor</a:t>
            </a:r>
          </a:p>
        </p:txBody>
      </p:sp>
      <p:sp>
        <p:nvSpPr>
          <p:cNvPr name="TextBox 128" id="128"/>
          <p:cNvSpPr txBox="true"/>
          <p:nvPr/>
        </p:nvSpPr>
        <p:spPr>
          <a:xfrm rot="0">
            <a:off x="1522740" y="7702047"/>
            <a:ext cx="3628931" cy="248516"/>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Error de control de versiones</a:t>
            </a:r>
          </a:p>
        </p:txBody>
      </p:sp>
      <p:sp>
        <p:nvSpPr>
          <p:cNvPr name="TextBox 129" id="129"/>
          <p:cNvSpPr txBox="true"/>
          <p:nvPr/>
        </p:nvSpPr>
        <p:spPr>
          <a:xfrm rot="0">
            <a:off x="1536649" y="7998188"/>
            <a:ext cx="3421199" cy="179962"/>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Archivo .env con credenciales expuestas</a:t>
            </a:r>
          </a:p>
        </p:txBody>
      </p:sp>
      <p:sp>
        <p:nvSpPr>
          <p:cNvPr name="TextBox 130" id="130"/>
          <p:cNvSpPr txBox="true"/>
          <p:nvPr/>
        </p:nvSpPr>
        <p:spPr>
          <a:xfrm rot="0">
            <a:off x="7329534" y="3876620"/>
            <a:ext cx="3628931" cy="248489"/>
          </a:xfrm>
          <a:prstGeom prst="rect">
            <a:avLst/>
          </a:prstGeom>
        </p:spPr>
        <p:txBody>
          <a:bodyPr anchor="t" rtlCol="false" tIns="0" lIns="0" bIns="0" rIns="0">
            <a:spAutoFit/>
          </a:bodyPr>
          <a:lstStyle/>
          <a:p>
            <a:pPr algn="just">
              <a:lnSpc>
                <a:spcPts val="2053"/>
              </a:lnSpc>
              <a:spcBef>
                <a:spcPct val="0"/>
              </a:spcBef>
            </a:pPr>
            <a:r>
              <a:rPr lang="en-US" sz="1466">
                <a:solidFill>
                  <a:srgbClr val="000000"/>
                </a:solidFill>
                <a:latin typeface="Open Sans"/>
                <a:ea typeface="Open Sans"/>
                <a:cs typeface="Open Sans"/>
                <a:sym typeface="Open Sans"/>
              </a:rPr>
              <a:t>Reasignacion de las tareas</a:t>
            </a:r>
          </a:p>
        </p:txBody>
      </p:sp>
      <p:sp>
        <p:nvSpPr>
          <p:cNvPr name="TextBox 131" id="131"/>
          <p:cNvSpPr txBox="true"/>
          <p:nvPr/>
        </p:nvSpPr>
        <p:spPr>
          <a:xfrm rot="0">
            <a:off x="7375052" y="4171260"/>
            <a:ext cx="3421199" cy="368096"/>
          </a:xfrm>
          <a:prstGeom prst="rect">
            <a:avLst/>
          </a:prstGeom>
        </p:spPr>
        <p:txBody>
          <a:bodyPr anchor="t" rtlCol="false" tIns="0" lIns="0" bIns="0" rIns="0">
            <a:spAutoFit/>
          </a:bodyPr>
          <a:lstStyle/>
          <a:p>
            <a:pPr algn="l">
              <a:lnSpc>
                <a:spcPts val="1502"/>
              </a:lnSpc>
            </a:pPr>
            <a:r>
              <a:rPr lang="en-US" sz="1073">
                <a:solidFill>
                  <a:srgbClr val="000000">
                    <a:alpha val="50980"/>
                  </a:srgbClr>
                </a:solidFill>
                <a:latin typeface="Open Sans"/>
                <a:ea typeface="Open Sans"/>
                <a:cs typeface="Open Sans"/>
                <a:sym typeface="Open Sans"/>
              </a:rPr>
              <a:t>Felipe → Migraciones a postgreSQL</a:t>
            </a:r>
          </a:p>
          <a:p>
            <a:pPr algn="l">
              <a:lnSpc>
                <a:spcPts val="1502"/>
              </a:lnSpc>
              <a:spcBef>
                <a:spcPct val="0"/>
              </a:spcBef>
            </a:pPr>
            <a:r>
              <a:rPr lang="en-US" sz="1073">
                <a:solidFill>
                  <a:srgbClr val="000000">
                    <a:alpha val="50980"/>
                  </a:srgbClr>
                </a:solidFill>
                <a:latin typeface="Open Sans"/>
                <a:ea typeface="Open Sans"/>
                <a:cs typeface="Open Sans"/>
                <a:sym typeface="Open Sans"/>
              </a:rPr>
              <a:t>Más commits de los integrantes</a:t>
            </a:r>
          </a:p>
        </p:txBody>
      </p:sp>
      <p:sp>
        <p:nvSpPr>
          <p:cNvPr name="TextBox 132" id="132"/>
          <p:cNvSpPr txBox="true"/>
          <p:nvPr/>
        </p:nvSpPr>
        <p:spPr>
          <a:xfrm rot="0">
            <a:off x="7310540" y="5169979"/>
            <a:ext cx="3628931" cy="248489"/>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Ramas Por Modulo de Github</a:t>
            </a:r>
          </a:p>
        </p:txBody>
      </p:sp>
      <p:sp>
        <p:nvSpPr>
          <p:cNvPr name="TextBox 133" id="133"/>
          <p:cNvSpPr txBox="true"/>
          <p:nvPr/>
        </p:nvSpPr>
        <p:spPr>
          <a:xfrm rot="0">
            <a:off x="7310540" y="5466120"/>
            <a:ext cx="3421199" cy="182290"/>
          </a:xfrm>
          <a:prstGeom prst="rect">
            <a:avLst/>
          </a:prstGeom>
        </p:spPr>
        <p:txBody>
          <a:bodyPr anchor="t" rtlCol="false" tIns="0" lIns="0" bIns="0" rIns="0">
            <a:spAutoFit/>
          </a:bodyPr>
          <a:lstStyle/>
          <a:p>
            <a:pPr algn="just">
              <a:lnSpc>
                <a:spcPts val="1502"/>
              </a:lnSpc>
              <a:spcBef>
                <a:spcPct val="0"/>
              </a:spcBef>
            </a:pPr>
            <a:r>
              <a:rPr lang="en-US" sz="1073" spc="-44">
                <a:solidFill>
                  <a:srgbClr val="000000">
                    <a:alpha val="50980"/>
                  </a:srgbClr>
                </a:solidFill>
                <a:latin typeface="Open Sans"/>
                <a:ea typeface="Open Sans"/>
                <a:cs typeface="Open Sans"/>
                <a:sym typeface="Open Sans"/>
              </a:rPr>
              <a:t>Mejora organización del codigo por funcionalidades</a:t>
            </a:r>
          </a:p>
        </p:txBody>
      </p:sp>
      <p:sp>
        <p:nvSpPr>
          <p:cNvPr name="TextBox 134" id="134"/>
          <p:cNvSpPr txBox="true"/>
          <p:nvPr/>
        </p:nvSpPr>
        <p:spPr>
          <a:xfrm rot="0">
            <a:off x="7306268" y="6699321"/>
            <a:ext cx="3421199" cy="368135"/>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Seguimiento periódico de avances y pendientes, trazabilidando el camino del desarrollo del proyecto</a:t>
            </a:r>
          </a:p>
        </p:txBody>
      </p:sp>
      <p:sp>
        <p:nvSpPr>
          <p:cNvPr name="TextBox 135" id="135"/>
          <p:cNvSpPr txBox="true"/>
          <p:nvPr/>
        </p:nvSpPr>
        <p:spPr>
          <a:xfrm rot="0">
            <a:off x="7306268" y="7702047"/>
            <a:ext cx="3628931" cy="248489"/>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Correcion de seguridad</a:t>
            </a:r>
          </a:p>
        </p:txBody>
      </p:sp>
      <p:sp>
        <p:nvSpPr>
          <p:cNvPr name="TextBox 136" id="136"/>
          <p:cNvSpPr txBox="true"/>
          <p:nvPr/>
        </p:nvSpPr>
        <p:spPr>
          <a:xfrm rot="0">
            <a:off x="7320178" y="7998188"/>
            <a:ext cx="3421199" cy="368135"/>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Implementación de .gitignore correctamente para no subir archivos críticos al Github</a:t>
            </a:r>
          </a:p>
        </p:txBody>
      </p:sp>
      <p:sp>
        <p:nvSpPr>
          <p:cNvPr name="TextBox 137" id="137"/>
          <p:cNvSpPr txBox="true"/>
          <p:nvPr/>
        </p:nvSpPr>
        <p:spPr>
          <a:xfrm rot="0">
            <a:off x="12999702" y="3856751"/>
            <a:ext cx="3628931" cy="248489"/>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Retroalimentación docente</a:t>
            </a:r>
          </a:p>
        </p:txBody>
      </p:sp>
      <p:sp>
        <p:nvSpPr>
          <p:cNvPr name="TextBox 138" id="138"/>
          <p:cNvSpPr txBox="true"/>
          <p:nvPr/>
        </p:nvSpPr>
        <p:spPr>
          <a:xfrm rot="0">
            <a:off x="12991144" y="4171260"/>
            <a:ext cx="3421199" cy="179962"/>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Guía oportuna para ajustes y correciones</a:t>
            </a:r>
          </a:p>
        </p:txBody>
      </p:sp>
      <p:sp>
        <p:nvSpPr>
          <p:cNvPr name="TextBox 139" id="139"/>
          <p:cNvSpPr txBox="true"/>
          <p:nvPr/>
        </p:nvSpPr>
        <p:spPr>
          <a:xfrm rot="0">
            <a:off x="12990064" y="5169979"/>
            <a:ext cx="3628931" cy="248489"/>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Comunicación fluida</a:t>
            </a:r>
          </a:p>
        </p:txBody>
      </p:sp>
      <p:sp>
        <p:nvSpPr>
          <p:cNvPr name="TextBox 140" id="140"/>
          <p:cNvSpPr txBox="true"/>
          <p:nvPr/>
        </p:nvSpPr>
        <p:spPr>
          <a:xfrm rot="0">
            <a:off x="12990064" y="5466120"/>
            <a:ext cx="3421199" cy="182290"/>
          </a:xfrm>
          <a:prstGeom prst="rect">
            <a:avLst/>
          </a:prstGeom>
        </p:spPr>
        <p:txBody>
          <a:bodyPr anchor="t" rtlCol="false" tIns="0" lIns="0" bIns="0" rIns="0">
            <a:spAutoFit/>
          </a:bodyPr>
          <a:lstStyle/>
          <a:p>
            <a:pPr algn="just">
              <a:lnSpc>
                <a:spcPts val="1502"/>
              </a:lnSpc>
              <a:spcBef>
                <a:spcPct val="0"/>
              </a:spcBef>
            </a:pPr>
            <a:r>
              <a:rPr lang="en-US" sz="1073" spc="-44">
                <a:solidFill>
                  <a:srgbClr val="000000">
                    <a:alpha val="50980"/>
                  </a:srgbClr>
                </a:solidFill>
                <a:latin typeface="Open Sans"/>
                <a:ea typeface="Open Sans"/>
                <a:cs typeface="Open Sans"/>
                <a:sym typeface="Open Sans"/>
              </a:rPr>
              <a:t>Canales efectivos entre miembros del equipo</a:t>
            </a:r>
          </a:p>
        </p:txBody>
      </p:sp>
      <p:sp>
        <p:nvSpPr>
          <p:cNvPr name="TextBox 141" id="141"/>
          <p:cNvSpPr txBox="true"/>
          <p:nvPr/>
        </p:nvSpPr>
        <p:spPr>
          <a:xfrm rot="0">
            <a:off x="12985792" y="6699321"/>
            <a:ext cx="3421199" cy="179962"/>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Entregables realizados con alto nivel de usabilidad</a:t>
            </a:r>
          </a:p>
        </p:txBody>
      </p:sp>
      <p:sp>
        <p:nvSpPr>
          <p:cNvPr name="TextBox 142" id="142"/>
          <p:cNvSpPr txBox="true"/>
          <p:nvPr/>
        </p:nvSpPr>
        <p:spPr>
          <a:xfrm rot="0">
            <a:off x="12985792" y="7702047"/>
            <a:ext cx="3628931" cy="248516"/>
          </a:xfrm>
          <a:prstGeom prst="rect">
            <a:avLst/>
          </a:prstGeom>
        </p:spPr>
        <p:txBody>
          <a:bodyPr anchor="t" rtlCol="false" tIns="0" lIns="0" bIns="0" rIns="0">
            <a:spAutoFit/>
          </a:bodyPr>
          <a:lstStyle/>
          <a:p>
            <a:pPr algn="l">
              <a:lnSpc>
                <a:spcPts val="2053"/>
              </a:lnSpc>
              <a:spcBef>
                <a:spcPct val="0"/>
              </a:spcBef>
            </a:pPr>
            <a:r>
              <a:rPr lang="en-US" sz="1466">
                <a:solidFill>
                  <a:srgbClr val="000000"/>
                </a:solidFill>
                <a:latin typeface="Open Sans"/>
                <a:ea typeface="Open Sans"/>
                <a:cs typeface="Open Sans"/>
                <a:sym typeface="Open Sans"/>
              </a:rPr>
              <a:t>Repositorio/Trello ordenado y trazable</a:t>
            </a:r>
          </a:p>
        </p:txBody>
      </p:sp>
      <p:sp>
        <p:nvSpPr>
          <p:cNvPr name="TextBox 143" id="143"/>
          <p:cNvSpPr txBox="true"/>
          <p:nvPr/>
        </p:nvSpPr>
        <p:spPr>
          <a:xfrm rot="0">
            <a:off x="12999702" y="7998188"/>
            <a:ext cx="3421199" cy="179962"/>
          </a:xfrm>
          <a:prstGeom prst="rect">
            <a:avLst/>
          </a:prstGeom>
        </p:spPr>
        <p:txBody>
          <a:bodyPr anchor="t" rtlCol="false" tIns="0" lIns="0" bIns="0" rIns="0">
            <a:spAutoFit/>
          </a:bodyPr>
          <a:lstStyle/>
          <a:p>
            <a:pPr algn="l">
              <a:lnSpc>
                <a:spcPts val="1502"/>
              </a:lnSpc>
              <a:spcBef>
                <a:spcPct val="0"/>
              </a:spcBef>
            </a:pPr>
            <a:r>
              <a:rPr lang="en-US" sz="1073">
                <a:solidFill>
                  <a:srgbClr val="000000">
                    <a:alpha val="50980"/>
                  </a:srgbClr>
                </a:solidFill>
                <a:latin typeface="Open Sans"/>
                <a:ea typeface="Open Sans"/>
                <a:cs typeface="Open Sans"/>
                <a:sym typeface="Open Sans"/>
              </a:rPr>
              <a:t>Documentación completa del desarrollo</a:t>
            </a:r>
          </a:p>
        </p:txBody>
      </p:sp>
      <p:sp>
        <p:nvSpPr>
          <p:cNvPr name="TextBox 144" id="144"/>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6896657" y="550792"/>
            <a:ext cx="4327786" cy="721376"/>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Metodología Ágil</a:t>
            </a:r>
          </a:p>
        </p:txBody>
      </p:sp>
      <p:sp>
        <p:nvSpPr>
          <p:cNvPr name="AutoShape 9" id="9"/>
          <p:cNvSpPr/>
          <p:nvPr/>
        </p:nvSpPr>
        <p:spPr>
          <a:xfrm>
            <a:off x="481369" y="2869026"/>
            <a:ext cx="7124794" cy="0"/>
          </a:xfrm>
          <a:prstGeom prst="line">
            <a:avLst/>
          </a:prstGeom>
          <a:ln cap="flat" w="38100">
            <a:solidFill>
              <a:srgbClr val="FFBD59"/>
            </a:solidFill>
            <a:prstDash val="solid"/>
            <a:headEnd type="none" len="sm" w="sm"/>
            <a:tailEnd type="none" len="sm" w="sm"/>
          </a:ln>
        </p:spPr>
      </p:sp>
      <p:sp>
        <p:nvSpPr>
          <p:cNvPr name="TextBox 10" id="10"/>
          <p:cNvSpPr txBox="true"/>
          <p:nvPr/>
        </p:nvSpPr>
        <p:spPr>
          <a:xfrm rot="0">
            <a:off x="515496" y="2226796"/>
            <a:ext cx="5892842" cy="481298"/>
          </a:xfrm>
          <a:prstGeom prst="rect">
            <a:avLst/>
          </a:prstGeom>
        </p:spPr>
        <p:txBody>
          <a:bodyPr anchor="t" rtlCol="false" tIns="0" lIns="0" bIns="0" rIns="0">
            <a:spAutoFit/>
          </a:bodyPr>
          <a:lstStyle/>
          <a:p>
            <a:pPr algn="l">
              <a:lnSpc>
                <a:spcPts val="3919"/>
              </a:lnSpc>
              <a:spcBef>
                <a:spcPct val="0"/>
              </a:spcBef>
            </a:pPr>
            <a:r>
              <a:rPr lang="en-US" sz="2799" b="true">
                <a:solidFill>
                  <a:srgbClr val="000000"/>
                </a:solidFill>
                <a:latin typeface="Open Sans Bold"/>
                <a:ea typeface="Open Sans Bold"/>
                <a:cs typeface="Open Sans Bold"/>
                <a:sym typeface="Open Sans Bold"/>
              </a:rPr>
              <a:t>Enfoque</a:t>
            </a:r>
          </a:p>
        </p:txBody>
      </p:sp>
      <p:grpSp>
        <p:nvGrpSpPr>
          <p:cNvPr name="Group 11" id="11"/>
          <p:cNvGrpSpPr/>
          <p:nvPr/>
        </p:nvGrpSpPr>
        <p:grpSpPr>
          <a:xfrm rot="0">
            <a:off x="750601" y="3383376"/>
            <a:ext cx="6855562" cy="1257225"/>
            <a:chOff x="0" y="0"/>
            <a:chExt cx="2061681" cy="378087"/>
          </a:xfrm>
        </p:grpSpPr>
        <p:sp>
          <p:nvSpPr>
            <p:cNvPr name="Freeform 12" id="12"/>
            <p:cNvSpPr/>
            <p:nvPr/>
          </p:nvSpPr>
          <p:spPr>
            <a:xfrm flipH="false" flipV="false" rot="0">
              <a:off x="0" y="0"/>
              <a:ext cx="2061681" cy="378087"/>
            </a:xfrm>
            <a:custGeom>
              <a:avLst/>
              <a:gdLst/>
              <a:ahLst/>
              <a:cxnLst/>
              <a:rect r="r" b="b" t="t" l="l"/>
              <a:pathLst>
                <a:path h="378087" w="2061681">
                  <a:moveTo>
                    <a:pt x="0" y="0"/>
                  </a:moveTo>
                  <a:lnTo>
                    <a:pt x="2061681" y="0"/>
                  </a:lnTo>
                  <a:lnTo>
                    <a:pt x="2061681" y="378087"/>
                  </a:lnTo>
                  <a:lnTo>
                    <a:pt x="0" y="378087"/>
                  </a:lnTo>
                  <a:close/>
                </a:path>
              </a:pathLst>
            </a:custGeom>
            <a:solidFill>
              <a:srgbClr val="000000">
                <a:alpha val="11765"/>
              </a:srgbClr>
            </a:solidFill>
          </p:spPr>
        </p:sp>
        <p:sp>
          <p:nvSpPr>
            <p:cNvPr name="TextBox 13" id="13"/>
            <p:cNvSpPr txBox="true"/>
            <p:nvPr/>
          </p:nvSpPr>
          <p:spPr>
            <a:xfrm>
              <a:off x="0" y="-38100"/>
              <a:ext cx="2061681" cy="416187"/>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a:off x="539309" y="3383376"/>
            <a:ext cx="0" cy="1257225"/>
          </a:xfrm>
          <a:prstGeom prst="line">
            <a:avLst/>
          </a:prstGeom>
          <a:ln cap="flat" w="47625">
            <a:solidFill>
              <a:srgbClr val="0A2456"/>
            </a:solidFill>
            <a:prstDash val="solid"/>
            <a:headEnd type="none" len="sm" w="sm"/>
            <a:tailEnd type="none" len="sm" w="sm"/>
          </a:ln>
        </p:spPr>
      </p:sp>
      <p:sp>
        <p:nvSpPr>
          <p:cNvPr name="TextBox 15" id="15"/>
          <p:cNvSpPr txBox="true"/>
          <p:nvPr/>
        </p:nvSpPr>
        <p:spPr>
          <a:xfrm rot="0">
            <a:off x="884932" y="3439308"/>
            <a:ext cx="3133508" cy="389563"/>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Adaptación al cambio</a:t>
            </a:r>
          </a:p>
        </p:txBody>
      </p:sp>
      <p:sp>
        <p:nvSpPr>
          <p:cNvPr name="TextBox 16" id="16"/>
          <p:cNvSpPr txBox="true"/>
          <p:nvPr/>
        </p:nvSpPr>
        <p:spPr>
          <a:xfrm rot="0">
            <a:off x="833790" y="3863832"/>
            <a:ext cx="6855562" cy="56751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Utilizamos la metodología ágil para adaptarnos rápidamente a los cambios y requisitos emergentes durante el desarrollo del proyecto.</a:t>
            </a:r>
          </a:p>
        </p:txBody>
      </p:sp>
      <p:sp>
        <p:nvSpPr>
          <p:cNvPr name="AutoShape 17" id="17"/>
          <p:cNvSpPr/>
          <p:nvPr/>
        </p:nvSpPr>
        <p:spPr>
          <a:xfrm>
            <a:off x="8956989" y="2869026"/>
            <a:ext cx="8519655" cy="0"/>
          </a:xfrm>
          <a:prstGeom prst="line">
            <a:avLst/>
          </a:prstGeom>
          <a:ln cap="flat" w="38100">
            <a:solidFill>
              <a:srgbClr val="FFBD59"/>
            </a:solidFill>
            <a:prstDash val="solid"/>
            <a:headEnd type="none" len="sm" w="sm"/>
            <a:tailEnd type="none" len="sm" w="sm"/>
          </a:ln>
        </p:spPr>
      </p:sp>
      <p:sp>
        <p:nvSpPr>
          <p:cNvPr name="TextBox 18" id="18"/>
          <p:cNvSpPr txBox="true"/>
          <p:nvPr/>
        </p:nvSpPr>
        <p:spPr>
          <a:xfrm rot="0">
            <a:off x="8991117" y="2226796"/>
            <a:ext cx="6698762" cy="481298"/>
          </a:xfrm>
          <a:prstGeom prst="rect">
            <a:avLst/>
          </a:prstGeom>
        </p:spPr>
        <p:txBody>
          <a:bodyPr anchor="t" rtlCol="false" tIns="0" lIns="0" bIns="0" rIns="0">
            <a:spAutoFit/>
          </a:bodyPr>
          <a:lstStyle/>
          <a:p>
            <a:pPr algn="l">
              <a:lnSpc>
                <a:spcPts val="3919"/>
              </a:lnSpc>
              <a:spcBef>
                <a:spcPct val="0"/>
              </a:spcBef>
            </a:pPr>
            <a:r>
              <a:rPr lang="en-US" sz="2799" b="true">
                <a:solidFill>
                  <a:srgbClr val="000000"/>
                </a:solidFill>
                <a:latin typeface="Open Sans Bold"/>
                <a:ea typeface="Open Sans Bold"/>
                <a:cs typeface="Open Sans Bold"/>
                <a:sym typeface="Open Sans Bold"/>
              </a:rPr>
              <a:t>Pilares de nuestra implementación</a:t>
            </a:r>
          </a:p>
        </p:txBody>
      </p:sp>
      <p:grpSp>
        <p:nvGrpSpPr>
          <p:cNvPr name="Group 19" id="19"/>
          <p:cNvGrpSpPr/>
          <p:nvPr/>
        </p:nvGrpSpPr>
        <p:grpSpPr>
          <a:xfrm rot="0">
            <a:off x="9226221" y="3383376"/>
            <a:ext cx="8250423" cy="3740516"/>
            <a:chOff x="0" y="0"/>
            <a:chExt cx="2481159" cy="1124890"/>
          </a:xfrm>
        </p:grpSpPr>
        <p:sp>
          <p:nvSpPr>
            <p:cNvPr name="Freeform 20" id="20"/>
            <p:cNvSpPr/>
            <p:nvPr/>
          </p:nvSpPr>
          <p:spPr>
            <a:xfrm flipH="false" flipV="false" rot="0">
              <a:off x="0" y="0"/>
              <a:ext cx="2481159" cy="1124890"/>
            </a:xfrm>
            <a:custGeom>
              <a:avLst/>
              <a:gdLst/>
              <a:ahLst/>
              <a:cxnLst/>
              <a:rect r="r" b="b" t="t" l="l"/>
              <a:pathLst>
                <a:path h="1124890" w="2481159">
                  <a:moveTo>
                    <a:pt x="0" y="0"/>
                  </a:moveTo>
                  <a:lnTo>
                    <a:pt x="2481159" y="0"/>
                  </a:lnTo>
                  <a:lnTo>
                    <a:pt x="2481159" y="1124890"/>
                  </a:lnTo>
                  <a:lnTo>
                    <a:pt x="0" y="1124890"/>
                  </a:lnTo>
                  <a:close/>
                </a:path>
              </a:pathLst>
            </a:custGeom>
            <a:solidFill>
              <a:srgbClr val="000000">
                <a:alpha val="11765"/>
              </a:srgbClr>
            </a:solidFill>
          </p:spPr>
        </p:sp>
        <p:sp>
          <p:nvSpPr>
            <p:cNvPr name="TextBox 21" id="21"/>
            <p:cNvSpPr txBox="true"/>
            <p:nvPr/>
          </p:nvSpPr>
          <p:spPr>
            <a:xfrm>
              <a:off x="0" y="-38100"/>
              <a:ext cx="2481159" cy="1162990"/>
            </a:xfrm>
            <a:prstGeom prst="rect">
              <a:avLst/>
            </a:prstGeom>
          </p:spPr>
          <p:txBody>
            <a:bodyPr anchor="ctr" rtlCol="false" tIns="50800" lIns="50800" bIns="50800" rIns="50800"/>
            <a:lstStyle/>
            <a:p>
              <a:pPr algn="ctr">
                <a:lnSpc>
                  <a:spcPts val="2659"/>
                </a:lnSpc>
              </a:pPr>
            </a:p>
          </p:txBody>
        </p:sp>
      </p:grpSp>
      <p:sp>
        <p:nvSpPr>
          <p:cNvPr name="AutoShape 22" id="22"/>
          <p:cNvSpPr/>
          <p:nvPr/>
        </p:nvSpPr>
        <p:spPr>
          <a:xfrm>
            <a:off x="9014930" y="3383376"/>
            <a:ext cx="0" cy="3740516"/>
          </a:xfrm>
          <a:prstGeom prst="line">
            <a:avLst/>
          </a:prstGeom>
          <a:ln cap="flat" w="47625">
            <a:solidFill>
              <a:srgbClr val="0A2456"/>
            </a:solidFill>
            <a:prstDash val="solid"/>
            <a:headEnd type="none" len="sm" w="sm"/>
            <a:tailEnd type="none" len="sm" w="sm"/>
          </a:ln>
        </p:spPr>
      </p:sp>
      <p:sp>
        <p:nvSpPr>
          <p:cNvPr name="TextBox 23" id="23"/>
          <p:cNvSpPr txBox="true"/>
          <p:nvPr/>
        </p:nvSpPr>
        <p:spPr>
          <a:xfrm rot="0">
            <a:off x="9346256" y="3439308"/>
            <a:ext cx="3162102" cy="389503"/>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Priorización de tareas</a:t>
            </a:r>
          </a:p>
        </p:txBody>
      </p:sp>
      <p:sp>
        <p:nvSpPr>
          <p:cNvPr name="TextBox 24" id="24"/>
          <p:cNvSpPr txBox="true"/>
          <p:nvPr/>
        </p:nvSpPr>
        <p:spPr>
          <a:xfrm rot="0">
            <a:off x="9309411" y="3863832"/>
            <a:ext cx="8068128" cy="56751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Las tareas se priorizaron según su importancia y valor para el cliente, asegurando que los elementos críticos se completaran primero.</a:t>
            </a:r>
          </a:p>
        </p:txBody>
      </p:sp>
      <p:sp>
        <p:nvSpPr>
          <p:cNvPr name="TextBox 25" id="25"/>
          <p:cNvSpPr txBox="true"/>
          <p:nvPr/>
        </p:nvSpPr>
        <p:spPr>
          <a:xfrm rot="0">
            <a:off x="9360553" y="4630032"/>
            <a:ext cx="3621815" cy="389503"/>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Comunicación Constante</a:t>
            </a:r>
          </a:p>
        </p:txBody>
      </p:sp>
      <p:sp>
        <p:nvSpPr>
          <p:cNvPr name="TextBox 26" id="26"/>
          <p:cNvSpPr txBox="true"/>
          <p:nvPr/>
        </p:nvSpPr>
        <p:spPr>
          <a:xfrm rot="0">
            <a:off x="9309411" y="5045960"/>
            <a:ext cx="8167234" cy="8532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Implementamos un servidor de discord orientado al proyecto, siendo efectivo para todos los miembros del equipo, también utilizamos GoogleMeet para las reuniones con el cliente.</a:t>
            </a:r>
          </a:p>
        </p:txBody>
      </p:sp>
      <p:sp>
        <p:nvSpPr>
          <p:cNvPr name="TextBox 27" id="27"/>
          <p:cNvSpPr txBox="true"/>
          <p:nvPr/>
        </p:nvSpPr>
        <p:spPr>
          <a:xfrm rot="0">
            <a:off x="9360553" y="5994478"/>
            <a:ext cx="3430819" cy="389503"/>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Entregas incrementales</a:t>
            </a:r>
          </a:p>
        </p:txBody>
      </p:sp>
      <p:sp>
        <p:nvSpPr>
          <p:cNvPr name="TextBox 28" id="28"/>
          <p:cNvSpPr txBox="true"/>
          <p:nvPr/>
        </p:nvSpPr>
        <p:spPr>
          <a:xfrm rot="0">
            <a:off x="9370338" y="6422081"/>
            <a:ext cx="8068128" cy="56751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Desarrollamos funcionalidades con enfoque incremental, incorporando retroalimentación continua para mejorar el producto en cada iteración.</a:t>
            </a:r>
          </a:p>
        </p:txBody>
      </p:sp>
      <p:grpSp>
        <p:nvGrpSpPr>
          <p:cNvPr name="Group 29" id="29"/>
          <p:cNvGrpSpPr/>
          <p:nvPr/>
        </p:nvGrpSpPr>
        <p:grpSpPr>
          <a:xfrm rot="0">
            <a:off x="9226221" y="7409642"/>
            <a:ext cx="8250423" cy="1528396"/>
            <a:chOff x="0" y="0"/>
            <a:chExt cx="2481159" cy="459636"/>
          </a:xfrm>
        </p:grpSpPr>
        <p:sp>
          <p:nvSpPr>
            <p:cNvPr name="Freeform 30" id="30"/>
            <p:cNvSpPr/>
            <p:nvPr/>
          </p:nvSpPr>
          <p:spPr>
            <a:xfrm flipH="false" flipV="false" rot="0">
              <a:off x="0" y="0"/>
              <a:ext cx="2481159" cy="459636"/>
            </a:xfrm>
            <a:custGeom>
              <a:avLst/>
              <a:gdLst/>
              <a:ahLst/>
              <a:cxnLst/>
              <a:rect r="r" b="b" t="t" l="l"/>
              <a:pathLst>
                <a:path h="459636" w="2481159">
                  <a:moveTo>
                    <a:pt x="0" y="0"/>
                  </a:moveTo>
                  <a:lnTo>
                    <a:pt x="2481159" y="0"/>
                  </a:lnTo>
                  <a:lnTo>
                    <a:pt x="2481159" y="459636"/>
                  </a:lnTo>
                  <a:lnTo>
                    <a:pt x="0" y="459636"/>
                  </a:lnTo>
                  <a:close/>
                </a:path>
              </a:pathLst>
            </a:custGeom>
            <a:solidFill>
              <a:srgbClr val="000000">
                <a:alpha val="11765"/>
              </a:srgbClr>
            </a:solidFill>
          </p:spPr>
        </p:sp>
        <p:sp>
          <p:nvSpPr>
            <p:cNvPr name="TextBox 31" id="31"/>
            <p:cNvSpPr txBox="true"/>
            <p:nvPr/>
          </p:nvSpPr>
          <p:spPr>
            <a:xfrm>
              <a:off x="0" y="-38100"/>
              <a:ext cx="2481159" cy="497736"/>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9370338" y="7533606"/>
            <a:ext cx="180217" cy="180217"/>
          </a:xfrm>
          <a:custGeom>
            <a:avLst/>
            <a:gdLst/>
            <a:ahLst/>
            <a:cxnLst/>
            <a:rect r="r" b="b" t="t" l="l"/>
            <a:pathLst>
              <a:path h="180217" w="180217">
                <a:moveTo>
                  <a:pt x="0" y="0"/>
                </a:moveTo>
                <a:lnTo>
                  <a:pt x="180217" y="0"/>
                </a:lnTo>
                <a:lnTo>
                  <a:pt x="180217" y="180218"/>
                </a:lnTo>
                <a:lnTo>
                  <a:pt x="0" y="180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3" id="33"/>
          <p:cNvSpPr txBox="true"/>
          <p:nvPr/>
        </p:nvSpPr>
        <p:spPr>
          <a:xfrm rot="0">
            <a:off x="9614802" y="7463781"/>
            <a:ext cx="4679132" cy="2817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Mayor eficiencia en la resolución de problemas</a:t>
            </a:r>
          </a:p>
        </p:txBody>
      </p:sp>
      <p:sp>
        <p:nvSpPr>
          <p:cNvPr name="Freeform 34" id="34"/>
          <p:cNvSpPr/>
          <p:nvPr/>
        </p:nvSpPr>
        <p:spPr>
          <a:xfrm flipH="false" flipV="false" rot="0">
            <a:off x="9370338" y="7898871"/>
            <a:ext cx="180217" cy="180217"/>
          </a:xfrm>
          <a:custGeom>
            <a:avLst/>
            <a:gdLst/>
            <a:ahLst/>
            <a:cxnLst/>
            <a:rect r="r" b="b" t="t" l="l"/>
            <a:pathLst>
              <a:path h="180217" w="180217">
                <a:moveTo>
                  <a:pt x="0" y="0"/>
                </a:moveTo>
                <a:lnTo>
                  <a:pt x="180217" y="0"/>
                </a:lnTo>
                <a:lnTo>
                  <a:pt x="180217" y="180217"/>
                </a:lnTo>
                <a:lnTo>
                  <a:pt x="0" y="180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5" id="35"/>
          <p:cNvSpPr txBox="true"/>
          <p:nvPr/>
        </p:nvSpPr>
        <p:spPr>
          <a:xfrm rot="0">
            <a:off x="9614802" y="7829046"/>
            <a:ext cx="4679132" cy="2817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Colaboración mejorada entre desarrolladores</a:t>
            </a:r>
          </a:p>
        </p:txBody>
      </p:sp>
      <p:sp>
        <p:nvSpPr>
          <p:cNvPr name="Freeform 36" id="36"/>
          <p:cNvSpPr/>
          <p:nvPr/>
        </p:nvSpPr>
        <p:spPr>
          <a:xfrm flipH="false" flipV="false" rot="0">
            <a:off x="9370338" y="8266364"/>
            <a:ext cx="180217" cy="180217"/>
          </a:xfrm>
          <a:custGeom>
            <a:avLst/>
            <a:gdLst/>
            <a:ahLst/>
            <a:cxnLst/>
            <a:rect r="r" b="b" t="t" l="l"/>
            <a:pathLst>
              <a:path h="180217" w="180217">
                <a:moveTo>
                  <a:pt x="0" y="0"/>
                </a:moveTo>
                <a:lnTo>
                  <a:pt x="180217" y="0"/>
                </a:lnTo>
                <a:lnTo>
                  <a:pt x="180217" y="180217"/>
                </a:lnTo>
                <a:lnTo>
                  <a:pt x="0" y="180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7" id="37"/>
          <p:cNvSpPr txBox="true"/>
          <p:nvPr/>
        </p:nvSpPr>
        <p:spPr>
          <a:xfrm rot="0">
            <a:off x="9614802" y="8196538"/>
            <a:ext cx="4818145" cy="2817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Adaptación rápida a cambios en requerimientos</a:t>
            </a:r>
          </a:p>
        </p:txBody>
      </p:sp>
      <p:sp>
        <p:nvSpPr>
          <p:cNvPr name="Freeform 38" id="38"/>
          <p:cNvSpPr/>
          <p:nvPr/>
        </p:nvSpPr>
        <p:spPr>
          <a:xfrm flipH="false" flipV="false" rot="0">
            <a:off x="9370338" y="8633856"/>
            <a:ext cx="180217" cy="180217"/>
          </a:xfrm>
          <a:custGeom>
            <a:avLst/>
            <a:gdLst/>
            <a:ahLst/>
            <a:cxnLst/>
            <a:rect r="r" b="b" t="t" l="l"/>
            <a:pathLst>
              <a:path h="180217" w="180217">
                <a:moveTo>
                  <a:pt x="0" y="0"/>
                </a:moveTo>
                <a:lnTo>
                  <a:pt x="180217" y="0"/>
                </a:lnTo>
                <a:lnTo>
                  <a:pt x="180217" y="180217"/>
                </a:lnTo>
                <a:lnTo>
                  <a:pt x="0" y="180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9" id="39"/>
          <p:cNvSpPr txBox="true"/>
          <p:nvPr/>
        </p:nvSpPr>
        <p:spPr>
          <a:xfrm rot="0">
            <a:off x="9614802" y="8564031"/>
            <a:ext cx="4818145" cy="281768"/>
          </a:xfrm>
          <a:prstGeom prst="rect">
            <a:avLst/>
          </a:prstGeom>
        </p:spPr>
        <p:txBody>
          <a:bodyPr anchor="t" rtlCol="false" tIns="0" lIns="0" bIns="0" rIns="0">
            <a:spAutoFit/>
          </a:bodyPr>
          <a:lstStyle/>
          <a:p>
            <a:pPr algn="l">
              <a:lnSpc>
                <a:spcPts val="2319"/>
              </a:lnSpc>
              <a:spcBef>
                <a:spcPct val="0"/>
              </a:spcBef>
            </a:pPr>
            <a:r>
              <a:rPr lang="en-US" sz="1656">
                <a:solidFill>
                  <a:srgbClr val="000000"/>
                </a:solidFill>
                <a:latin typeface="Open Sans"/>
                <a:ea typeface="Open Sans"/>
                <a:cs typeface="Open Sans"/>
                <a:sym typeface="Open Sans"/>
              </a:rPr>
              <a:t>Visibilidad constante del avance del proyecto</a:t>
            </a:r>
          </a:p>
        </p:txBody>
      </p:sp>
      <p:sp>
        <p:nvSpPr>
          <p:cNvPr name="AutoShape 40" id="40"/>
          <p:cNvSpPr/>
          <p:nvPr/>
        </p:nvSpPr>
        <p:spPr>
          <a:xfrm>
            <a:off x="8991117" y="7409642"/>
            <a:ext cx="0" cy="1528396"/>
          </a:xfrm>
          <a:prstGeom prst="line">
            <a:avLst/>
          </a:prstGeom>
          <a:ln cap="flat" w="47625">
            <a:solidFill>
              <a:srgbClr val="0A2456"/>
            </a:solidFill>
            <a:prstDash val="solid"/>
            <a:headEnd type="none" len="sm" w="sm"/>
            <a:tailEnd type="none" len="sm" w="sm"/>
          </a:ln>
        </p:spPr>
      </p:sp>
      <p:grpSp>
        <p:nvGrpSpPr>
          <p:cNvPr name="Group 41" id="41"/>
          <p:cNvGrpSpPr/>
          <p:nvPr/>
        </p:nvGrpSpPr>
        <p:grpSpPr>
          <a:xfrm rot="0">
            <a:off x="750601" y="5491644"/>
            <a:ext cx="6987596" cy="3454280"/>
            <a:chOff x="0" y="0"/>
            <a:chExt cx="2101388" cy="1038810"/>
          </a:xfrm>
        </p:grpSpPr>
        <p:sp>
          <p:nvSpPr>
            <p:cNvPr name="Freeform 42" id="42"/>
            <p:cNvSpPr/>
            <p:nvPr/>
          </p:nvSpPr>
          <p:spPr>
            <a:xfrm flipH="false" flipV="false" rot="0">
              <a:off x="0" y="0"/>
              <a:ext cx="2101388" cy="1038810"/>
            </a:xfrm>
            <a:custGeom>
              <a:avLst/>
              <a:gdLst/>
              <a:ahLst/>
              <a:cxnLst/>
              <a:rect r="r" b="b" t="t" l="l"/>
              <a:pathLst>
                <a:path h="1038810" w="2101388">
                  <a:moveTo>
                    <a:pt x="0" y="0"/>
                  </a:moveTo>
                  <a:lnTo>
                    <a:pt x="2101388" y="0"/>
                  </a:lnTo>
                  <a:lnTo>
                    <a:pt x="2101388" y="1038810"/>
                  </a:lnTo>
                  <a:lnTo>
                    <a:pt x="0" y="1038810"/>
                  </a:lnTo>
                  <a:close/>
                </a:path>
              </a:pathLst>
            </a:custGeom>
            <a:solidFill>
              <a:srgbClr val="000000">
                <a:alpha val="11765"/>
              </a:srgbClr>
            </a:solidFill>
          </p:spPr>
        </p:sp>
        <p:sp>
          <p:nvSpPr>
            <p:cNvPr name="TextBox 43" id="43"/>
            <p:cNvSpPr txBox="true"/>
            <p:nvPr/>
          </p:nvSpPr>
          <p:spPr>
            <a:xfrm>
              <a:off x="0" y="-38100"/>
              <a:ext cx="2101388" cy="1076910"/>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882634" y="6178717"/>
            <a:ext cx="6855562" cy="567518"/>
          </a:xfrm>
          <a:prstGeom prst="rect">
            <a:avLst/>
          </a:prstGeom>
        </p:spPr>
        <p:txBody>
          <a:bodyPr anchor="t" rtlCol="false" tIns="0" lIns="0" bIns="0" rIns="0">
            <a:spAutoFit/>
          </a:bodyPr>
          <a:lstStyle/>
          <a:p>
            <a:pPr algn="l">
              <a:lnSpc>
                <a:spcPts val="2319"/>
              </a:lnSpc>
              <a:spcBef>
                <a:spcPct val="0"/>
              </a:spcBef>
            </a:pPr>
            <a:r>
              <a:rPr lang="en-US" b="true" sz="1656">
                <a:solidFill>
                  <a:srgbClr val="000000"/>
                </a:solidFill>
                <a:latin typeface="Open Sans Bold"/>
                <a:ea typeface="Open Sans Bold"/>
                <a:cs typeface="Open Sans Bold"/>
                <a:sym typeface="Open Sans Bold"/>
              </a:rPr>
              <a:t>Daily Meeting:</a:t>
            </a:r>
            <a:r>
              <a:rPr lang="en-US" sz="1656">
                <a:solidFill>
                  <a:srgbClr val="000000"/>
                </a:solidFill>
                <a:latin typeface="Open Sans"/>
                <a:ea typeface="Open Sans"/>
                <a:cs typeface="Open Sans"/>
                <a:sym typeface="Open Sans"/>
              </a:rPr>
              <a:t> Seguimiento diario de 15 minutos, monitoreando reuniones pasadas identificando obstáculos y mejoras</a:t>
            </a:r>
          </a:p>
        </p:txBody>
      </p:sp>
      <p:sp>
        <p:nvSpPr>
          <p:cNvPr name="TextBox 45" id="45"/>
          <p:cNvSpPr txBox="true"/>
          <p:nvPr/>
        </p:nvSpPr>
        <p:spPr>
          <a:xfrm rot="0">
            <a:off x="882634" y="6971466"/>
            <a:ext cx="6855562" cy="281768"/>
          </a:xfrm>
          <a:prstGeom prst="rect">
            <a:avLst/>
          </a:prstGeom>
        </p:spPr>
        <p:txBody>
          <a:bodyPr anchor="t" rtlCol="false" tIns="0" lIns="0" bIns="0" rIns="0">
            <a:spAutoFit/>
          </a:bodyPr>
          <a:lstStyle/>
          <a:p>
            <a:pPr algn="l">
              <a:lnSpc>
                <a:spcPts val="2319"/>
              </a:lnSpc>
              <a:spcBef>
                <a:spcPct val="0"/>
              </a:spcBef>
            </a:pPr>
            <a:r>
              <a:rPr lang="en-US" b="true" sz="1656">
                <a:solidFill>
                  <a:srgbClr val="000000"/>
                </a:solidFill>
                <a:latin typeface="Open Sans Bold"/>
                <a:ea typeface="Open Sans Bold"/>
                <a:cs typeface="Open Sans Bold"/>
                <a:sym typeface="Open Sans Bold"/>
              </a:rPr>
              <a:t>Sprint Planning:</a:t>
            </a:r>
            <a:r>
              <a:rPr lang="en-US" sz="1656">
                <a:solidFill>
                  <a:srgbClr val="000000"/>
                </a:solidFill>
                <a:latin typeface="Open Sans"/>
                <a:ea typeface="Open Sans"/>
                <a:cs typeface="Open Sans"/>
                <a:sym typeface="Open Sans"/>
              </a:rPr>
              <a:t> Se monitorea cada día en base a lo que avanzamos</a:t>
            </a:r>
          </a:p>
        </p:txBody>
      </p:sp>
      <p:sp>
        <p:nvSpPr>
          <p:cNvPr name="TextBox 46" id="46"/>
          <p:cNvSpPr txBox="true"/>
          <p:nvPr/>
        </p:nvSpPr>
        <p:spPr>
          <a:xfrm rot="0">
            <a:off x="882634" y="7543296"/>
            <a:ext cx="6855562" cy="567518"/>
          </a:xfrm>
          <a:prstGeom prst="rect">
            <a:avLst/>
          </a:prstGeom>
        </p:spPr>
        <p:txBody>
          <a:bodyPr anchor="t" rtlCol="false" tIns="0" lIns="0" bIns="0" rIns="0">
            <a:spAutoFit/>
          </a:bodyPr>
          <a:lstStyle/>
          <a:p>
            <a:pPr algn="l">
              <a:lnSpc>
                <a:spcPts val="2319"/>
              </a:lnSpc>
              <a:spcBef>
                <a:spcPct val="0"/>
              </a:spcBef>
            </a:pPr>
            <a:r>
              <a:rPr lang="en-US" b="true" sz="1656">
                <a:solidFill>
                  <a:srgbClr val="000000"/>
                </a:solidFill>
                <a:latin typeface="Open Sans Bold"/>
                <a:ea typeface="Open Sans Bold"/>
                <a:cs typeface="Open Sans Bold"/>
                <a:sym typeface="Open Sans Bold"/>
              </a:rPr>
              <a:t>Sprint Review</a:t>
            </a:r>
            <a:r>
              <a:rPr lang="en-US" sz="1656">
                <a:solidFill>
                  <a:srgbClr val="000000"/>
                </a:solidFill>
                <a:latin typeface="Open Sans"/>
                <a:ea typeface="Open Sans"/>
                <a:cs typeface="Open Sans"/>
                <a:sym typeface="Open Sans"/>
              </a:rPr>
              <a:t>: Demostración de avances a los miembros y los clientes</a:t>
            </a:r>
          </a:p>
        </p:txBody>
      </p:sp>
      <p:sp>
        <p:nvSpPr>
          <p:cNvPr name="TextBox 47" id="47"/>
          <p:cNvSpPr txBox="true"/>
          <p:nvPr/>
        </p:nvSpPr>
        <p:spPr>
          <a:xfrm rot="0">
            <a:off x="882634" y="8215588"/>
            <a:ext cx="6855562" cy="281768"/>
          </a:xfrm>
          <a:prstGeom prst="rect">
            <a:avLst/>
          </a:prstGeom>
        </p:spPr>
        <p:txBody>
          <a:bodyPr anchor="t" rtlCol="false" tIns="0" lIns="0" bIns="0" rIns="0">
            <a:spAutoFit/>
          </a:bodyPr>
          <a:lstStyle/>
          <a:p>
            <a:pPr algn="l">
              <a:lnSpc>
                <a:spcPts val="2319"/>
              </a:lnSpc>
              <a:spcBef>
                <a:spcPct val="0"/>
              </a:spcBef>
            </a:pPr>
            <a:r>
              <a:rPr lang="en-US" b="true" sz="1656">
                <a:solidFill>
                  <a:srgbClr val="000000"/>
                </a:solidFill>
                <a:latin typeface="Open Sans Bold"/>
                <a:ea typeface="Open Sans Bold"/>
                <a:cs typeface="Open Sans Bold"/>
                <a:sym typeface="Open Sans Bold"/>
              </a:rPr>
              <a:t>Retrospectiva:</a:t>
            </a:r>
            <a:r>
              <a:rPr lang="en-US" sz="1656">
                <a:solidFill>
                  <a:srgbClr val="000000"/>
                </a:solidFill>
                <a:latin typeface="Open Sans"/>
                <a:ea typeface="Open Sans"/>
                <a:cs typeface="Open Sans"/>
                <a:sym typeface="Open Sans"/>
              </a:rPr>
              <a:t> Mejora continua</a:t>
            </a:r>
          </a:p>
        </p:txBody>
      </p:sp>
      <p:sp>
        <p:nvSpPr>
          <p:cNvPr name="TextBox 48" id="48"/>
          <p:cNvSpPr txBox="true"/>
          <p:nvPr/>
        </p:nvSpPr>
        <p:spPr>
          <a:xfrm rot="0">
            <a:off x="884932" y="5602626"/>
            <a:ext cx="2659658" cy="389536"/>
          </a:xfrm>
          <a:prstGeom prst="rect">
            <a:avLst/>
          </a:prstGeom>
        </p:spPr>
        <p:txBody>
          <a:bodyPr anchor="t" rtlCol="false" tIns="0" lIns="0" bIns="0" rIns="0">
            <a:spAutoFit/>
          </a:bodyPr>
          <a:lstStyle/>
          <a:p>
            <a:pPr algn="ctr">
              <a:lnSpc>
                <a:spcPts val="3204"/>
              </a:lnSpc>
              <a:spcBef>
                <a:spcPct val="0"/>
              </a:spcBef>
            </a:pPr>
            <a:r>
              <a:rPr lang="en-US" b="true" sz="2288">
                <a:solidFill>
                  <a:srgbClr val="1E3061"/>
                </a:solidFill>
                <a:latin typeface="Open Sans Bold"/>
                <a:ea typeface="Open Sans Bold"/>
                <a:cs typeface="Open Sans Bold"/>
                <a:sym typeface="Open Sans Bold"/>
              </a:rPr>
              <a:t>Ciclo de reuniones</a:t>
            </a:r>
          </a:p>
        </p:txBody>
      </p:sp>
      <p:sp>
        <p:nvSpPr>
          <p:cNvPr name="AutoShape 49" id="49"/>
          <p:cNvSpPr/>
          <p:nvPr/>
        </p:nvSpPr>
        <p:spPr>
          <a:xfrm flipH="true">
            <a:off x="539309" y="5491644"/>
            <a:ext cx="0" cy="3446394"/>
          </a:xfrm>
          <a:prstGeom prst="line">
            <a:avLst/>
          </a:prstGeom>
          <a:ln cap="flat" w="47625">
            <a:solidFill>
              <a:srgbClr val="0A2456"/>
            </a:solidFill>
            <a:prstDash val="solid"/>
            <a:headEnd type="none" len="sm" w="sm"/>
            <a:tailEnd type="none" len="sm" w="sm"/>
          </a:ln>
        </p:spPr>
      </p:sp>
      <p:sp>
        <p:nvSpPr>
          <p:cNvPr name="TextBox 50" id="50"/>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8575" y="9267825"/>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1141533" y="4277742"/>
            <a:ext cx="7146467" cy="4980558"/>
          </a:xfrm>
          <a:custGeom>
            <a:avLst/>
            <a:gdLst/>
            <a:ahLst/>
            <a:cxnLst/>
            <a:rect r="r" b="b" t="t" l="l"/>
            <a:pathLst>
              <a:path h="4980558" w="7146467">
                <a:moveTo>
                  <a:pt x="0" y="0"/>
                </a:moveTo>
                <a:lnTo>
                  <a:pt x="7146467" y="0"/>
                </a:lnTo>
                <a:lnTo>
                  <a:pt x="7146467" y="4980558"/>
                </a:lnTo>
                <a:lnTo>
                  <a:pt x="0" y="4980558"/>
                </a:lnTo>
                <a:lnTo>
                  <a:pt x="0" y="0"/>
                </a:lnTo>
                <a:close/>
              </a:path>
            </a:pathLst>
          </a:custGeom>
          <a:blipFill>
            <a:blip r:embed="rId2"/>
            <a:stretch>
              <a:fillRect l="-1338" t="0" r="-1338" b="0"/>
            </a:stretch>
          </a:blipFill>
        </p:spPr>
      </p:sp>
      <p:sp>
        <p:nvSpPr>
          <p:cNvPr name="Freeform 9" id="9"/>
          <p:cNvSpPr/>
          <p:nvPr/>
        </p:nvSpPr>
        <p:spPr>
          <a:xfrm flipH="false" flipV="false" rot="0">
            <a:off x="11141533" y="1908713"/>
            <a:ext cx="7146467" cy="2369029"/>
          </a:xfrm>
          <a:custGeom>
            <a:avLst/>
            <a:gdLst/>
            <a:ahLst/>
            <a:cxnLst/>
            <a:rect r="r" b="b" t="t" l="l"/>
            <a:pathLst>
              <a:path h="2369029" w="7146467">
                <a:moveTo>
                  <a:pt x="0" y="0"/>
                </a:moveTo>
                <a:lnTo>
                  <a:pt x="7146467" y="0"/>
                </a:lnTo>
                <a:lnTo>
                  <a:pt x="7146467" y="2369029"/>
                </a:lnTo>
                <a:lnTo>
                  <a:pt x="0" y="2369029"/>
                </a:lnTo>
                <a:lnTo>
                  <a:pt x="0" y="0"/>
                </a:lnTo>
                <a:close/>
              </a:path>
            </a:pathLst>
          </a:custGeom>
          <a:blipFill>
            <a:blip r:embed="rId3"/>
            <a:stretch>
              <a:fillRect l="0" t="0" r="0" b="-2188"/>
            </a:stretch>
          </a:blipFill>
        </p:spPr>
      </p:sp>
      <p:sp>
        <p:nvSpPr>
          <p:cNvPr name="Freeform 10" id="10"/>
          <p:cNvSpPr/>
          <p:nvPr/>
        </p:nvSpPr>
        <p:spPr>
          <a:xfrm flipH="false" flipV="false" rot="0">
            <a:off x="0" y="1908713"/>
            <a:ext cx="2443738" cy="7349587"/>
          </a:xfrm>
          <a:custGeom>
            <a:avLst/>
            <a:gdLst/>
            <a:ahLst/>
            <a:cxnLst/>
            <a:rect r="r" b="b" t="t" l="l"/>
            <a:pathLst>
              <a:path h="7349587" w="2443738">
                <a:moveTo>
                  <a:pt x="0" y="0"/>
                </a:moveTo>
                <a:lnTo>
                  <a:pt x="2443738" y="0"/>
                </a:lnTo>
                <a:lnTo>
                  <a:pt x="2443738" y="7349587"/>
                </a:lnTo>
                <a:lnTo>
                  <a:pt x="0" y="7349587"/>
                </a:lnTo>
                <a:lnTo>
                  <a:pt x="0" y="0"/>
                </a:lnTo>
                <a:close/>
              </a:path>
            </a:pathLst>
          </a:custGeom>
          <a:blipFill>
            <a:blip r:embed="rId4"/>
            <a:stretch>
              <a:fillRect l="0" t="0" r="0" b="0"/>
            </a:stretch>
          </a:blipFill>
        </p:spPr>
      </p:sp>
      <p:sp>
        <p:nvSpPr>
          <p:cNvPr name="TextBox 11" id="11"/>
          <p:cNvSpPr txBox="true"/>
          <p:nvPr/>
        </p:nvSpPr>
        <p:spPr>
          <a:xfrm rot="0">
            <a:off x="3747252" y="550792"/>
            <a:ext cx="10626598" cy="721376"/>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Evidencias técnicas de nuestro desarrollo</a:t>
            </a:r>
          </a:p>
        </p:txBody>
      </p:sp>
      <p:grpSp>
        <p:nvGrpSpPr>
          <p:cNvPr name="Group 12" id="12"/>
          <p:cNvGrpSpPr/>
          <p:nvPr/>
        </p:nvGrpSpPr>
        <p:grpSpPr>
          <a:xfrm rot="0">
            <a:off x="2667424" y="4277742"/>
            <a:ext cx="8250423" cy="3740516"/>
            <a:chOff x="0" y="0"/>
            <a:chExt cx="2481159" cy="1124890"/>
          </a:xfrm>
        </p:grpSpPr>
        <p:sp>
          <p:nvSpPr>
            <p:cNvPr name="Freeform 13" id="13"/>
            <p:cNvSpPr/>
            <p:nvPr/>
          </p:nvSpPr>
          <p:spPr>
            <a:xfrm flipH="false" flipV="false" rot="0">
              <a:off x="0" y="0"/>
              <a:ext cx="2481159" cy="1124890"/>
            </a:xfrm>
            <a:custGeom>
              <a:avLst/>
              <a:gdLst/>
              <a:ahLst/>
              <a:cxnLst/>
              <a:rect r="r" b="b" t="t" l="l"/>
              <a:pathLst>
                <a:path h="1124890" w="2481159">
                  <a:moveTo>
                    <a:pt x="0" y="0"/>
                  </a:moveTo>
                  <a:lnTo>
                    <a:pt x="2481159" y="0"/>
                  </a:lnTo>
                  <a:lnTo>
                    <a:pt x="2481159" y="1124890"/>
                  </a:lnTo>
                  <a:lnTo>
                    <a:pt x="0" y="1124890"/>
                  </a:lnTo>
                  <a:close/>
                </a:path>
              </a:pathLst>
            </a:custGeom>
            <a:solidFill>
              <a:srgbClr val="000000">
                <a:alpha val="11765"/>
              </a:srgbClr>
            </a:solidFill>
          </p:spPr>
        </p:sp>
        <p:sp>
          <p:nvSpPr>
            <p:cNvPr name="TextBox 14" id="14"/>
            <p:cNvSpPr txBox="true"/>
            <p:nvPr/>
          </p:nvSpPr>
          <p:spPr>
            <a:xfrm>
              <a:off x="0" y="-38100"/>
              <a:ext cx="2481159" cy="116299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897729" y="5394346"/>
            <a:ext cx="7789813" cy="1527570"/>
          </a:xfrm>
          <a:prstGeom prst="rect">
            <a:avLst/>
          </a:prstGeom>
        </p:spPr>
        <p:txBody>
          <a:bodyPr anchor="t" rtlCol="false" tIns="0" lIns="0" bIns="0" rIns="0">
            <a:spAutoFit/>
          </a:bodyPr>
          <a:lstStyle/>
          <a:p>
            <a:pPr algn="ctr">
              <a:lnSpc>
                <a:spcPts val="6103"/>
              </a:lnSpc>
            </a:pPr>
            <a:r>
              <a:rPr lang="en-US" sz="4359" b="true">
                <a:solidFill>
                  <a:srgbClr val="1E3061"/>
                </a:solidFill>
                <a:latin typeface="Open Sans Bold"/>
                <a:ea typeface="Open Sans Bold"/>
                <a:cs typeface="Open Sans Bold"/>
                <a:sym typeface="Open Sans Bold"/>
              </a:rPr>
              <a:t>-Componentes HTML, CSS, JS</a:t>
            </a:r>
          </a:p>
          <a:p>
            <a:pPr algn="l">
              <a:lnSpc>
                <a:spcPts val="6103"/>
              </a:lnSpc>
              <a:spcBef>
                <a:spcPct val="0"/>
              </a:spcBef>
            </a:pPr>
            <a:r>
              <a:rPr lang="en-US" b="true" sz="4359">
                <a:solidFill>
                  <a:srgbClr val="1E3061"/>
                </a:solidFill>
                <a:latin typeface="Open Sans Bold"/>
                <a:ea typeface="Open Sans Bold"/>
                <a:cs typeface="Open Sans Bold"/>
                <a:sym typeface="Open Sans Bold"/>
              </a:rPr>
              <a:t>-Estructura Django</a:t>
            </a:r>
          </a:p>
        </p:txBody>
      </p:sp>
      <p:sp>
        <p:nvSpPr>
          <p:cNvPr name="TextBox 16" id="16"/>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691991" y="1908713"/>
            <a:ext cx="8596009" cy="7349587"/>
          </a:xfrm>
          <a:custGeom>
            <a:avLst/>
            <a:gdLst/>
            <a:ahLst/>
            <a:cxnLst/>
            <a:rect r="r" b="b" t="t" l="l"/>
            <a:pathLst>
              <a:path h="7349587" w="8596009">
                <a:moveTo>
                  <a:pt x="0" y="0"/>
                </a:moveTo>
                <a:lnTo>
                  <a:pt x="8596009" y="0"/>
                </a:lnTo>
                <a:lnTo>
                  <a:pt x="8596009" y="7349587"/>
                </a:lnTo>
                <a:lnTo>
                  <a:pt x="0" y="7349587"/>
                </a:lnTo>
                <a:lnTo>
                  <a:pt x="0" y="0"/>
                </a:lnTo>
                <a:close/>
              </a:path>
            </a:pathLst>
          </a:custGeom>
          <a:blipFill>
            <a:blip r:embed="rId2"/>
            <a:stretch>
              <a:fillRect l="0" t="0" r="0" b="0"/>
            </a:stretch>
          </a:blipFill>
        </p:spPr>
      </p:sp>
      <p:sp>
        <p:nvSpPr>
          <p:cNvPr name="Freeform 9" id="9"/>
          <p:cNvSpPr/>
          <p:nvPr/>
        </p:nvSpPr>
        <p:spPr>
          <a:xfrm flipH="false" flipV="false" rot="0">
            <a:off x="1028700" y="4300761"/>
            <a:ext cx="6533030" cy="4184244"/>
          </a:xfrm>
          <a:custGeom>
            <a:avLst/>
            <a:gdLst/>
            <a:ahLst/>
            <a:cxnLst/>
            <a:rect r="r" b="b" t="t" l="l"/>
            <a:pathLst>
              <a:path h="4184244" w="6533030">
                <a:moveTo>
                  <a:pt x="0" y="0"/>
                </a:moveTo>
                <a:lnTo>
                  <a:pt x="6533030" y="0"/>
                </a:lnTo>
                <a:lnTo>
                  <a:pt x="6533030" y="4184243"/>
                </a:lnTo>
                <a:lnTo>
                  <a:pt x="0" y="4184243"/>
                </a:lnTo>
                <a:lnTo>
                  <a:pt x="0" y="0"/>
                </a:lnTo>
                <a:close/>
              </a:path>
            </a:pathLst>
          </a:custGeom>
          <a:blipFill>
            <a:blip r:embed="rId3"/>
            <a:stretch>
              <a:fillRect l="0" t="0" r="-10225" b="0"/>
            </a:stretch>
          </a:blipFill>
        </p:spPr>
      </p:sp>
      <p:sp>
        <p:nvSpPr>
          <p:cNvPr name="TextBox 10" id="10"/>
          <p:cNvSpPr txBox="true"/>
          <p:nvPr/>
        </p:nvSpPr>
        <p:spPr>
          <a:xfrm rot="0">
            <a:off x="3747252" y="550792"/>
            <a:ext cx="10626598" cy="721376"/>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Evidencias técnicas de nuestro desarrollo</a:t>
            </a:r>
          </a:p>
        </p:txBody>
      </p:sp>
      <p:grpSp>
        <p:nvGrpSpPr>
          <p:cNvPr name="Group 11" id="11"/>
          <p:cNvGrpSpPr/>
          <p:nvPr/>
        </p:nvGrpSpPr>
        <p:grpSpPr>
          <a:xfrm rot="0">
            <a:off x="1028700" y="2079417"/>
            <a:ext cx="6533030" cy="2050639"/>
            <a:chOff x="0" y="0"/>
            <a:chExt cx="1964686" cy="616691"/>
          </a:xfrm>
        </p:grpSpPr>
        <p:sp>
          <p:nvSpPr>
            <p:cNvPr name="Freeform 12" id="12"/>
            <p:cNvSpPr/>
            <p:nvPr/>
          </p:nvSpPr>
          <p:spPr>
            <a:xfrm flipH="false" flipV="false" rot="0">
              <a:off x="0" y="0"/>
              <a:ext cx="1964686" cy="616691"/>
            </a:xfrm>
            <a:custGeom>
              <a:avLst/>
              <a:gdLst/>
              <a:ahLst/>
              <a:cxnLst/>
              <a:rect r="r" b="b" t="t" l="l"/>
              <a:pathLst>
                <a:path h="616691" w="1964686">
                  <a:moveTo>
                    <a:pt x="0" y="0"/>
                  </a:moveTo>
                  <a:lnTo>
                    <a:pt x="1964686" y="0"/>
                  </a:lnTo>
                  <a:lnTo>
                    <a:pt x="1964686" y="616691"/>
                  </a:lnTo>
                  <a:lnTo>
                    <a:pt x="0" y="616691"/>
                  </a:lnTo>
                  <a:close/>
                </a:path>
              </a:pathLst>
            </a:custGeom>
            <a:solidFill>
              <a:srgbClr val="000000">
                <a:alpha val="11765"/>
              </a:srgbClr>
            </a:solidFill>
          </p:spPr>
        </p:sp>
        <p:sp>
          <p:nvSpPr>
            <p:cNvPr name="TextBox 13" id="13"/>
            <p:cNvSpPr txBox="true"/>
            <p:nvPr/>
          </p:nvSpPr>
          <p:spPr>
            <a:xfrm>
              <a:off x="0" y="-38100"/>
              <a:ext cx="1964686" cy="654791"/>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276896" y="2683888"/>
            <a:ext cx="3815875" cy="746448"/>
          </a:xfrm>
          <a:prstGeom prst="rect">
            <a:avLst/>
          </a:prstGeom>
        </p:spPr>
        <p:txBody>
          <a:bodyPr anchor="t" rtlCol="false" tIns="0" lIns="0" bIns="0" rIns="0">
            <a:spAutoFit/>
          </a:bodyPr>
          <a:lstStyle/>
          <a:p>
            <a:pPr algn="ctr">
              <a:lnSpc>
                <a:spcPts val="6103"/>
              </a:lnSpc>
              <a:spcBef>
                <a:spcPct val="0"/>
              </a:spcBef>
            </a:pPr>
            <a:r>
              <a:rPr lang="en-US" b="true" sz="4359">
                <a:solidFill>
                  <a:srgbClr val="1E3061"/>
                </a:solidFill>
                <a:latin typeface="Open Sans Bold"/>
                <a:ea typeface="Open Sans Bold"/>
                <a:cs typeface="Open Sans Bold"/>
                <a:sym typeface="Open Sans Bold"/>
              </a:rPr>
              <a:t>Base de datos</a:t>
            </a:r>
          </a:p>
        </p:txBody>
      </p:sp>
      <p:sp>
        <p:nvSpPr>
          <p:cNvPr name="TextBox 15" id="15"/>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899" y="0"/>
            <a:ext cx="18454899" cy="1908713"/>
            <a:chOff x="0" y="0"/>
            <a:chExt cx="4860550" cy="502706"/>
          </a:xfrm>
        </p:grpSpPr>
        <p:sp>
          <p:nvSpPr>
            <p:cNvPr name="Freeform 3" id="3"/>
            <p:cNvSpPr/>
            <p:nvPr/>
          </p:nvSpPr>
          <p:spPr>
            <a:xfrm flipH="false" flipV="false" rot="0">
              <a:off x="0" y="0"/>
              <a:ext cx="4860549" cy="502706"/>
            </a:xfrm>
            <a:custGeom>
              <a:avLst/>
              <a:gdLst/>
              <a:ahLst/>
              <a:cxnLst/>
              <a:rect r="r" b="b" t="t" l="l"/>
              <a:pathLst>
                <a:path h="502706" w="4860549">
                  <a:moveTo>
                    <a:pt x="0" y="0"/>
                  </a:moveTo>
                  <a:lnTo>
                    <a:pt x="4860549" y="0"/>
                  </a:lnTo>
                  <a:lnTo>
                    <a:pt x="4860549" y="502706"/>
                  </a:lnTo>
                  <a:lnTo>
                    <a:pt x="0" y="502706"/>
                  </a:lnTo>
                  <a:close/>
                </a:path>
              </a:pathLst>
            </a:custGeom>
            <a:solidFill>
              <a:srgbClr val="0A2456"/>
            </a:solidFill>
          </p:spPr>
        </p:sp>
        <p:sp>
          <p:nvSpPr>
            <p:cNvPr name="TextBox 4" id="4"/>
            <p:cNvSpPr txBox="true"/>
            <p:nvPr/>
          </p:nvSpPr>
          <p:spPr>
            <a:xfrm>
              <a:off x="0" y="-38100"/>
              <a:ext cx="4860550" cy="5408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A2456"/>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0" y="1913726"/>
            <a:ext cx="8740023" cy="184828"/>
          </a:xfrm>
          <a:custGeom>
            <a:avLst/>
            <a:gdLst/>
            <a:ahLst/>
            <a:cxnLst/>
            <a:rect r="r" b="b" t="t" l="l"/>
            <a:pathLst>
              <a:path h="184828" w="8740023">
                <a:moveTo>
                  <a:pt x="0" y="0"/>
                </a:moveTo>
                <a:lnTo>
                  <a:pt x="8740023" y="0"/>
                </a:lnTo>
                <a:lnTo>
                  <a:pt x="8740023" y="184828"/>
                </a:lnTo>
                <a:lnTo>
                  <a:pt x="0" y="184828"/>
                </a:lnTo>
                <a:lnTo>
                  <a:pt x="0" y="0"/>
                </a:lnTo>
                <a:close/>
              </a:path>
            </a:pathLst>
          </a:custGeom>
          <a:blipFill>
            <a:blip r:embed="rId2"/>
            <a:stretch>
              <a:fillRect l="0" t="-242" r="0" b="-242"/>
            </a:stretch>
          </a:blipFill>
        </p:spPr>
      </p:sp>
      <p:sp>
        <p:nvSpPr>
          <p:cNvPr name="Freeform 9" id="9"/>
          <p:cNvSpPr/>
          <p:nvPr/>
        </p:nvSpPr>
        <p:spPr>
          <a:xfrm flipH="false" flipV="false" rot="0">
            <a:off x="0" y="2107171"/>
            <a:ext cx="8740023" cy="187929"/>
          </a:xfrm>
          <a:custGeom>
            <a:avLst/>
            <a:gdLst/>
            <a:ahLst/>
            <a:cxnLst/>
            <a:rect r="r" b="b" t="t" l="l"/>
            <a:pathLst>
              <a:path h="187929" w="8740023">
                <a:moveTo>
                  <a:pt x="0" y="0"/>
                </a:moveTo>
                <a:lnTo>
                  <a:pt x="8740023" y="0"/>
                </a:lnTo>
                <a:lnTo>
                  <a:pt x="8740023" y="187929"/>
                </a:lnTo>
                <a:lnTo>
                  <a:pt x="0" y="187929"/>
                </a:lnTo>
                <a:lnTo>
                  <a:pt x="0" y="0"/>
                </a:lnTo>
                <a:close/>
              </a:path>
            </a:pathLst>
          </a:custGeom>
          <a:blipFill>
            <a:blip r:embed="rId3"/>
            <a:stretch>
              <a:fillRect l="-7338" t="0" r="-7338" b="0"/>
            </a:stretch>
          </a:blipFill>
        </p:spPr>
      </p:sp>
      <p:sp>
        <p:nvSpPr>
          <p:cNvPr name="Freeform 10" id="10"/>
          <p:cNvSpPr/>
          <p:nvPr/>
        </p:nvSpPr>
        <p:spPr>
          <a:xfrm flipH="false" flipV="false" rot="0">
            <a:off x="0" y="2304625"/>
            <a:ext cx="8740023" cy="142025"/>
          </a:xfrm>
          <a:custGeom>
            <a:avLst/>
            <a:gdLst/>
            <a:ahLst/>
            <a:cxnLst/>
            <a:rect r="r" b="b" t="t" l="l"/>
            <a:pathLst>
              <a:path h="142025" w="8740023">
                <a:moveTo>
                  <a:pt x="0" y="0"/>
                </a:moveTo>
                <a:lnTo>
                  <a:pt x="8740023" y="0"/>
                </a:lnTo>
                <a:lnTo>
                  <a:pt x="8740023" y="142025"/>
                </a:lnTo>
                <a:lnTo>
                  <a:pt x="0" y="142025"/>
                </a:lnTo>
                <a:lnTo>
                  <a:pt x="0" y="0"/>
                </a:lnTo>
                <a:close/>
              </a:path>
            </a:pathLst>
          </a:custGeom>
          <a:blipFill>
            <a:blip r:embed="rId4"/>
            <a:stretch>
              <a:fillRect l="0" t="0" r="0" b="0"/>
            </a:stretch>
          </a:blipFill>
        </p:spPr>
      </p:sp>
      <p:sp>
        <p:nvSpPr>
          <p:cNvPr name="Freeform 11" id="11"/>
          <p:cNvSpPr/>
          <p:nvPr/>
        </p:nvSpPr>
        <p:spPr>
          <a:xfrm flipH="false" flipV="false" rot="0">
            <a:off x="0" y="2445964"/>
            <a:ext cx="8740023" cy="326167"/>
          </a:xfrm>
          <a:custGeom>
            <a:avLst/>
            <a:gdLst/>
            <a:ahLst/>
            <a:cxnLst/>
            <a:rect r="r" b="b" t="t" l="l"/>
            <a:pathLst>
              <a:path h="326167" w="8740023">
                <a:moveTo>
                  <a:pt x="0" y="0"/>
                </a:moveTo>
                <a:lnTo>
                  <a:pt x="8740023" y="0"/>
                </a:lnTo>
                <a:lnTo>
                  <a:pt x="8740023" y="326167"/>
                </a:lnTo>
                <a:lnTo>
                  <a:pt x="0" y="326167"/>
                </a:lnTo>
                <a:lnTo>
                  <a:pt x="0" y="0"/>
                </a:lnTo>
                <a:close/>
              </a:path>
            </a:pathLst>
          </a:custGeom>
          <a:blipFill>
            <a:blip r:embed="rId5"/>
            <a:stretch>
              <a:fillRect l="0" t="-242" r="0" b="-242"/>
            </a:stretch>
          </a:blipFill>
        </p:spPr>
      </p:sp>
      <p:sp>
        <p:nvSpPr>
          <p:cNvPr name="Freeform 12" id="12"/>
          <p:cNvSpPr/>
          <p:nvPr/>
        </p:nvSpPr>
        <p:spPr>
          <a:xfrm flipH="false" flipV="false" rot="0">
            <a:off x="0" y="2772131"/>
            <a:ext cx="8740023" cy="1328315"/>
          </a:xfrm>
          <a:custGeom>
            <a:avLst/>
            <a:gdLst/>
            <a:ahLst/>
            <a:cxnLst/>
            <a:rect r="r" b="b" t="t" l="l"/>
            <a:pathLst>
              <a:path h="1328315" w="8740023">
                <a:moveTo>
                  <a:pt x="0" y="0"/>
                </a:moveTo>
                <a:lnTo>
                  <a:pt x="8740023" y="0"/>
                </a:lnTo>
                <a:lnTo>
                  <a:pt x="8740023" y="1328316"/>
                </a:lnTo>
                <a:lnTo>
                  <a:pt x="0" y="1328316"/>
                </a:lnTo>
                <a:lnTo>
                  <a:pt x="0" y="0"/>
                </a:lnTo>
                <a:close/>
              </a:path>
            </a:pathLst>
          </a:custGeom>
          <a:blipFill>
            <a:blip r:embed="rId6"/>
            <a:stretch>
              <a:fillRect l="0" t="0" r="-483" b="0"/>
            </a:stretch>
          </a:blipFill>
        </p:spPr>
      </p:sp>
      <p:sp>
        <p:nvSpPr>
          <p:cNvPr name="Freeform 13" id="13"/>
          <p:cNvSpPr/>
          <p:nvPr/>
        </p:nvSpPr>
        <p:spPr>
          <a:xfrm flipH="false" flipV="false" rot="0">
            <a:off x="42228" y="4100447"/>
            <a:ext cx="8697795" cy="2261427"/>
          </a:xfrm>
          <a:custGeom>
            <a:avLst/>
            <a:gdLst/>
            <a:ahLst/>
            <a:cxnLst/>
            <a:rect r="r" b="b" t="t" l="l"/>
            <a:pathLst>
              <a:path h="2261427" w="8697795">
                <a:moveTo>
                  <a:pt x="0" y="0"/>
                </a:moveTo>
                <a:lnTo>
                  <a:pt x="8697795" y="0"/>
                </a:lnTo>
                <a:lnTo>
                  <a:pt x="8697795" y="2261426"/>
                </a:lnTo>
                <a:lnTo>
                  <a:pt x="0" y="2261426"/>
                </a:lnTo>
                <a:lnTo>
                  <a:pt x="0" y="0"/>
                </a:lnTo>
                <a:close/>
              </a:path>
            </a:pathLst>
          </a:custGeom>
          <a:blipFill>
            <a:blip r:embed="rId7"/>
            <a:stretch>
              <a:fillRect l="0" t="0" r="0" b="0"/>
            </a:stretch>
          </a:blipFill>
        </p:spPr>
      </p:sp>
      <p:sp>
        <p:nvSpPr>
          <p:cNvPr name="Freeform 14" id="14"/>
          <p:cNvSpPr/>
          <p:nvPr/>
        </p:nvSpPr>
        <p:spPr>
          <a:xfrm flipH="false" flipV="false" rot="0">
            <a:off x="42228" y="6371398"/>
            <a:ext cx="8697795" cy="2896427"/>
          </a:xfrm>
          <a:custGeom>
            <a:avLst/>
            <a:gdLst/>
            <a:ahLst/>
            <a:cxnLst/>
            <a:rect r="r" b="b" t="t" l="l"/>
            <a:pathLst>
              <a:path h="2896427" w="8697795">
                <a:moveTo>
                  <a:pt x="0" y="0"/>
                </a:moveTo>
                <a:lnTo>
                  <a:pt x="8697795" y="0"/>
                </a:lnTo>
                <a:lnTo>
                  <a:pt x="8697795" y="2896427"/>
                </a:lnTo>
                <a:lnTo>
                  <a:pt x="0" y="2896427"/>
                </a:lnTo>
                <a:lnTo>
                  <a:pt x="0" y="0"/>
                </a:lnTo>
                <a:close/>
              </a:path>
            </a:pathLst>
          </a:custGeom>
          <a:blipFill>
            <a:blip r:embed="rId8"/>
            <a:stretch>
              <a:fillRect l="0" t="-8792" r="-485" b="-14925"/>
            </a:stretch>
          </a:blipFill>
        </p:spPr>
      </p:sp>
      <p:sp>
        <p:nvSpPr>
          <p:cNvPr name="TextBox 15" id="15"/>
          <p:cNvSpPr txBox="true"/>
          <p:nvPr/>
        </p:nvSpPr>
        <p:spPr>
          <a:xfrm rot="0">
            <a:off x="3747252" y="550792"/>
            <a:ext cx="10626598" cy="721376"/>
          </a:xfrm>
          <a:prstGeom prst="rect">
            <a:avLst/>
          </a:prstGeom>
        </p:spPr>
        <p:txBody>
          <a:bodyPr anchor="t" rtlCol="false" tIns="0" lIns="0" bIns="0" rIns="0">
            <a:spAutoFit/>
          </a:bodyPr>
          <a:lstStyle/>
          <a:p>
            <a:pPr algn="ctr">
              <a:lnSpc>
                <a:spcPts val="5912"/>
              </a:lnSpc>
            </a:pPr>
            <a:r>
              <a:rPr lang="en-US" sz="4223" b="true">
                <a:solidFill>
                  <a:srgbClr val="FFFFFF"/>
                </a:solidFill>
                <a:latin typeface="Lora Bold"/>
                <a:ea typeface="Lora Bold"/>
                <a:cs typeface="Lora Bold"/>
                <a:sym typeface="Lora Bold"/>
              </a:rPr>
              <a:t>Evidencias técnicas de nuestro desarrollo</a:t>
            </a:r>
          </a:p>
        </p:txBody>
      </p:sp>
      <p:grpSp>
        <p:nvGrpSpPr>
          <p:cNvPr name="Group 16" id="16"/>
          <p:cNvGrpSpPr/>
          <p:nvPr/>
        </p:nvGrpSpPr>
        <p:grpSpPr>
          <a:xfrm rot="0">
            <a:off x="9340262" y="4100447"/>
            <a:ext cx="8250423" cy="3740516"/>
            <a:chOff x="0" y="0"/>
            <a:chExt cx="2481159" cy="1124890"/>
          </a:xfrm>
        </p:grpSpPr>
        <p:sp>
          <p:nvSpPr>
            <p:cNvPr name="Freeform 17" id="17"/>
            <p:cNvSpPr/>
            <p:nvPr/>
          </p:nvSpPr>
          <p:spPr>
            <a:xfrm flipH="false" flipV="false" rot="0">
              <a:off x="0" y="0"/>
              <a:ext cx="2481159" cy="1124890"/>
            </a:xfrm>
            <a:custGeom>
              <a:avLst/>
              <a:gdLst/>
              <a:ahLst/>
              <a:cxnLst/>
              <a:rect r="r" b="b" t="t" l="l"/>
              <a:pathLst>
                <a:path h="1124890" w="2481159">
                  <a:moveTo>
                    <a:pt x="0" y="0"/>
                  </a:moveTo>
                  <a:lnTo>
                    <a:pt x="2481159" y="0"/>
                  </a:lnTo>
                  <a:lnTo>
                    <a:pt x="2481159" y="1124890"/>
                  </a:lnTo>
                  <a:lnTo>
                    <a:pt x="0" y="1124890"/>
                  </a:lnTo>
                  <a:close/>
                </a:path>
              </a:pathLst>
            </a:custGeom>
            <a:solidFill>
              <a:srgbClr val="000000">
                <a:alpha val="11765"/>
              </a:srgbClr>
            </a:solidFill>
          </p:spPr>
        </p:sp>
        <p:sp>
          <p:nvSpPr>
            <p:cNvPr name="TextBox 18" id="18"/>
            <p:cNvSpPr txBox="true"/>
            <p:nvPr/>
          </p:nvSpPr>
          <p:spPr>
            <a:xfrm>
              <a:off x="0" y="-38100"/>
              <a:ext cx="2481159" cy="116299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1292222" y="5465153"/>
            <a:ext cx="4346503" cy="746448"/>
          </a:xfrm>
          <a:prstGeom prst="rect">
            <a:avLst/>
          </a:prstGeom>
        </p:spPr>
        <p:txBody>
          <a:bodyPr anchor="t" rtlCol="false" tIns="0" lIns="0" bIns="0" rIns="0">
            <a:spAutoFit/>
          </a:bodyPr>
          <a:lstStyle/>
          <a:p>
            <a:pPr algn="ctr">
              <a:lnSpc>
                <a:spcPts val="6103"/>
              </a:lnSpc>
              <a:spcBef>
                <a:spcPct val="0"/>
              </a:spcBef>
            </a:pPr>
            <a:r>
              <a:rPr lang="en-US" b="true" sz="4359">
                <a:solidFill>
                  <a:srgbClr val="1E3061"/>
                </a:solidFill>
                <a:latin typeface="Open Sans Bold"/>
                <a:ea typeface="Open Sans Bold"/>
                <a:cs typeface="Open Sans Bold"/>
                <a:sym typeface="Open Sans Bold"/>
              </a:rPr>
              <a:t>Proceso Github </a:t>
            </a:r>
          </a:p>
        </p:txBody>
      </p:sp>
      <p:sp>
        <p:nvSpPr>
          <p:cNvPr name="TextBox 20" id="20"/>
          <p:cNvSpPr txBox="true"/>
          <p:nvPr/>
        </p:nvSpPr>
        <p:spPr>
          <a:xfrm rot="0">
            <a:off x="267671" y="9417420"/>
            <a:ext cx="2272880" cy="1047170"/>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a:p>
            <a:pPr algn="l">
              <a:lnSpc>
                <a:spcPts val="263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rot="0">
            <a:off x="4515505" y="3682862"/>
            <a:ext cx="9256990" cy="0"/>
          </a:xfrm>
          <a:prstGeom prst="line">
            <a:avLst/>
          </a:prstGeom>
          <a:ln cap="flat" w="28575">
            <a:solidFill>
              <a:srgbClr val="F27100"/>
            </a:solidFill>
            <a:prstDash val="solid"/>
            <a:headEnd type="none" len="sm" w="sm"/>
            <a:tailEnd type="none" len="sm" w="sm"/>
          </a:ln>
        </p:spPr>
      </p:sp>
      <p:sp>
        <p:nvSpPr>
          <p:cNvPr name="AutoShape 6" id="6"/>
          <p:cNvSpPr/>
          <p:nvPr/>
        </p:nvSpPr>
        <p:spPr>
          <a:xfrm rot="0">
            <a:off x="4515505" y="5871653"/>
            <a:ext cx="9256990" cy="0"/>
          </a:xfrm>
          <a:prstGeom prst="line">
            <a:avLst/>
          </a:prstGeom>
          <a:ln cap="flat" w="28575">
            <a:solidFill>
              <a:srgbClr val="F27100"/>
            </a:solidFill>
            <a:prstDash val="solid"/>
            <a:headEnd type="none" len="sm" w="sm"/>
            <a:tailEnd type="none" len="sm" w="sm"/>
          </a:ln>
        </p:spPr>
      </p:sp>
      <p:sp>
        <p:nvSpPr>
          <p:cNvPr name="TextBox 7" id="7"/>
          <p:cNvSpPr txBox="true"/>
          <p:nvPr/>
        </p:nvSpPr>
        <p:spPr>
          <a:xfrm rot="0">
            <a:off x="5217897" y="6293163"/>
            <a:ext cx="7852206" cy="488315"/>
          </a:xfrm>
          <a:prstGeom prst="rect">
            <a:avLst/>
          </a:prstGeom>
        </p:spPr>
        <p:txBody>
          <a:bodyPr anchor="t" rtlCol="false" tIns="0" lIns="0" bIns="0" rIns="0">
            <a:spAutoFit/>
          </a:bodyPr>
          <a:lstStyle/>
          <a:p>
            <a:pPr algn="ctr">
              <a:lnSpc>
                <a:spcPts val="4060"/>
              </a:lnSpc>
            </a:pPr>
            <a:r>
              <a:rPr lang="en-US" b="true" sz="2900" spc="507">
                <a:solidFill>
                  <a:srgbClr val="FFFFFF"/>
                </a:solidFill>
                <a:latin typeface="Garet Bold"/>
                <a:ea typeface="Garet Bold"/>
                <a:cs typeface="Garet Bold"/>
                <a:sym typeface="Garet Bold"/>
              </a:rPr>
              <a:t>GRACIAS POR ESCUCHAR</a:t>
            </a:r>
          </a:p>
        </p:txBody>
      </p:sp>
      <p:sp>
        <p:nvSpPr>
          <p:cNvPr name="TextBox 8" id="8"/>
          <p:cNvSpPr txBox="true"/>
          <p:nvPr/>
        </p:nvSpPr>
        <p:spPr>
          <a:xfrm rot="0">
            <a:off x="2695943" y="3682862"/>
            <a:ext cx="12896114" cy="1941830"/>
          </a:xfrm>
          <a:prstGeom prst="rect">
            <a:avLst/>
          </a:prstGeom>
        </p:spPr>
        <p:txBody>
          <a:bodyPr anchor="t" rtlCol="false" tIns="0" lIns="0" bIns="0" rIns="0">
            <a:spAutoFit/>
          </a:bodyPr>
          <a:lstStyle/>
          <a:p>
            <a:pPr algn="ctr">
              <a:lnSpc>
                <a:spcPts val="15820"/>
              </a:lnSpc>
            </a:pPr>
            <a:r>
              <a:rPr lang="en-US" sz="11300" spc="406">
                <a:solidFill>
                  <a:srgbClr val="FFFFFF"/>
                </a:solidFill>
                <a:latin typeface="Archivo Black"/>
                <a:ea typeface="Archivo Black"/>
                <a:cs typeface="Archivo Black"/>
                <a:sym typeface="Archivo Black"/>
              </a:rPr>
              <a:t>PREGUNTAS</a:t>
            </a:r>
          </a:p>
        </p:txBody>
      </p:sp>
      <p:sp>
        <p:nvSpPr>
          <p:cNvPr name="Freeform 9" id="9"/>
          <p:cNvSpPr/>
          <p:nvPr/>
        </p:nvSpPr>
        <p:spPr>
          <a:xfrm flipH="false" flipV="false" rot="0">
            <a:off x="-1103384" y="-1675084"/>
            <a:ext cx="6000534" cy="3567590"/>
          </a:xfrm>
          <a:custGeom>
            <a:avLst/>
            <a:gdLst/>
            <a:ahLst/>
            <a:cxnLst/>
            <a:rect r="r" b="b" t="t" l="l"/>
            <a:pathLst>
              <a:path h="3567590" w="6000534">
                <a:moveTo>
                  <a:pt x="0" y="0"/>
                </a:moveTo>
                <a:lnTo>
                  <a:pt x="6000534" y="0"/>
                </a:lnTo>
                <a:lnTo>
                  <a:pt x="6000534" y="3567591"/>
                </a:lnTo>
                <a:lnTo>
                  <a:pt x="0" y="3567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741048" y="53781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904533" y="-494599"/>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275713" y="4625635"/>
            <a:ext cx="5081972" cy="3021463"/>
          </a:xfrm>
          <a:custGeom>
            <a:avLst/>
            <a:gdLst/>
            <a:ahLst/>
            <a:cxnLst/>
            <a:rect r="r" b="b" t="t" l="l"/>
            <a:pathLst>
              <a:path h="3021463" w="5081972">
                <a:moveTo>
                  <a:pt x="0" y="0"/>
                </a:moveTo>
                <a:lnTo>
                  <a:pt x="5081972" y="0"/>
                </a:lnTo>
                <a:lnTo>
                  <a:pt x="5081972" y="3021463"/>
                </a:lnTo>
                <a:lnTo>
                  <a:pt x="0" y="3021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0800000">
            <a:off x="12542441" y="859120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0800000">
            <a:off x="14180105" y="6181594"/>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10800000">
            <a:off x="14960748" y="776013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6481741" y="265415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25853" y="2343714"/>
            <a:ext cx="2242059" cy="6914586"/>
          </a:xfrm>
          <a:custGeom>
            <a:avLst/>
            <a:gdLst/>
            <a:ahLst/>
            <a:cxnLst/>
            <a:rect r="r" b="b" t="t" l="l"/>
            <a:pathLst>
              <a:path h="6914586" w="2242059">
                <a:moveTo>
                  <a:pt x="0" y="0"/>
                </a:moveTo>
                <a:lnTo>
                  <a:pt x="2242059" y="0"/>
                </a:lnTo>
                <a:lnTo>
                  <a:pt x="2242059" y="6914586"/>
                </a:lnTo>
                <a:lnTo>
                  <a:pt x="0" y="6914586"/>
                </a:lnTo>
                <a:lnTo>
                  <a:pt x="0" y="0"/>
                </a:lnTo>
                <a:close/>
              </a:path>
            </a:pathLst>
          </a:custGeom>
          <a:blipFill>
            <a:blip r:embed="rId2"/>
            <a:stretch>
              <a:fillRect l="0" t="0" r="0" b="0"/>
            </a:stretch>
          </a:blipFill>
        </p:spPr>
      </p:sp>
      <p:sp>
        <p:nvSpPr>
          <p:cNvPr name="Freeform 6" id="6"/>
          <p:cNvSpPr/>
          <p:nvPr/>
        </p:nvSpPr>
        <p:spPr>
          <a:xfrm flipH="false" flipV="false" rot="0">
            <a:off x="3678730" y="2343714"/>
            <a:ext cx="9260307" cy="5741390"/>
          </a:xfrm>
          <a:custGeom>
            <a:avLst/>
            <a:gdLst/>
            <a:ahLst/>
            <a:cxnLst/>
            <a:rect r="r" b="b" t="t" l="l"/>
            <a:pathLst>
              <a:path h="5741390" w="9260307">
                <a:moveTo>
                  <a:pt x="0" y="0"/>
                </a:moveTo>
                <a:lnTo>
                  <a:pt x="9260307" y="0"/>
                </a:lnTo>
                <a:lnTo>
                  <a:pt x="9260307" y="5741391"/>
                </a:lnTo>
                <a:lnTo>
                  <a:pt x="0" y="5741391"/>
                </a:lnTo>
                <a:lnTo>
                  <a:pt x="0" y="0"/>
                </a:lnTo>
                <a:close/>
              </a:path>
            </a:pathLst>
          </a:custGeom>
          <a:blipFill>
            <a:blip r:embed="rId3"/>
            <a:stretch>
              <a:fillRect l="0" t="0" r="0" b="0"/>
            </a:stretch>
          </a:blipFill>
        </p:spPr>
      </p:sp>
      <p:sp>
        <p:nvSpPr>
          <p:cNvPr name="Freeform 7" id="7"/>
          <p:cNvSpPr/>
          <p:nvPr/>
        </p:nvSpPr>
        <p:spPr>
          <a:xfrm flipH="false" flipV="false" rot="0">
            <a:off x="13449854" y="2343714"/>
            <a:ext cx="4072612" cy="5321979"/>
          </a:xfrm>
          <a:custGeom>
            <a:avLst/>
            <a:gdLst/>
            <a:ahLst/>
            <a:cxnLst/>
            <a:rect r="r" b="b" t="t" l="l"/>
            <a:pathLst>
              <a:path h="5321979" w="4072612">
                <a:moveTo>
                  <a:pt x="0" y="0"/>
                </a:moveTo>
                <a:lnTo>
                  <a:pt x="4072612" y="0"/>
                </a:lnTo>
                <a:lnTo>
                  <a:pt x="4072612" y="5321980"/>
                </a:lnTo>
                <a:lnTo>
                  <a:pt x="0" y="5321980"/>
                </a:lnTo>
                <a:lnTo>
                  <a:pt x="0" y="0"/>
                </a:lnTo>
                <a:close/>
              </a:path>
            </a:pathLst>
          </a:custGeom>
          <a:blipFill>
            <a:blip r:embed="rId4"/>
            <a:stretch>
              <a:fillRect l="0" t="0" r="0" b="0"/>
            </a:stretch>
          </a:blipFill>
        </p:spPr>
      </p:sp>
      <p:sp>
        <p:nvSpPr>
          <p:cNvPr name="TextBox 8" id="8"/>
          <p:cNvSpPr txBox="true"/>
          <p:nvPr/>
        </p:nvSpPr>
        <p:spPr>
          <a:xfrm rot="0">
            <a:off x="2046883" y="246299"/>
            <a:ext cx="1394213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Evidencias de metodología aplicada</a:t>
            </a:r>
          </a:p>
        </p:txBody>
      </p:sp>
      <p:sp>
        <p:nvSpPr>
          <p:cNvPr name="TextBox 9" id="9"/>
          <p:cNvSpPr txBox="true"/>
          <p:nvPr/>
        </p:nvSpPr>
        <p:spPr>
          <a:xfrm rot="0">
            <a:off x="1046609" y="1882798"/>
            <a:ext cx="200054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Reuniones diarias</a:t>
            </a:r>
          </a:p>
        </p:txBody>
      </p:sp>
      <p:sp>
        <p:nvSpPr>
          <p:cNvPr name="TextBox 10" id="10"/>
          <p:cNvSpPr txBox="true"/>
          <p:nvPr/>
        </p:nvSpPr>
        <p:spPr>
          <a:xfrm rot="0">
            <a:off x="7342236" y="1882798"/>
            <a:ext cx="2359372"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To Do / Doing / Done</a:t>
            </a:r>
          </a:p>
        </p:txBody>
      </p:sp>
      <p:sp>
        <p:nvSpPr>
          <p:cNvPr name="TextBox 11" id="11"/>
          <p:cNvSpPr txBox="true"/>
          <p:nvPr/>
        </p:nvSpPr>
        <p:spPr>
          <a:xfrm rot="0">
            <a:off x="14875291" y="1882798"/>
            <a:ext cx="1525191"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Sprin</a:t>
            </a:r>
            <a:r>
              <a:rPr lang="en-US" sz="1899">
                <a:solidFill>
                  <a:srgbClr val="FFFFFF"/>
                </a:solidFill>
                <a:latin typeface="Open Sans"/>
                <a:ea typeface="Open Sans"/>
                <a:cs typeface="Open Sans"/>
                <a:sym typeface="Open Sans"/>
              </a:rPr>
              <a:t>t Review</a:t>
            </a:r>
          </a:p>
        </p:txBody>
      </p:sp>
      <p:sp>
        <p:nvSpPr>
          <p:cNvPr name="TextBox 12" id="12"/>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785395" y="2375122"/>
            <a:ext cx="6483430" cy="7441526"/>
          </a:xfrm>
          <a:custGeom>
            <a:avLst/>
            <a:gdLst/>
            <a:ahLst/>
            <a:cxnLst/>
            <a:rect r="r" b="b" t="t" l="l"/>
            <a:pathLst>
              <a:path h="7441526" w="6483430">
                <a:moveTo>
                  <a:pt x="0" y="0"/>
                </a:moveTo>
                <a:lnTo>
                  <a:pt x="6483429" y="0"/>
                </a:lnTo>
                <a:lnTo>
                  <a:pt x="6483429" y="7441526"/>
                </a:lnTo>
                <a:lnTo>
                  <a:pt x="0" y="7441526"/>
                </a:lnTo>
                <a:lnTo>
                  <a:pt x="0" y="0"/>
                </a:lnTo>
                <a:close/>
              </a:path>
            </a:pathLst>
          </a:custGeom>
          <a:blipFill>
            <a:blip r:embed="rId2"/>
            <a:stretch>
              <a:fillRect l="0" t="0" r="0" b="0"/>
            </a:stretch>
          </a:blipFill>
        </p:spPr>
      </p:sp>
      <p:sp>
        <p:nvSpPr>
          <p:cNvPr name="Freeform 6" id="6"/>
          <p:cNvSpPr/>
          <p:nvPr/>
        </p:nvSpPr>
        <p:spPr>
          <a:xfrm flipH="false" flipV="false" rot="0">
            <a:off x="898144" y="3238879"/>
            <a:ext cx="4414296" cy="5356850"/>
          </a:xfrm>
          <a:custGeom>
            <a:avLst/>
            <a:gdLst/>
            <a:ahLst/>
            <a:cxnLst/>
            <a:rect r="r" b="b" t="t" l="l"/>
            <a:pathLst>
              <a:path h="5356850" w="4414296">
                <a:moveTo>
                  <a:pt x="0" y="0"/>
                </a:moveTo>
                <a:lnTo>
                  <a:pt x="4414296" y="0"/>
                </a:lnTo>
                <a:lnTo>
                  <a:pt x="4414296" y="5356850"/>
                </a:lnTo>
                <a:lnTo>
                  <a:pt x="0" y="5356850"/>
                </a:lnTo>
                <a:lnTo>
                  <a:pt x="0" y="0"/>
                </a:lnTo>
                <a:close/>
              </a:path>
            </a:pathLst>
          </a:custGeom>
          <a:blipFill>
            <a:blip r:embed="rId3"/>
            <a:stretch>
              <a:fillRect l="0" t="0" r="0" b="0"/>
            </a:stretch>
          </a:blipFill>
        </p:spPr>
      </p:sp>
      <p:sp>
        <p:nvSpPr>
          <p:cNvPr name="Freeform 7" id="7"/>
          <p:cNvSpPr/>
          <p:nvPr/>
        </p:nvSpPr>
        <p:spPr>
          <a:xfrm flipH="false" flipV="false" rot="0">
            <a:off x="13286201" y="3238879"/>
            <a:ext cx="3973099" cy="5356850"/>
          </a:xfrm>
          <a:custGeom>
            <a:avLst/>
            <a:gdLst/>
            <a:ahLst/>
            <a:cxnLst/>
            <a:rect r="r" b="b" t="t" l="l"/>
            <a:pathLst>
              <a:path h="5356850" w="3973099">
                <a:moveTo>
                  <a:pt x="0" y="0"/>
                </a:moveTo>
                <a:lnTo>
                  <a:pt x="3973099" y="0"/>
                </a:lnTo>
                <a:lnTo>
                  <a:pt x="3973099" y="5356850"/>
                </a:lnTo>
                <a:lnTo>
                  <a:pt x="0" y="5356850"/>
                </a:lnTo>
                <a:lnTo>
                  <a:pt x="0" y="0"/>
                </a:lnTo>
                <a:close/>
              </a:path>
            </a:pathLst>
          </a:custGeom>
          <a:blipFill>
            <a:blip r:embed="rId4"/>
            <a:stretch>
              <a:fillRect l="0" t="0" r="0" b="-18669"/>
            </a:stretch>
          </a:blipFill>
        </p:spPr>
      </p:sp>
      <p:sp>
        <p:nvSpPr>
          <p:cNvPr name="TextBox 8" id="8"/>
          <p:cNvSpPr txBox="true"/>
          <p:nvPr/>
        </p:nvSpPr>
        <p:spPr>
          <a:xfrm rot="0">
            <a:off x="2703021" y="124918"/>
            <a:ext cx="1211075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Trabajo colaborativo en github</a:t>
            </a:r>
          </a:p>
        </p:txBody>
      </p:sp>
      <p:sp>
        <p:nvSpPr>
          <p:cNvPr name="TextBox 9" id="9"/>
          <p:cNvSpPr txBox="true"/>
          <p:nvPr/>
        </p:nvSpPr>
        <p:spPr>
          <a:xfrm rot="0">
            <a:off x="1421432" y="2777983"/>
            <a:ext cx="315530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Trabajo por ramas/modulos</a:t>
            </a:r>
          </a:p>
        </p:txBody>
      </p:sp>
      <p:sp>
        <p:nvSpPr>
          <p:cNvPr name="TextBox 10" id="10"/>
          <p:cNvSpPr txBox="true"/>
          <p:nvPr/>
        </p:nvSpPr>
        <p:spPr>
          <a:xfrm rot="0">
            <a:off x="14813772" y="2915664"/>
            <a:ext cx="1070967"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Commits </a:t>
            </a:r>
          </a:p>
        </p:txBody>
      </p:sp>
      <p:sp>
        <p:nvSpPr>
          <p:cNvPr name="TextBox 11" id="11"/>
          <p:cNvSpPr txBox="true"/>
          <p:nvPr/>
        </p:nvSpPr>
        <p:spPr>
          <a:xfrm rot="0">
            <a:off x="7901522" y="1943489"/>
            <a:ext cx="225117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Nuestra descripción</a:t>
            </a:r>
          </a:p>
        </p:txBody>
      </p:sp>
      <p:sp>
        <p:nvSpPr>
          <p:cNvPr name="TextBox 12" id="12"/>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870291" y="2404384"/>
            <a:ext cx="4726402" cy="3570738"/>
          </a:xfrm>
          <a:custGeom>
            <a:avLst/>
            <a:gdLst/>
            <a:ahLst/>
            <a:cxnLst/>
            <a:rect r="r" b="b" t="t" l="l"/>
            <a:pathLst>
              <a:path h="3570738" w="4726402">
                <a:moveTo>
                  <a:pt x="0" y="0"/>
                </a:moveTo>
                <a:lnTo>
                  <a:pt x="4726402" y="0"/>
                </a:lnTo>
                <a:lnTo>
                  <a:pt x="4726402" y="3570739"/>
                </a:lnTo>
                <a:lnTo>
                  <a:pt x="0" y="3570739"/>
                </a:lnTo>
                <a:lnTo>
                  <a:pt x="0" y="0"/>
                </a:lnTo>
                <a:close/>
              </a:path>
            </a:pathLst>
          </a:custGeom>
          <a:blipFill>
            <a:blip r:embed="rId2"/>
            <a:stretch>
              <a:fillRect l="0" t="0" r="-122202" b="0"/>
            </a:stretch>
          </a:blipFill>
        </p:spPr>
      </p:sp>
      <p:sp>
        <p:nvSpPr>
          <p:cNvPr name="Freeform 6" id="6"/>
          <p:cNvSpPr/>
          <p:nvPr/>
        </p:nvSpPr>
        <p:spPr>
          <a:xfrm flipH="false" flipV="false" rot="0">
            <a:off x="11591406" y="2538287"/>
            <a:ext cx="6444732" cy="6919095"/>
          </a:xfrm>
          <a:custGeom>
            <a:avLst/>
            <a:gdLst/>
            <a:ahLst/>
            <a:cxnLst/>
            <a:rect r="r" b="b" t="t" l="l"/>
            <a:pathLst>
              <a:path h="6919095" w="6444732">
                <a:moveTo>
                  <a:pt x="0" y="0"/>
                </a:moveTo>
                <a:lnTo>
                  <a:pt x="6444732" y="0"/>
                </a:lnTo>
                <a:lnTo>
                  <a:pt x="6444732" y="6919095"/>
                </a:lnTo>
                <a:lnTo>
                  <a:pt x="0" y="6919095"/>
                </a:lnTo>
                <a:lnTo>
                  <a:pt x="0" y="0"/>
                </a:lnTo>
                <a:close/>
              </a:path>
            </a:pathLst>
          </a:custGeom>
          <a:blipFill>
            <a:blip r:embed="rId3"/>
            <a:stretch>
              <a:fillRect l="0" t="0" r="-93442" b="0"/>
            </a:stretch>
          </a:blipFill>
        </p:spPr>
      </p:sp>
      <p:sp>
        <p:nvSpPr>
          <p:cNvPr name="Freeform 7" id="7"/>
          <p:cNvSpPr/>
          <p:nvPr/>
        </p:nvSpPr>
        <p:spPr>
          <a:xfrm flipH="false" flipV="false" rot="0">
            <a:off x="677846" y="2404384"/>
            <a:ext cx="4665945" cy="5730961"/>
          </a:xfrm>
          <a:custGeom>
            <a:avLst/>
            <a:gdLst/>
            <a:ahLst/>
            <a:cxnLst/>
            <a:rect r="r" b="b" t="t" l="l"/>
            <a:pathLst>
              <a:path h="5730961" w="4665945">
                <a:moveTo>
                  <a:pt x="0" y="0"/>
                </a:moveTo>
                <a:lnTo>
                  <a:pt x="4665945" y="0"/>
                </a:lnTo>
                <a:lnTo>
                  <a:pt x="4665945" y="5730961"/>
                </a:lnTo>
                <a:lnTo>
                  <a:pt x="0" y="5730961"/>
                </a:lnTo>
                <a:lnTo>
                  <a:pt x="0" y="0"/>
                </a:lnTo>
                <a:close/>
              </a:path>
            </a:pathLst>
          </a:custGeom>
          <a:blipFill>
            <a:blip r:embed="rId4"/>
            <a:stretch>
              <a:fillRect l="0" t="0" r="-122308" b="0"/>
            </a:stretch>
          </a:blipFill>
        </p:spPr>
      </p:sp>
      <p:sp>
        <p:nvSpPr>
          <p:cNvPr name="Freeform 8" id="8"/>
          <p:cNvSpPr/>
          <p:nvPr/>
        </p:nvSpPr>
        <p:spPr>
          <a:xfrm flipH="false" flipV="false" rot="0">
            <a:off x="5870291" y="6108473"/>
            <a:ext cx="4726402" cy="4031975"/>
          </a:xfrm>
          <a:custGeom>
            <a:avLst/>
            <a:gdLst/>
            <a:ahLst/>
            <a:cxnLst/>
            <a:rect r="r" b="b" t="t" l="l"/>
            <a:pathLst>
              <a:path h="4031975" w="4726402">
                <a:moveTo>
                  <a:pt x="0" y="0"/>
                </a:moveTo>
                <a:lnTo>
                  <a:pt x="4726402" y="0"/>
                </a:lnTo>
                <a:lnTo>
                  <a:pt x="4726402" y="4031975"/>
                </a:lnTo>
                <a:lnTo>
                  <a:pt x="0" y="4031975"/>
                </a:lnTo>
                <a:lnTo>
                  <a:pt x="0" y="0"/>
                </a:lnTo>
                <a:close/>
              </a:path>
            </a:pathLst>
          </a:custGeom>
          <a:blipFill>
            <a:blip r:embed="rId5"/>
            <a:stretch>
              <a:fillRect l="-231" t="-228" r="0" b="-228"/>
            </a:stretch>
          </a:blipFill>
        </p:spPr>
      </p:sp>
      <p:sp>
        <p:nvSpPr>
          <p:cNvPr name="TextBox 9" id="9"/>
          <p:cNvSpPr txBox="true"/>
          <p:nvPr/>
        </p:nvSpPr>
        <p:spPr>
          <a:xfrm rot="0">
            <a:off x="2017566" y="124918"/>
            <a:ext cx="13481662"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Trabajo en equipo en github y local</a:t>
            </a:r>
          </a:p>
        </p:txBody>
      </p:sp>
      <p:sp>
        <p:nvSpPr>
          <p:cNvPr name="TextBox 10" id="10"/>
          <p:cNvSpPr txBox="true"/>
          <p:nvPr/>
        </p:nvSpPr>
        <p:spPr>
          <a:xfrm rot="0">
            <a:off x="2021798" y="1943489"/>
            <a:ext cx="1746052"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Felipe Huencho</a:t>
            </a:r>
          </a:p>
        </p:txBody>
      </p:sp>
      <p:sp>
        <p:nvSpPr>
          <p:cNvPr name="TextBox 11" id="11"/>
          <p:cNvSpPr txBox="true"/>
          <p:nvPr/>
        </p:nvSpPr>
        <p:spPr>
          <a:xfrm rot="0">
            <a:off x="13914083" y="2086046"/>
            <a:ext cx="1830139"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Kevin Cartagena</a:t>
            </a:r>
          </a:p>
        </p:txBody>
      </p:sp>
      <p:sp>
        <p:nvSpPr>
          <p:cNvPr name="TextBox 12" id="12"/>
          <p:cNvSpPr txBox="true"/>
          <p:nvPr/>
        </p:nvSpPr>
        <p:spPr>
          <a:xfrm rot="0">
            <a:off x="7436803" y="1943489"/>
            <a:ext cx="132159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Willy Castro</a:t>
            </a:r>
          </a:p>
        </p:txBody>
      </p:sp>
      <p:sp>
        <p:nvSpPr>
          <p:cNvPr name="TextBox 13" id="13"/>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48832" y="2946434"/>
            <a:ext cx="7195944" cy="4371536"/>
          </a:xfrm>
          <a:custGeom>
            <a:avLst/>
            <a:gdLst/>
            <a:ahLst/>
            <a:cxnLst/>
            <a:rect r="r" b="b" t="t" l="l"/>
            <a:pathLst>
              <a:path h="4371536" w="7195944">
                <a:moveTo>
                  <a:pt x="0" y="0"/>
                </a:moveTo>
                <a:lnTo>
                  <a:pt x="7195945" y="0"/>
                </a:lnTo>
                <a:lnTo>
                  <a:pt x="7195945" y="4371536"/>
                </a:lnTo>
                <a:lnTo>
                  <a:pt x="0" y="4371536"/>
                </a:lnTo>
                <a:lnTo>
                  <a:pt x="0" y="0"/>
                </a:lnTo>
                <a:close/>
              </a:path>
            </a:pathLst>
          </a:custGeom>
          <a:blipFill>
            <a:blip r:embed="rId2"/>
            <a:stretch>
              <a:fillRect l="0" t="0" r="0" b="0"/>
            </a:stretch>
          </a:blipFill>
        </p:spPr>
      </p:sp>
      <p:sp>
        <p:nvSpPr>
          <p:cNvPr name="Freeform 6" id="6"/>
          <p:cNvSpPr/>
          <p:nvPr/>
        </p:nvSpPr>
        <p:spPr>
          <a:xfrm flipH="false" flipV="false" rot="0">
            <a:off x="9487680" y="2946434"/>
            <a:ext cx="7771620" cy="4371536"/>
          </a:xfrm>
          <a:custGeom>
            <a:avLst/>
            <a:gdLst/>
            <a:ahLst/>
            <a:cxnLst/>
            <a:rect r="r" b="b" t="t" l="l"/>
            <a:pathLst>
              <a:path h="4371536" w="7771620">
                <a:moveTo>
                  <a:pt x="0" y="0"/>
                </a:moveTo>
                <a:lnTo>
                  <a:pt x="7771620" y="0"/>
                </a:lnTo>
                <a:lnTo>
                  <a:pt x="7771620" y="4371536"/>
                </a:lnTo>
                <a:lnTo>
                  <a:pt x="0" y="4371536"/>
                </a:lnTo>
                <a:lnTo>
                  <a:pt x="0" y="0"/>
                </a:lnTo>
                <a:close/>
              </a:path>
            </a:pathLst>
          </a:custGeom>
          <a:blipFill>
            <a:blip r:embed="rId3"/>
            <a:stretch>
              <a:fillRect l="0" t="0" r="0" b="0"/>
            </a:stretch>
          </a:blipFill>
        </p:spPr>
      </p:sp>
      <p:sp>
        <p:nvSpPr>
          <p:cNvPr name="Freeform 7" id="7"/>
          <p:cNvSpPr/>
          <p:nvPr/>
        </p:nvSpPr>
        <p:spPr>
          <a:xfrm flipH="false" flipV="false" rot="0">
            <a:off x="7087679" y="7561214"/>
            <a:ext cx="4112643" cy="2367039"/>
          </a:xfrm>
          <a:custGeom>
            <a:avLst/>
            <a:gdLst/>
            <a:ahLst/>
            <a:cxnLst/>
            <a:rect r="r" b="b" t="t" l="l"/>
            <a:pathLst>
              <a:path h="2367039" w="4112643">
                <a:moveTo>
                  <a:pt x="0" y="0"/>
                </a:moveTo>
                <a:lnTo>
                  <a:pt x="4112642" y="0"/>
                </a:lnTo>
                <a:lnTo>
                  <a:pt x="4112642" y="2367039"/>
                </a:lnTo>
                <a:lnTo>
                  <a:pt x="0" y="2367039"/>
                </a:lnTo>
                <a:lnTo>
                  <a:pt x="0" y="0"/>
                </a:lnTo>
                <a:close/>
              </a:path>
            </a:pathLst>
          </a:custGeom>
          <a:blipFill>
            <a:blip r:embed="rId4"/>
            <a:stretch>
              <a:fillRect l="0" t="0" r="0" b="0"/>
            </a:stretch>
          </a:blipFill>
        </p:spPr>
      </p:sp>
      <p:sp>
        <p:nvSpPr>
          <p:cNvPr name="TextBox 8" id="8"/>
          <p:cNvSpPr txBox="true"/>
          <p:nvPr/>
        </p:nvSpPr>
        <p:spPr>
          <a:xfrm rot="0">
            <a:off x="4099470" y="124918"/>
            <a:ext cx="9317854"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Reuniones con el cliente</a:t>
            </a:r>
          </a:p>
        </p:txBody>
      </p:sp>
      <p:sp>
        <p:nvSpPr>
          <p:cNvPr name="TextBox 9" id="9"/>
          <p:cNvSpPr txBox="true"/>
          <p:nvPr/>
        </p:nvSpPr>
        <p:spPr>
          <a:xfrm rot="0">
            <a:off x="267671" y="9417420"/>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181919" y="2556136"/>
            <a:ext cx="12942358" cy="6357934"/>
          </a:xfrm>
          <a:custGeom>
            <a:avLst/>
            <a:gdLst/>
            <a:ahLst/>
            <a:cxnLst/>
            <a:rect r="r" b="b" t="t" l="l"/>
            <a:pathLst>
              <a:path h="6357934" w="12942358">
                <a:moveTo>
                  <a:pt x="0" y="0"/>
                </a:moveTo>
                <a:lnTo>
                  <a:pt x="12942358" y="0"/>
                </a:lnTo>
                <a:lnTo>
                  <a:pt x="12942358" y="6357933"/>
                </a:lnTo>
                <a:lnTo>
                  <a:pt x="0" y="6357933"/>
                </a:lnTo>
                <a:lnTo>
                  <a:pt x="0" y="0"/>
                </a:lnTo>
                <a:close/>
              </a:path>
            </a:pathLst>
          </a:custGeom>
          <a:blipFill>
            <a:blip r:embed="rId2"/>
            <a:stretch>
              <a:fillRect l="0" t="0" r="0" b="0"/>
            </a:stretch>
          </a:blipFill>
        </p:spPr>
      </p:sp>
      <p:sp>
        <p:nvSpPr>
          <p:cNvPr name="TextBox 6" id="6"/>
          <p:cNvSpPr txBox="true"/>
          <p:nvPr/>
        </p:nvSpPr>
        <p:spPr>
          <a:xfrm rot="0">
            <a:off x="2565237" y="124918"/>
            <a:ext cx="1238632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EVIDENCIAS DEL DESARROLLO</a:t>
            </a:r>
          </a:p>
        </p:txBody>
      </p:sp>
      <p:sp>
        <p:nvSpPr>
          <p:cNvPr name="TextBox 7" id="7"/>
          <p:cNvSpPr txBox="true"/>
          <p:nvPr/>
        </p:nvSpPr>
        <p:spPr>
          <a:xfrm rot="0">
            <a:off x="185957" y="9163050"/>
            <a:ext cx="250782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Login</a:t>
            </a:r>
          </a:p>
        </p:txBody>
      </p:sp>
      <p:sp>
        <p:nvSpPr>
          <p:cNvPr name="TextBox 8" id="8"/>
          <p:cNvSpPr txBox="true"/>
          <p:nvPr/>
        </p:nvSpPr>
        <p:spPr>
          <a:xfrm rot="0">
            <a:off x="2359338" y="8935085"/>
            <a:ext cx="1294235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El login donde los distintos tipos de usuarios </a:t>
            </a:r>
          </a:p>
        </p:txBody>
      </p:sp>
      <p:sp>
        <p:nvSpPr>
          <p:cNvPr name="TextBox 9" id="9"/>
          <p:cNvSpPr txBox="true"/>
          <p:nvPr/>
        </p:nvSpPr>
        <p:spPr>
          <a:xfrm rot="0">
            <a:off x="15858543" y="9330161"/>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53626" y="2126509"/>
            <a:ext cx="7525652" cy="3715791"/>
          </a:xfrm>
          <a:custGeom>
            <a:avLst/>
            <a:gdLst/>
            <a:ahLst/>
            <a:cxnLst/>
            <a:rect r="r" b="b" t="t" l="l"/>
            <a:pathLst>
              <a:path h="3715791" w="7525652">
                <a:moveTo>
                  <a:pt x="0" y="0"/>
                </a:moveTo>
                <a:lnTo>
                  <a:pt x="7525652" y="0"/>
                </a:lnTo>
                <a:lnTo>
                  <a:pt x="7525652" y="3715791"/>
                </a:lnTo>
                <a:lnTo>
                  <a:pt x="0" y="3715791"/>
                </a:lnTo>
                <a:lnTo>
                  <a:pt x="0" y="0"/>
                </a:lnTo>
                <a:close/>
              </a:path>
            </a:pathLst>
          </a:custGeom>
          <a:blipFill>
            <a:blip r:embed="rId2"/>
            <a:stretch>
              <a:fillRect l="0" t="0" r="0" b="0"/>
            </a:stretch>
          </a:blipFill>
        </p:spPr>
      </p:sp>
      <p:sp>
        <p:nvSpPr>
          <p:cNvPr name="Freeform 6" id="6"/>
          <p:cNvSpPr/>
          <p:nvPr/>
        </p:nvSpPr>
        <p:spPr>
          <a:xfrm flipH="false" flipV="false" rot="0">
            <a:off x="8479278" y="2126509"/>
            <a:ext cx="7647903" cy="3715791"/>
          </a:xfrm>
          <a:custGeom>
            <a:avLst/>
            <a:gdLst/>
            <a:ahLst/>
            <a:cxnLst/>
            <a:rect r="r" b="b" t="t" l="l"/>
            <a:pathLst>
              <a:path h="3715791" w="7647903">
                <a:moveTo>
                  <a:pt x="0" y="0"/>
                </a:moveTo>
                <a:lnTo>
                  <a:pt x="7647903" y="0"/>
                </a:lnTo>
                <a:lnTo>
                  <a:pt x="7647903" y="3715791"/>
                </a:lnTo>
                <a:lnTo>
                  <a:pt x="0" y="3715791"/>
                </a:lnTo>
                <a:lnTo>
                  <a:pt x="0" y="0"/>
                </a:lnTo>
                <a:close/>
              </a:path>
            </a:pathLst>
          </a:custGeom>
          <a:blipFill>
            <a:blip r:embed="rId3"/>
            <a:stretch>
              <a:fillRect l="0" t="0" r="0" b="-2396"/>
            </a:stretch>
          </a:blipFill>
        </p:spPr>
      </p:sp>
      <p:sp>
        <p:nvSpPr>
          <p:cNvPr name="Freeform 7" id="7"/>
          <p:cNvSpPr/>
          <p:nvPr/>
        </p:nvSpPr>
        <p:spPr>
          <a:xfrm flipH="false" flipV="false" rot="0">
            <a:off x="5893466" y="5937550"/>
            <a:ext cx="5729861" cy="4039552"/>
          </a:xfrm>
          <a:custGeom>
            <a:avLst/>
            <a:gdLst/>
            <a:ahLst/>
            <a:cxnLst/>
            <a:rect r="r" b="b" t="t" l="l"/>
            <a:pathLst>
              <a:path h="4039552" w="5729861">
                <a:moveTo>
                  <a:pt x="0" y="0"/>
                </a:moveTo>
                <a:lnTo>
                  <a:pt x="5729861" y="0"/>
                </a:lnTo>
                <a:lnTo>
                  <a:pt x="5729861" y="4039552"/>
                </a:lnTo>
                <a:lnTo>
                  <a:pt x="0" y="4039552"/>
                </a:lnTo>
                <a:lnTo>
                  <a:pt x="0" y="0"/>
                </a:lnTo>
                <a:close/>
              </a:path>
            </a:pathLst>
          </a:custGeom>
          <a:blipFill>
            <a:blip r:embed="rId4"/>
            <a:stretch>
              <a:fillRect l="0" t="0" r="0" b="0"/>
            </a:stretch>
          </a:blipFill>
        </p:spPr>
      </p:sp>
      <p:sp>
        <p:nvSpPr>
          <p:cNvPr name="TextBox 8" id="8"/>
          <p:cNvSpPr txBox="true"/>
          <p:nvPr/>
        </p:nvSpPr>
        <p:spPr>
          <a:xfrm rot="0">
            <a:off x="2565237" y="124918"/>
            <a:ext cx="1238632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EVIDENCIAS DEL DESARROLLO</a:t>
            </a:r>
          </a:p>
        </p:txBody>
      </p:sp>
      <p:sp>
        <p:nvSpPr>
          <p:cNvPr name="TextBox 9" id="9"/>
          <p:cNvSpPr txBox="true"/>
          <p:nvPr/>
        </p:nvSpPr>
        <p:spPr>
          <a:xfrm rot="0">
            <a:off x="177249" y="9260526"/>
            <a:ext cx="4916598" cy="570196"/>
          </a:xfrm>
          <a:prstGeom prst="rect">
            <a:avLst/>
          </a:prstGeom>
        </p:spPr>
        <p:txBody>
          <a:bodyPr anchor="t" rtlCol="false" tIns="0" lIns="0" bIns="0" rIns="0">
            <a:spAutoFit/>
          </a:bodyPr>
          <a:lstStyle/>
          <a:p>
            <a:pPr algn="ctr">
              <a:lnSpc>
                <a:spcPts val="4629"/>
              </a:lnSpc>
            </a:pPr>
            <a:r>
              <a:rPr lang="en-US" sz="3306" b="true">
                <a:solidFill>
                  <a:srgbClr val="FFFFFF"/>
                </a:solidFill>
                <a:latin typeface="Open Sans Bold"/>
                <a:ea typeface="Open Sans Bold"/>
                <a:cs typeface="Open Sans Bold"/>
                <a:sym typeface="Open Sans Bold"/>
              </a:rPr>
              <a:t>Panel de administrador</a:t>
            </a:r>
          </a:p>
        </p:txBody>
      </p:sp>
      <p:sp>
        <p:nvSpPr>
          <p:cNvPr name="TextBox 10" id="10"/>
          <p:cNvSpPr txBox="true"/>
          <p:nvPr/>
        </p:nvSpPr>
        <p:spPr>
          <a:xfrm rot="0">
            <a:off x="1564547" y="1753026"/>
            <a:ext cx="6303810" cy="274660"/>
          </a:xfrm>
          <a:prstGeom prst="rect">
            <a:avLst/>
          </a:prstGeom>
        </p:spPr>
        <p:txBody>
          <a:bodyPr anchor="t" rtlCol="false" tIns="0" lIns="0" bIns="0" rIns="0">
            <a:spAutoFit/>
          </a:bodyPr>
          <a:lstStyle/>
          <a:p>
            <a:pPr algn="ctr">
              <a:lnSpc>
                <a:spcPts val="2206"/>
              </a:lnSpc>
              <a:spcBef>
                <a:spcPct val="0"/>
              </a:spcBef>
            </a:pPr>
            <a:r>
              <a:rPr lang="en-US" sz="1576">
                <a:solidFill>
                  <a:srgbClr val="FFFFFF"/>
                </a:solidFill>
                <a:latin typeface="Open Sans"/>
                <a:ea typeface="Open Sans"/>
                <a:cs typeface="Open Sans"/>
                <a:sym typeface="Open Sans"/>
              </a:rPr>
              <a:t>Vista del administrador en su dashboard en modo normal</a:t>
            </a:r>
          </a:p>
        </p:txBody>
      </p:sp>
      <p:sp>
        <p:nvSpPr>
          <p:cNvPr name="TextBox 11" id="11"/>
          <p:cNvSpPr txBox="true"/>
          <p:nvPr/>
        </p:nvSpPr>
        <p:spPr>
          <a:xfrm rot="0">
            <a:off x="9345623" y="1753026"/>
            <a:ext cx="6303810" cy="274660"/>
          </a:xfrm>
          <a:prstGeom prst="rect">
            <a:avLst/>
          </a:prstGeom>
        </p:spPr>
        <p:txBody>
          <a:bodyPr anchor="t" rtlCol="false" tIns="0" lIns="0" bIns="0" rIns="0">
            <a:spAutoFit/>
          </a:bodyPr>
          <a:lstStyle/>
          <a:p>
            <a:pPr algn="ctr">
              <a:lnSpc>
                <a:spcPts val="2206"/>
              </a:lnSpc>
              <a:spcBef>
                <a:spcPct val="0"/>
              </a:spcBef>
            </a:pPr>
            <a:r>
              <a:rPr lang="en-US" sz="1576">
                <a:solidFill>
                  <a:srgbClr val="FFFFFF"/>
                </a:solidFill>
                <a:latin typeface="Open Sans"/>
                <a:ea typeface="Open Sans"/>
                <a:cs typeface="Open Sans"/>
                <a:sym typeface="Open Sans"/>
              </a:rPr>
              <a:t>Vista del administrador en su dashboard en modo Oscuro</a:t>
            </a:r>
          </a:p>
        </p:txBody>
      </p:sp>
      <p:sp>
        <p:nvSpPr>
          <p:cNvPr name="TextBox 12" id="12"/>
          <p:cNvSpPr txBox="true"/>
          <p:nvPr/>
        </p:nvSpPr>
        <p:spPr>
          <a:xfrm rot="0">
            <a:off x="11890010" y="7634111"/>
            <a:ext cx="195957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Listado de cursos</a:t>
            </a:r>
          </a:p>
        </p:txBody>
      </p:sp>
      <p:sp>
        <p:nvSpPr>
          <p:cNvPr name="TextBox 13" id="13"/>
          <p:cNvSpPr txBox="true"/>
          <p:nvPr/>
        </p:nvSpPr>
        <p:spPr>
          <a:xfrm rot="0">
            <a:off x="15858543" y="9330161"/>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28575"/>
              <a:ext cx="4816593" cy="2731957"/>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4517452" y="2508743"/>
            <a:ext cx="8783930" cy="4337065"/>
          </a:xfrm>
          <a:custGeom>
            <a:avLst/>
            <a:gdLst/>
            <a:ahLst/>
            <a:cxnLst/>
            <a:rect r="r" b="b" t="t" l="l"/>
            <a:pathLst>
              <a:path h="4337065" w="8783930">
                <a:moveTo>
                  <a:pt x="0" y="0"/>
                </a:moveTo>
                <a:lnTo>
                  <a:pt x="8783930" y="0"/>
                </a:lnTo>
                <a:lnTo>
                  <a:pt x="8783930" y="4337066"/>
                </a:lnTo>
                <a:lnTo>
                  <a:pt x="0" y="4337066"/>
                </a:lnTo>
                <a:lnTo>
                  <a:pt x="0" y="0"/>
                </a:lnTo>
                <a:close/>
              </a:path>
            </a:pathLst>
          </a:custGeom>
          <a:blipFill>
            <a:blip r:embed="rId2"/>
            <a:stretch>
              <a:fillRect l="0" t="0" r="0" b="0"/>
            </a:stretch>
          </a:blipFill>
        </p:spPr>
      </p:sp>
      <p:sp>
        <p:nvSpPr>
          <p:cNvPr name="Freeform 6" id="6"/>
          <p:cNvSpPr/>
          <p:nvPr/>
        </p:nvSpPr>
        <p:spPr>
          <a:xfrm flipH="false" flipV="false" rot="0">
            <a:off x="407429" y="2508743"/>
            <a:ext cx="2995717" cy="6356958"/>
          </a:xfrm>
          <a:custGeom>
            <a:avLst/>
            <a:gdLst/>
            <a:ahLst/>
            <a:cxnLst/>
            <a:rect r="r" b="b" t="t" l="l"/>
            <a:pathLst>
              <a:path h="6356958" w="2995717">
                <a:moveTo>
                  <a:pt x="0" y="0"/>
                </a:moveTo>
                <a:lnTo>
                  <a:pt x="2995717" y="0"/>
                </a:lnTo>
                <a:lnTo>
                  <a:pt x="2995717" y="6356958"/>
                </a:lnTo>
                <a:lnTo>
                  <a:pt x="0" y="6356958"/>
                </a:lnTo>
                <a:lnTo>
                  <a:pt x="0" y="0"/>
                </a:lnTo>
                <a:close/>
              </a:path>
            </a:pathLst>
          </a:custGeom>
          <a:blipFill>
            <a:blip r:embed="rId3"/>
            <a:stretch>
              <a:fillRect l="0" t="0" r="0" b="0"/>
            </a:stretch>
          </a:blipFill>
        </p:spPr>
      </p:sp>
      <p:sp>
        <p:nvSpPr>
          <p:cNvPr name="Freeform 7" id="7"/>
          <p:cNvSpPr/>
          <p:nvPr/>
        </p:nvSpPr>
        <p:spPr>
          <a:xfrm flipH="false" flipV="false" rot="0">
            <a:off x="14415807" y="2508743"/>
            <a:ext cx="3051340" cy="6356958"/>
          </a:xfrm>
          <a:custGeom>
            <a:avLst/>
            <a:gdLst/>
            <a:ahLst/>
            <a:cxnLst/>
            <a:rect r="r" b="b" t="t" l="l"/>
            <a:pathLst>
              <a:path h="6356958" w="3051340">
                <a:moveTo>
                  <a:pt x="0" y="0"/>
                </a:moveTo>
                <a:lnTo>
                  <a:pt x="3051340" y="0"/>
                </a:lnTo>
                <a:lnTo>
                  <a:pt x="3051340" y="6356958"/>
                </a:lnTo>
                <a:lnTo>
                  <a:pt x="0" y="6356958"/>
                </a:lnTo>
                <a:lnTo>
                  <a:pt x="0" y="0"/>
                </a:lnTo>
                <a:close/>
              </a:path>
            </a:pathLst>
          </a:custGeom>
          <a:blipFill>
            <a:blip r:embed="rId4"/>
            <a:stretch>
              <a:fillRect l="0" t="0" r="0" b="0"/>
            </a:stretch>
          </a:blipFill>
        </p:spPr>
      </p:sp>
      <p:sp>
        <p:nvSpPr>
          <p:cNvPr name="Freeform 8" id="8"/>
          <p:cNvSpPr/>
          <p:nvPr/>
        </p:nvSpPr>
        <p:spPr>
          <a:xfrm flipH="false" flipV="false" rot="0">
            <a:off x="6464946" y="6979159"/>
            <a:ext cx="6181980" cy="3044625"/>
          </a:xfrm>
          <a:custGeom>
            <a:avLst/>
            <a:gdLst/>
            <a:ahLst/>
            <a:cxnLst/>
            <a:rect r="r" b="b" t="t" l="l"/>
            <a:pathLst>
              <a:path h="3044625" w="6181980">
                <a:moveTo>
                  <a:pt x="0" y="0"/>
                </a:moveTo>
                <a:lnTo>
                  <a:pt x="6181980" y="0"/>
                </a:lnTo>
                <a:lnTo>
                  <a:pt x="6181980" y="3044625"/>
                </a:lnTo>
                <a:lnTo>
                  <a:pt x="0" y="3044625"/>
                </a:lnTo>
                <a:lnTo>
                  <a:pt x="0" y="0"/>
                </a:lnTo>
                <a:close/>
              </a:path>
            </a:pathLst>
          </a:custGeom>
          <a:blipFill>
            <a:blip r:embed="rId5"/>
            <a:stretch>
              <a:fillRect l="0" t="0" r="0" b="0"/>
            </a:stretch>
          </a:blipFill>
        </p:spPr>
      </p:sp>
      <p:sp>
        <p:nvSpPr>
          <p:cNvPr name="TextBox 9" id="9"/>
          <p:cNvSpPr txBox="true"/>
          <p:nvPr/>
        </p:nvSpPr>
        <p:spPr>
          <a:xfrm rot="0">
            <a:off x="2565237" y="124918"/>
            <a:ext cx="1238632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EVIDENCIAS DEL DESARROLLO</a:t>
            </a:r>
          </a:p>
        </p:txBody>
      </p:sp>
      <p:sp>
        <p:nvSpPr>
          <p:cNvPr name="TextBox 10" id="10"/>
          <p:cNvSpPr txBox="true"/>
          <p:nvPr/>
        </p:nvSpPr>
        <p:spPr>
          <a:xfrm rot="0">
            <a:off x="177249" y="9241476"/>
            <a:ext cx="4518816" cy="698055"/>
          </a:xfrm>
          <a:prstGeom prst="rect">
            <a:avLst/>
          </a:prstGeom>
        </p:spPr>
        <p:txBody>
          <a:bodyPr anchor="t" rtlCol="false" tIns="0" lIns="0" bIns="0" rIns="0">
            <a:spAutoFit/>
          </a:bodyPr>
          <a:lstStyle/>
          <a:p>
            <a:pPr algn="ctr">
              <a:lnSpc>
                <a:spcPts val="5629"/>
              </a:lnSpc>
            </a:pPr>
            <a:r>
              <a:rPr lang="en-US" sz="4021" b="true">
                <a:solidFill>
                  <a:srgbClr val="FFFFFF"/>
                </a:solidFill>
                <a:latin typeface="Open Sans Bold"/>
                <a:ea typeface="Open Sans Bold"/>
                <a:cs typeface="Open Sans Bold"/>
                <a:sym typeface="Open Sans Bold"/>
              </a:rPr>
              <a:t>Panel de alumnos</a:t>
            </a:r>
          </a:p>
        </p:txBody>
      </p:sp>
      <p:sp>
        <p:nvSpPr>
          <p:cNvPr name="TextBox 11" id="11"/>
          <p:cNvSpPr txBox="true"/>
          <p:nvPr/>
        </p:nvSpPr>
        <p:spPr>
          <a:xfrm rot="0">
            <a:off x="407429" y="2052420"/>
            <a:ext cx="3051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Modulo en celular</a:t>
            </a:r>
          </a:p>
        </p:txBody>
      </p:sp>
      <p:sp>
        <p:nvSpPr>
          <p:cNvPr name="TextBox 12" id="12"/>
          <p:cNvSpPr txBox="true"/>
          <p:nvPr/>
        </p:nvSpPr>
        <p:spPr>
          <a:xfrm rot="0">
            <a:off x="7523518" y="2052420"/>
            <a:ext cx="3051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Modulo en pc</a:t>
            </a:r>
          </a:p>
        </p:txBody>
      </p:sp>
      <p:sp>
        <p:nvSpPr>
          <p:cNvPr name="TextBox 13" id="13"/>
          <p:cNvSpPr txBox="true"/>
          <p:nvPr/>
        </p:nvSpPr>
        <p:spPr>
          <a:xfrm rot="0">
            <a:off x="14415807" y="2052420"/>
            <a:ext cx="3051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ns"/>
                <a:ea typeface="Open Sans"/>
                <a:cs typeface="Open Sans"/>
                <a:sym typeface="Open Sans"/>
              </a:rPr>
              <a:t>calendario en celular</a:t>
            </a:r>
          </a:p>
        </p:txBody>
      </p:sp>
      <p:sp>
        <p:nvSpPr>
          <p:cNvPr name="TextBox 14" id="14"/>
          <p:cNvSpPr txBox="true"/>
          <p:nvPr/>
        </p:nvSpPr>
        <p:spPr>
          <a:xfrm rot="0">
            <a:off x="15858543" y="9330161"/>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28575"/>
              <a:ext cx="4816593" cy="2731957"/>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5003688" y="1753846"/>
            <a:ext cx="7985790" cy="1986465"/>
          </a:xfrm>
          <a:custGeom>
            <a:avLst/>
            <a:gdLst/>
            <a:ahLst/>
            <a:cxnLst/>
            <a:rect r="r" b="b" t="t" l="l"/>
            <a:pathLst>
              <a:path h="1986465" w="7985790">
                <a:moveTo>
                  <a:pt x="0" y="0"/>
                </a:moveTo>
                <a:lnTo>
                  <a:pt x="7985790" y="0"/>
                </a:lnTo>
                <a:lnTo>
                  <a:pt x="7985790" y="1986465"/>
                </a:lnTo>
                <a:lnTo>
                  <a:pt x="0" y="1986465"/>
                </a:lnTo>
                <a:lnTo>
                  <a:pt x="0" y="0"/>
                </a:lnTo>
                <a:close/>
              </a:path>
            </a:pathLst>
          </a:custGeom>
          <a:blipFill>
            <a:blip r:embed="rId2"/>
            <a:stretch>
              <a:fillRect l="0" t="0" r="0" b="0"/>
            </a:stretch>
          </a:blipFill>
        </p:spPr>
      </p:sp>
      <p:sp>
        <p:nvSpPr>
          <p:cNvPr name="Freeform 6" id="6"/>
          <p:cNvSpPr/>
          <p:nvPr/>
        </p:nvSpPr>
        <p:spPr>
          <a:xfrm flipH="false" flipV="false" rot="0">
            <a:off x="5003688" y="3740311"/>
            <a:ext cx="7985790" cy="5440319"/>
          </a:xfrm>
          <a:custGeom>
            <a:avLst/>
            <a:gdLst/>
            <a:ahLst/>
            <a:cxnLst/>
            <a:rect r="r" b="b" t="t" l="l"/>
            <a:pathLst>
              <a:path h="5440319" w="7985790">
                <a:moveTo>
                  <a:pt x="0" y="0"/>
                </a:moveTo>
                <a:lnTo>
                  <a:pt x="7985790" y="0"/>
                </a:lnTo>
                <a:lnTo>
                  <a:pt x="7985790" y="5440319"/>
                </a:lnTo>
                <a:lnTo>
                  <a:pt x="0" y="5440319"/>
                </a:lnTo>
                <a:lnTo>
                  <a:pt x="0" y="0"/>
                </a:lnTo>
                <a:close/>
              </a:path>
            </a:pathLst>
          </a:custGeom>
          <a:blipFill>
            <a:blip r:embed="rId3"/>
            <a:stretch>
              <a:fillRect l="0" t="0" r="0" b="0"/>
            </a:stretch>
          </a:blipFill>
        </p:spPr>
      </p:sp>
      <p:sp>
        <p:nvSpPr>
          <p:cNvPr name="TextBox 7" id="7"/>
          <p:cNvSpPr txBox="true"/>
          <p:nvPr/>
        </p:nvSpPr>
        <p:spPr>
          <a:xfrm rot="0">
            <a:off x="2565237" y="124918"/>
            <a:ext cx="12386320" cy="1260002"/>
          </a:xfrm>
          <a:prstGeom prst="rect">
            <a:avLst/>
          </a:prstGeom>
        </p:spPr>
        <p:txBody>
          <a:bodyPr anchor="t" rtlCol="false" tIns="0" lIns="0" bIns="0" rIns="0">
            <a:spAutoFit/>
          </a:bodyPr>
          <a:lstStyle/>
          <a:p>
            <a:pPr algn="ctr">
              <a:lnSpc>
                <a:spcPts val="8839"/>
              </a:lnSpc>
            </a:pPr>
            <a:r>
              <a:rPr lang="en-US" sz="6314" b="true">
                <a:solidFill>
                  <a:srgbClr val="FFFFFF"/>
                </a:solidFill>
                <a:latin typeface="Agrandir Bold"/>
                <a:ea typeface="Agrandir Bold"/>
                <a:cs typeface="Agrandir Bold"/>
                <a:sym typeface="Agrandir Bold"/>
              </a:rPr>
              <a:t>EVIDENCIAS DEL DESARROLLO</a:t>
            </a:r>
          </a:p>
        </p:txBody>
      </p:sp>
      <p:sp>
        <p:nvSpPr>
          <p:cNvPr name="TextBox 8" id="8"/>
          <p:cNvSpPr txBox="true"/>
          <p:nvPr/>
        </p:nvSpPr>
        <p:spPr>
          <a:xfrm rot="0">
            <a:off x="177249" y="9241476"/>
            <a:ext cx="4518816" cy="698055"/>
          </a:xfrm>
          <a:prstGeom prst="rect">
            <a:avLst/>
          </a:prstGeom>
        </p:spPr>
        <p:txBody>
          <a:bodyPr anchor="t" rtlCol="false" tIns="0" lIns="0" bIns="0" rIns="0">
            <a:spAutoFit/>
          </a:bodyPr>
          <a:lstStyle/>
          <a:p>
            <a:pPr algn="ctr">
              <a:lnSpc>
                <a:spcPts val="5629"/>
              </a:lnSpc>
            </a:pPr>
            <a:r>
              <a:rPr lang="en-US" sz="4021" b="true">
                <a:solidFill>
                  <a:srgbClr val="FFFFFF"/>
                </a:solidFill>
                <a:latin typeface="Open Sans Bold"/>
                <a:ea typeface="Open Sans Bold"/>
                <a:cs typeface="Open Sans Bold"/>
                <a:sym typeface="Open Sans Bold"/>
              </a:rPr>
              <a:t>Panel de alumnos</a:t>
            </a:r>
          </a:p>
        </p:txBody>
      </p:sp>
      <p:sp>
        <p:nvSpPr>
          <p:cNvPr name="TextBox 9" id="9"/>
          <p:cNvSpPr txBox="true"/>
          <p:nvPr/>
        </p:nvSpPr>
        <p:spPr>
          <a:xfrm rot="0">
            <a:off x="1028700" y="2243745"/>
            <a:ext cx="3697289" cy="1323340"/>
          </a:xfrm>
          <a:prstGeom prst="rect">
            <a:avLst/>
          </a:prstGeom>
        </p:spPr>
        <p:txBody>
          <a:bodyPr anchor="t" rtlCol="false" tIns="0" lIns="0" bIns="0" rIns="0">
            <a:spAutoFit/>
          </a:bodyPr>
          <a:lstStyle/>
          <a:p>
            <a:pPr algn="ctr">
              <a:lnSpc>
                <a:spcPts val="2659"/>
              </a:lnSpc>
              <a:spcBef>
                <a:spcPct val="0"/>
              </a:spcBef>
            </a:pPr>
            <a:r>
              <a:rPr lang="en-US" sz="1899">
                <a:solidFill>
                  <a:srgbClr val="FCFCFC"/>
                </a:solidFill>
                <a:latin typeface="Open Sans"/>
                <a:ea typeface="Open Sans"/>
                <a:cs typeface="Open Sans"/>
                <a:sym typeface="Open Sans"/>
              </a:rPr>
              <a:t>Portal de pago dentro de panel de alumnos bloqueado debido a que los apoderados deben visualizarlo</a:t>
            </a:r>
          </a:p>
        </p:txBody>
      </p:sp>
      <p:sp>
        <p:nvSpPr>
          <p:cNvPr name="TextBox 10" id="10"/>
          <p:cNvSpPr txBox="true"/>
          <p:nvPr/>
        </p:nvSpPr>
        <p:spPr>
          <a:xfrm rot="0">
            <a:off x="1028700" y="5095061"/>
            <a:ext cx="3697289" cy="989965"/>
          </a:xfrm>
          <a:prstGeom prst="rect">
            <a:avLst/>
          </a:prstGeom>
        </p:spPr>
        <p:txBody>
          <a:bodyPr anchor="t" rtlCol="false" tIns="0" lIns="0" bIns="0" rIns="0">
            <a:spAutoFit/>
          </a:bodyPr>
          <a:lstStyle/>
          <a:p>
            <a:pPr algn="ctr">
              <a:lnSpc>
                <a:spcPts val="2659"/>
              </a:lnSpc>
              <a:spcBef>
                <a:spcPct val="0"/>
              </a:spcBef>
            </a:pPr>
            <a:r>
              <a:rPr lang="en-US" sz="1899">
                <a:solidFill>
                  <a:srgbClr val="FCFCFC"/>
                </a:solidFill>
                <a:latin typeface="Open Sans"/>
                <a:ea typeface="Open Sans"/>
                <a:cs typeface="Open Sans"/>
                <a:sym typeface="Open Sans"/>
              </a:rPr>
              <a:t>Portal de pago desbloqueado cuando el apoderado ingresa su contraseña del portal de pago</a:t>
            </a:r>
          </a:p>
        </p:txBody>
      </p:sp>
      <p:sp>
        <p:nvSpPr>
          <p:cNvPr name="TextBox 11" id="11"/>
          <p:cNvSpPr txBox="true"/>
          <p:nvPr/>
        </p:nvSpPr>
        <p:spPr>
          <a:xfrm rot="0">
            <a:off x="15858543" y="9330161"/>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0"/>
            <a:ext cx="18288000" cy="10264405"/>
            <a:chOff x="0" y="0"/>
            <a:chExt cx="4816593" cy="2703382"/>
          </a:xfrm>
        </p:grpSpPr>
        <p:sp>
          <p:nvSpPr>
            <p:cNvPr name="Freeform 3" id="3"/>
            <p:cNvSpPr/>
            <p:nvPr/>
          </p:nvSpPr>
          <p:spPr>
            <a:xfrm flipH="false" flipV="false" rot="0">
              <a:off x="0" y="0"/>
              <a:ext cx="4816592" cy="2703382"/>
            </a:xfrm>
            <a:custGeom>
              <a:avLst/>
              <a:gdLst/>
              <a:ahLst/>
              <a:cxnLst/>
              <a:rect r="r" b="b" t="t" l="l"/>
              <a:pathLst>
                <a:path h="2703382" w="4816592">
                  <a:moveTo>
                    <a:pt x="0" y="0"/>
                  </a:moveTo>
                  <a:lnTo>
                    <a:pt x="4816592" y="0"/>
                  </a:lnTo>
                  <a:lnTo>
                    <a:pt x="4816592" y="2703382"/>
                  </a:lnTo>
                  <a:lnTo>
                    <a:pt x="0" y="2703382"/>
                  </a:lnTo>
                  <a:close/>
                </a:path>
              </a:pathLst>
            </a:custGeom>
            <a:solidFill>
              <a:srgbClr val="00357A"/>
            </a:solidFill>
          </p:spPr>
        </p:sp>
        <p:sp>
          <p:nvSpPr>
            <p:cNvPr name="TextBox 4" id="4"/>
            <p:cNvSpPr txBox="true"/>
            <p:nvPr/>
          </p:nvSpPr>
          <p:spPr>
            <a:xfrm>
              <a:off x="0" y="-38100"/>
              <a:ext cx="4816593" cy="2741482"/>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rot="0">
            <a:off x="4515505" y="3682862"/>
            <a:ext cx="9256990" cy="0"/>
          </a:xfrm>
          <a:prstGeom prst="line">
            <a:avLst/>
          </a:prstGeom>
          <a:ln cap="flat" w="28575">
            <a:solidFill>
              <a:srgbClr val="F27100"/>
            </a:solidFill>
            <a:prstDash val="solid"/>
            <a:headEnd type="none" len="sm" w="sm"/>
            <a:tailEnd type="none" len="sm" w="sm"/>
          </a:ln>
        </p:spPr>
      </p:sp>
      <p:sp>
        <p:nvSpPr>
          <p:cNvPr name="AutoShape 6" id="6"/>
          <p:cNvSpPr/>
          <p:nvPr/>
        </p:nvSpPr>
        <p:spPr>
          <a:xfrm rot="0">
            <a:off x="4515505" y="5871653"/>
            <a:ext cx="9256990" cy="0"/>
          </a:xfrm>
          <a:prstGeom prst="line">
            <a:avLst/>
          </a:prstGeom>
          <a:ln cap="flat" w="28575">
            <a:solidFill>
              <a:srgbClr val="F27100"/>
            </a:solidFill>
            <a:prstDash val="solid"/>
            <a:headEnd type="none" len="sm" w="sm"/>
            <a:tailEnd type="none" len="sm" w="sm"/>
          </a:ln>
        </p:spPr>
      </p:sp>
      <p:sp>
        <p:nvSpPr>
          <p:cNvPr name="TextBox 7" id="7"/>
          <p:cNvSpPr txBox="true"/>
          <p:nvPr/>
        </p:nvSpPr>
        <p:spPr>
          <a:xfrm rot="0">
            <a:off x="5217897" y="6293163"/>
            <a:ext cx="7852206" cy="488315"/>
          </a:xfrm>
          <a:prstGeom prst="rect">
            <a:avLst/>
          </a:prstGeom>
        </p:spPr>
        <p:txBody>
          <a:bodyPr anchor="t" rtlCol="false" tIns="0" lIns="0" bIns="0" rIns="0">
            <a:spAutoFit/>
          </a:bodyPr>
          <a:lstStyle/>
          <a:p>
            <a:pPr algn="ctr">
              <a:lnSpc>
                <a:spcPts val="4060"/>
              </a:lnSpc>
            </a:pPr>
            <a:r>
              <a:rPr lang="en-US" b="true" sz="2900" spc="507">
                <a:solidFill>
                  <a:srgbClr val="FFFFFF"/>
                </a:solidFill>
                <a:latin typeface="Garet Bold"/>
                <a:ea typeface="Garet Bold"/>
                <a:cs typeface="Garet Bold"/>
                <a:sym typeface="Garet Bold"/>
              </a:rPr>
              <a:t>GRACIAS POR ESCUCHAR</a:t>
            </a:r>
          </a:p>
        </p:txBody>
      </p:sp>
      <p:sp>
        <p:nvSpPr>
          <p:cNvPr name="TextBox 8" id="8"/>
          <p:cNvSpPr txBox="true"/>
          <p:nvPr/>
        </p:nvSpPr>
        <p:spPr>
          <a:xfrm rot="0">
            <a:off x="2695943" y="3682862"/>
            <a:ext cx="12896114" cy="1941830"/>
          </a:xfrm>
          <a:prstGeom prst="rect">
            <a:avLst/>
          </a:prstGeom>
        </p:spPr>
        <p:txBody>
          <a:bodyPr anchor="t" rtlCol="false" tIns="0" lIns="0" bIns="0" rIns="0">
            <a:spAutoFit/>
          </a:bodyPr>
          <a:lstStyle/>
          <a:p>
            <a:pPr algn="ctr">
              <a:lnSpc>
                <a:spcPts val="15820"/>
              </a:lnSpc>
            </a:pPr>
            <a:r>
              <a:rPr lang="en-US" sz="11300" spc="406">
                <a:solidFill>
                  <a:srgbClr val="FFFFFF"/>
                </a:solidFill>
                <a:latin typeface="Archivo Black"/>
                <a:ea typeface="Archivo Black"/>
                <a:cs typeface="Archivo Black"/>
                <a:sym typeface="Archivo Black"/>
              </a:rPr>
              <a:t>FIN.</a:t>
            </a:r>
          </a:p>
        </p:txBody>
      </p:sp>
      <p:sp>
        <p:nvSpPr>
          <p:cNvPr name="Freeform 9" id="9"/>
          <p:cNvSpPr/>
          <p:nvPr/>
        </p:nvSpPr>
        <p:spPr>
          <a:xfrm flipH="false" flipV="false" rot="0">
            <a:off x="-1103384" y="-1675084"/>
            <a:ext cx="6000534" cy="3567590"/>
          </a:xfrm>
          <a:custGeom>
            <a:avLst/>
            <a:gdLst/>
            <a:ahLst/>
            <a:cxnLst/>
            <a:rect r="r" b="b" t="t" l="l"/>
            <a:pathLst>
              <a:path h="3567590" w="6000534">
                <a:moveTo>
                  <a:pt x="0" y="0"/>
                </a:moveTo>
                <a:lnTo>
                  <a:pt x="6000534" y="0"/>
                </a:lnTo>
                <a:lnTo>
                  <a:pt x="6000534" y="3567591"/>
                </a:lnTo>
                <a:lnTo>
                  <a:pt x="0" y="3567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741048" y="53781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904533" y="-494599"/>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275713" y="4625635"/>
            <a:ext cx="5081972" cy="3021463"/>
          </a:xfrm>
          <a:custGeom>
            <a:avLst/>
            <a:gdLst/>
            <a:ahLst/>
            <a:cxnLst/>
            <a:rect r="r" b="b" t="t" l="l"/>
            <a:pathLst>
              <a:path h="3021463" w="5081972">
                <a:moveTo>
                  <a:pt x="0" y="0"/>
                </a:moveTo>
                <a:lnTo>
                  <a:pt x="5081972" y="0"/>
                </a:lnTo>
                <a:lnTo>
                  <a:pt x="5081972" y="3021463"/>
                </a:lnTo>
                <a:lnTo>
                  <a:pt x="0" y="3021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0800000">
            <a:off x="12542441" y="859120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0800000">
            <a:off x="14180105" y="6181594"/>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10800000">
            <a:off x="14960748" y="776013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6481741" y="265415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15858543" y="9330161"/>
            <a:ext cx="2272880" cy="719984"/>
          </a:xfrm>
          <a:prstGeom prst="rect">
            <a:avLst/>
          </a:prstGeom>
        </p:spPr>
        <p:txBody>
          <a:bodyPr anchor="t" rtlCol="false" tIns="0" lIns="0" bIns="0" rIns="0">
            <a:spAutoFit/>
          </a:bodyPr>
          <a:lstStyle/>
          <a:p>
            <a:pPr algn="l">
              <a:lnSpc>
                <a:spcPts val="2635"/>
              </a:lnSpc>
            </a:pPr>
            <a:r>
              <a:rPr lang="en-US" b="true" sz="2689" spc="182">
                <a:solidFill>
                  <a:srgbClr val="FFFFFF"/>
                </a:solidFill>
                <a:latin typeface="Codec Pro Bold"/>
                <a:ea typeface="Codec Pro Bold"/>
                <a:cs typeface="Codec Pro Bold"/>
                <a:sym typeface="Codec Pro Bold"/>
              </a:rPr>
              <a:t>CAPSTONE</a:t>
            </a:r>
          </a:p>
          <a:p>
            <a:pPr algn="l">
              <a:lnSpc>
                <a:spcPts val="2635"/>
              </a:lnSpc>
            </a:pPr>
            <a:r>
              <a:rPr lang="en-US" b="true" sz="2689" spc="182">
                <a:solidFill>
                  <a:srgbClr val="FFFFFF"/>
                </a:solidFill>
                <a:latin typeface="Codec Pro Bold"/>
                <a:ea typeface="Codec Pro Bold"/>
                <a:cs typeface="Codec Pro Bold"/>
                <a:sym typeface="Codec Pro Bold"/>
              </a:rPr>
              <a:t>803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DAG1lxnzJeA</dc:identifier>
  <dcterms:modified xsi:type="dcterms:W3CDTF">2011-08-01T06:04:30Z</dcterms:modified>
  <cp:revision>1</cp:revision>
  <dc:title>Presentación capstone EVA2</dc:title>
</cp:coreProperties>
</file>