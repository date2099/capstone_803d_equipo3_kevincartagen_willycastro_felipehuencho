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Raleway Heavy" charset="1" panose="00000000000000000000"/>
      <p:regular r:id="rId25"/>
    </p:embeddedFont>
    <p:embeddedFont>
      <p:font typeface="Garet" charset="1" panose="00000000000000000000"/>
      <p:regular r:id="rId26"/>
    </p:embeddedFont>
    <p:embeddedFont>
      <p:font typeface="Raleway" charset="1" panose="00000000000000000000"/>
      <p:regular r:id="rId27"/>
    </p:embeddedFont>
    <p:embeddedFont>
      <p:font typeface="Open Sauce" charset="1" panose="00000500000000000000"/>
      <p:regular r:id="rId28"/>
    </p:embeddedFont>
    <p:embeddedFont>
      <p:font typeface="Calibri (MS)" charset="1" panose="020F0502020204030204"/>
      <p:regular r:id="rId29"/>
    </p:embeddedFont>
    <p:embeddedFont>
      <p:font typeface="Garet Bold Italics" charset="1" panose="00000000000000000000"/>
      <p:regular r:id="rId30"/>
    </p:embeddedFont>
    <p:embeddedFont>
      <p:font typeface="Montserrat Bold" charset="1" panose="00000800000000000000"/>
      <p:regular r:id="rId31"/>
    </p:embeddedFont>
    <p:embeddedFont>
      <p:font typeface="Montserrat" charset="1" panose="00000500000000000000"/>
      <p:regular r:id="rId32"/>
    </p:embeddedFont>
    <p:embeddedFont>
      <p:font typeface="Montserrat Italics" charset="1" panose="00000500000000000000"/>
      <p:regular r:id="rId33"/>
    </p:embeddedFont>
    <p:embeddedFont>
      <p:font typeface="Calibri (MS) Italics" charset="1" panose="020F05020202040A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0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1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2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3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14.png" Type="http://schemas.openxmlformats.org/officeDocument/2006/relationships/image"/><Relationship Id="rId6" Target="https://drive.google.com/file/d/1i6_fM7g3rUWgaOqdQ1ZIUKQBdYd3KP4Z/view?usp=sharing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png" Type="http://schemas.openxmlformats.org/officeDocument/2006/relationships/image"/><Relationship Id="rId12" Target="../media/image24.png" Type="http://schemas.openxmlformats.org/officeDocument/2006/relationships/image"/><Relationship Id="rId13" Target="../media/image25.png" Type="http://schemas.openxmlformats.org/officeDocument/2006/relationships/image"/><Relationship Id="rId14" Target="../media/image26.png" Type="http://schemas.openxmlformats.org/officeDocument/2006/relationships/image"/><Relationship Id="rId15" Target="../media/image27.png" Type="http://schemas.openxmlformats.org/officeDocument/2006/relationships/image"/><Relationship Id="rId16" Target="../media/image1.png" Type="http://schemas.openxmlformats.org/officeDocument/2006/relationships/image"/><Relationship Id="rId17" Target="../media/image2.svg" Type="http://schemas.openxmlformats.org/officeDocument/2006/relationships/image"/><Relationship Id="rId18" Target="../media/image28.png" Type="http://schemas.openxmlformats.org/officeDocument/2006/relationships/image"/><Relationship Id="rId2" Target="../media/image7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jpeg" Type="http://schemas.openxmlformats.org/officeDocument/2006/relationships/image"/><Relationship Id="rId11" Target="../media/VAG7KOHWMiE.mp4" Type="http://schemas.openxmlformats.org/officeDocument/2006/relationships/video"/><Relationship Id="rId12" Target="../media/VAG7KOHWMiE.mp4" Type="http://schemas.microsoft.com/office/2007/relationships/media"/><Relationship Id="rId13" Target="../media/image1.png" Type="http://schemas.openxmlformats.org/officeDocument/2006/relationships/image"/><Relationship Id="rId14" Target="../media/image2.svg" Type="http://schemas.openxmlformats.org/officeDocument/2006/relationships/image"/><Relationship Id="rId2" Target="../media/image7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jpeg" Type="http://schemas.openxmlformats.org/officeDocument/2006/relationships/image"/><Relationship Id="rId8" Target="../media/VAG7Jz7Dq9U.mp4" Type="http://schemas.openxmlformats.org/officeDocument/2006/relationships/video"/><Relationship Id="rId9" Target="../media/VAG7Jz7Dq9U.mp4" Type="http://schemas.microsoft.com/office/2007/relationships/media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portal.hipona.cl/inicioSesion/login/?next=/" TargetMode="External" Type="http://schemas.openxmlformats.org/officeDocument/2006/relationships/hyperlink"/><Relationship Id="rId11" Target="https://trello.com/b/PHe8N8IB/intranet-colegio-san-agustin-de-hipona-fase-2" TargetMode="External" Type="http://schemas.openxmlformats.org/officeDocument/2006/relationships/hyperlink"/><Relationship Id="rId12" Target="https://github.com/Date2099/capstone_803D_Equipo3_KevinCartagen_WillyCastro_FelipeHuencho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3654884" y="2572322"/>
            <a:ext cx="10978232" cy="179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16"/>
              </a:lnSpc>
            </a:pPr>
            <a:r>
              <a:rPr lang="en-US" b="true" sz="10928" spc="546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PROYECTO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67976" y="6737594"/>
            <a:ext cx="5675166" cy="32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19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PRESENTACIÓN FINAL CAPSTONE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28175" y="4503966"/>
            <a:ext cx="10231650" cy="1908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84"/>
              </a:lnSpc>
            </a:pPr>
            <a:r>
              <a:rPr lang="en-US" sz="5789" spc="289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INTRANET</a:t>
            </a:r>
          </a:p>
          <a:p>
            <a:pPr algn="ctr">
              <a:lnSpc>
                <a:spcPts val="7584"/>
              </a:lnSpc>
            </a:pPr>
            <a:r>
              <a:rPr lang="en-US" sz="5789" spc="289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SAN AGUSTÍN DE HIPONA</a:t>
            </a:r>
          </a:p>
        </p:txBody>
      </p: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2388597" y="1178515"/>
            <a:ext cx="4712109" cy="1178028"/>
            <a:chOff x="0" y="0"/>
            <a:chExt cx="6282812" cy="1570704"/>
          </a:xfrm>
        </p:grpSpPr>
        <p:sp>
          <p:nvSpPr>
            <p:cNvPr name="Freeform 18" id="18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2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9230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80545"/>
              <a:chOff x="0" y="0"/>
              <a:chExt cx="6447050" cy="346510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5109"/>
              </a:xfrm>
              <a:custGeom>
                <a:avLst/>
                <a:gdLst/>
                <a:ahLst/>
                <a:cxnLst/>
                <a:rect r="r" b="b" t="t" l="l"/>
                <a:pathLst>
                  <a:path h="3465109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5109"/>
                    </a:lnTo>
                    <a:lnTo>
                      <a:pt x="0" y="3465109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368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5755651" y="2698452"/>
            <a:ext cx="1800083" cy="1395282"/>
            <a:chOff x="0" y="0"/>
            <a:chExt cx="2400110" cy="1860377"/>
          </a:xfrm>
        </p:grpSpPr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2"/>
            <a:srcRect l="23040" t="30738" r="20426" b="36396"/>
            <a:stretch>
              <a:fillRect/>
            </a:stretch>
          </p:blipFill>
          <p:spPr>
            <a:xfrm flipH="false" flipV="false">
              <a:off x="0" y="0"/>
              <a:ext cx="2400110" cy="1860377"/>
            </a:xfrm>
            <a:prstGeom prst="rect">
              <a:avLst/>
            </a:prstGeom>
          </p:spPr>
        </p:pic>
      </p:grpSp>
      <p:grpSp>
        <p:nvGrpSpPr>
          <p:cNvPr name="Group 11" id="11"/>
          <p:cNvGrpSpPr/>
          <p:nvPr/>
        </p:nvGrpSpPr>
        <p:grpSpPr>
          <a:xfrm rot="0">
            <a:off x="5755651" y="6192663"/>
            <a:ext cx="1800083" cy="1395282"/>
            <a:chOff x="0" y="0"/>
            <a:chExt cx="2400110" cy="1860377"/>
          </a:xfrm>
        </p:grpSpPr>
        <p:pic>
          <p:nvPicPr>
            <p:cNvPr name="Picture 12" id="12"/>
            <p:cNvPicPr>
              <a:picLocks noChangeAspect="true"/>
            </p:cNvPicPr>
            <p:nvPr/>
          </p:nvPicPr>
          <p:blipFill>
            <a:blip r:embed="rId3"/>
            <a:srcRect l="0" t="28199" r="0" b="28199"/>
            <a:stretch>
              <a:fillRect/>
            </a:stretch>
          </p:blipFill>
          <p:spPr>
            <a:xfrm flipH="false" flipV="false">
              <a:off x="0" y="0"/>
              <a:ext cx="2400110" cy="1860377"/>
            </a:xfrm>
            <a:prstGeom prst="rect">
              <a:avLst/>
            </a:prstGeom>
          </p:spPr>
        </p:pic>
      </p:grpSp>
      <p:grpSp>
        <p:nvGrpSpPr>
          <p:cNvPr name="Group 13" id="13"/>
          <p:cNvGrpSpPr/>
          <p:nvPr/>
        </p:nvGrpSpPr>
        <p:grpSpPr>
          <a:xfrm rot="0">
            <a:off x="5755651" y="4444956"/>
            <a:ext cx="1800083" cy="1395282"/>
            <a:chOff x="0" y="0"/>
            <a:chExt cx="2400110" cy="1860377"/>
          </a:xfrm>
        </p:grpSpPr>
        <p:pic>
          <p:nvPicPr>
            <p:cNvPr name="Picture 14" id="14"/>
            <p:cNvPicPr>
              <a:picLocks noChangeAspect="true"/>
            </p:cNvPicPr>
            <p:nvPr/>
          </p:nvPicPr>
          <p:blipFill>
            <a:blip r:embed="rId4"/>
            <a:srcRect l="0" t="28199" r="0" b="28199"/>
            <a:stretch>
              <a:fillRect/>
            </a:stretch>
          </p:blipFill>
          <p:spPr>
            <a:xfrm flipH="false" flipV="false">
              <a:off x="0" y="0"/>
              <a:ext cx="2400110" cy="1860377"/>
            </a:xfrm>
            <a:prstGeom prst="rect">
              <a:avLst/>
            </a:prstGeom>
          </p:spPr>
        </p:pic>
      </p:grpSp>
      <p:grpSp>
        <p:nvGrpSpPr>
          <p:cNvPr name="Group 15" id="15"/>
          <p:cNvGrpSpPr/>
          <p:nvPr/>
        </p:nvGrpSpPr>
        <p:grpSpPr>
          <a:xfrm rot="0">
            <a:off x="7723976" y="2698452"/>
            <a:ext cx="7988737" cy="1395282"/>
            <a:chOff x="0" y="0"/>
            <a:chExt cx="21514178" cy="375758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514088" cy="3757549"/>
            </a:xfrm>
            <a:custGeom>
              <a:avLst/>
              <a:gdLst/>
              <a:ahLst/>
              <a:cxnLst/>
              <a:rect r="r" b="b" t="t" l="l"/>
              <a:pathLst>
                <a:path h="3757549" w="21514088">
                  <a:moveTo>
                    <a:pt x="0" y="375755"/>
                  </a:moveTo>
                  <a:cubicBezTo>
                    <a:pt x="0" y="168309"/>
                    <a:pt x="171630" y="0"/>
                    <a:pt x="383170" y="0"/>
                  </a:cubicBezTo>
                  <a:lnTo>
                    <a:pt x="21130919" y="0"/>
                  </a:lnTo>
                  <a:cubicBezTo>
                    <a:pt x="21342459" y="0"/>
                    <a:pt x="21514088" y="168309"/>
                    <a:pt x="21514088" y="375755"/>
                  </a:cubicBezTo>
                  <a:lnTo>
                    <a:pt x="21514088" y="3381794"/>
                  </a:lnTo>
                  <a:cubicBezTo>
                    <a:pt x="21514088" y="3589240"/>
                    <a:pt x="21342459" y="3757549"/>
                    <a:pt x="21130919" y="3757549"/>
                  </a:cubicBezTo>
                  <a:lnTo>
                    <a:pt x="383170" y="3757549"/>
                  </a:lnTo>
                  <a:cubicBezTo>
                    <a:pt x="171630" y="3757549"/>
                    <a:pt x="0" y="3589415"/>
                    <a:pt x="0" y="3381794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723976" y="4445558"/>
            <a:ext cx="7988737" cy="1395282"/>
            <a:chOff x="0" y="0"/>
            <a:chExt cx="21514178" cy="375758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514088" cy="3757549"/>
            </a:xfrm>
            <a:custGeom>
              <a:avLst/>
              <a:gdLst/>
              <a:ahLst/>
              <a:cxnLst/>
              <a:rect r="r" b="b" t="t" l="l"/>
              <a:pathLst>
                <a:path h="3757549" w="21514088">
                  <a:moveTo>
                    <a:pt x="0" y="375755"/>
                  </a:moveTo>
                  <a:cubicBezTo>
                    <a:pt x="0" y="168309"/>
                    <a:pt x="171630" y="0"/>
                    <a:pt x="383170" y="0"/>
                  </a:cubicBezTo>
                  <a:lnTo>
                    <a:pt x="21130919" y="0"/>
                  </a:lnTo>
                  <a:cubicBezTo>
                    <a:pt x="21342459" y="0"/>
                    <a:pt x="21514088" y="168309"/>
                    <a:pt x="21514088" y="375755"/>
                  </a:cubicBezTo>
                  <a:lnTo>
                    <a:pt x="21514088" y="3381794"/>
                  </a:lnTo>
                  <a:cubicBezTo>
                    <a:pt x="21514088" y="3589240"/>
                    <a:pt x="21342459" y="3757549"/>
                    <a:pt x="21130919" y="3757549"/>
                  </a:cubicBezTo>
                  <a:lnTo>
                    <a:pt x="383170" y="3757549"/>
                  </a:lnTo>
                  <a:cubicBezTo>
                    <a:pt x="171630" y="3757549"/>
                    <a:pt x="0" y="3589415"/>
                    <a:pt x="0" y="3381794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723976" y="6193265"/>
            <a:ext cx="7988737" cy="1395282"/>
            <a:chOff x="0" y="0"/>
            <a:chExt cx="21514178" cy="375758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514088" cy="3757549"/>
            </a:xfrm>
            <a:custGeom>
              <a:avLst/>
              <a:gdLst/>
              <a:ahLst/>
              <a:cxnLst/>
              <a:rect r="r" b="b" t="t" l="l"/>
              <a:pathLst>
                <a:path h="3757549" w="21514088">
                  <a:moveTo>
                    <a:pt x="0" y="375755"/>
                  </a:moveTo>
                  <a:cubicBezTo>
                    <a:pt x="0" y="168309"/>
                    <a:pt x="171630" y="0"/>
                    <a:pt x="383170" y="0"/>
                  </a:cubicBezTo>
                  <a:lnTo>
                    <a:pt x="21130919" y="0"/>
                  </a:lnTo>
                  <a:cubicBezTo>
                    <a:pt x="21342459" y="0"/>
                    <a:pt x="21514088" y="168309"/>
                    <a:pt x="21514088" y="375755"/>
                  </a:cubicBezTo>
                  <a:lnTo>
                    <a:pt x="21514088" y="3381794"/>
                  </a:lnTo>
                  <a:cubicBezTo>
                    <a:pt x="21514088" y="3589240"/>
                    <a:pt x="21342459" y="3757549"/>
                    <a:pt x="21130919" y="3757549"/>
                  </a:cubicBezTo>
                  <a:lnTo>
                    <a:pt x="383170" y="3757549"/>
                  </a:lnTo>
                  <a:cubicBezTo>
                    <a:pt x="171630" y="3757549"/>
                    <a:pt x="0" y="3589415"/>
                    <a:pt x="0" y="3381794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</p:grpSp>
      <p:sp>
        <p:nvSpPr>
          <p:cNvPr name="AutoShape 21" id="21"/>
          <p:cNvSpPr/>
          <p:nvPr/>
        </p:nvSpPr>
        <p:spPr>
          <a:xfrm flipV="true">
            <a:off x="1243983" y="1491393"/>
            <a:ext cx="4014720" cy="4762"/>
          </a:xfrm>
          <a:prstGeom prst="line">
            <a:avLst/>
          </a:prstGeom>
          <a:ln cap="rnd" w="9525">
            <a:solidFill>
              <a:srgbClr val="27403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2442796" y="907141"/>
            <a:ext cx="4712109" cy="1178028"/>
            <a:chOff x="0" y="0"/>
            <a:chExt cx="6282812" cy="1570704"/>
          </a:xfrm>
        </p:grpSpPr>
        <p:sp>
          <p:nvSpPr>
            <p:cNvPr name="Freeform 23" id="2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2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545963" y="4498260"/>
            <a:ext cx="3822149" cy="169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27"/>
              </a:lnSpc>
            </a:pPr>
            <a:r>
              <a:rPr lang="en-US" sz="3883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INTEGRANTES DEL PROYECTO</a:t>
            </a:r>
          </a:p>
          <a:p>
            <a:pPr algn="just">
              <a:lnSpc>
                <a:spcPts val="4427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7832171" y="2776907"/>
            <a:ext cx="2828743" cy="451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8"/>
              </a:lnSpc>
            </a:pPr>
            <a:r>
              <a:rPr lang="en-US" sz="296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Felipe Huencho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32171" y="4604994"/>
            <a:ext cx="2828743" cy="451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8"/>
              </a:lnSpc>
            </a:pPr>
            <a:r>
              <a:rPr lang="en-US" sz="296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Willy Castro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832171" y="6268471"/>
            <a:ext cx="3695933" cy="451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8"/>
              </a:lnSpc>
            </a:pPr>
            <a:r>
              <a:rPr lang="en-US" sz="296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Kevin Cartagena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832171" y="3331938"/>
            <a:ext cx="6494789" cy="538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00795" indent="-200398" lvl="1">
              <a:lnSpc>
                <a:spcPts val="2116"/>
              </a:lnSpc>
              <a:buFont typeface="Arial"/>
              <a:buChar char="•"/>
            </a:pPr>
            <a:r>
              <a:rPr lang="en-US" sz="185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Scrum Master</a:t>
            </a:r>
          </a:p>
          <a:p>
            <a:pPr algn="just" marL="400795" indent="-200398" lvl="1">
              <a:lnSpc>
                <a:spcPts val="2116"/>
              </a:lnSpc>
              <a:buFont typeface="Arial"/>
              <a:buChar char="•"/>
            </a:pPr>
            <a:r>
              <a:rPr lang="en-US" sz="185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Programador: Front-end/backend y documentación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832171" y="5160653"/>
            <a:ext cx="7145181" cy="538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00795" indent="-200398" lvl="1">
              <a:lnSpc>
                <a:spcPts val="2116"/>
              </a:lnSpc>
              <a:buFont typeface="Arial"/>
              <a:buChar char="•"/>
            </a:pPr>
            <a:r>
              <a:rPr lang="en-US" sz="185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Team Developer</a:t>
            </a:r>
          </a:p>
          <a:p>
            <a:pPr algn="just" marL="400795" indent="-200398" lvl="1">
              <a:lnSpc>
                <a:spcPts val="2116"/>
              </a:lnSpc>
              <a:buFont typeface="Arial"/>
              <a:buChar char="•"/>
            </a:pPr>
            <a:r>
              <a:rPr lang="en-US" sz="185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Programador backend, desarrollador de base de datos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778073" y="6824130"/>
            <a:ext cx="7880542" cy="804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03153" indent="-201576" lvl="1">
              <a:lnSpc>
                <a:spcPts val="2128"/>
              </a:lnSpc>
              <a:buFont typeface="Arial"/>
              <a:buChar char="•"/>
            </a:pPr>
            <a:r>
              <a:rPr lang="en-US" sz="186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Product Owner</a:t>
            </a:r>
          </a:p>
          <a:p>
            <a:pPr algn="just" marL="403153" indent="-201576" lvl="1">
              <a:lnSpc>
                <a:spcPts val="2128"/>
              </a:lnSpc>
              <a:buFont typeface="Arial"/>
              <a:buChar char="•"/>
            </a:pPr>
            <a:r>
              <a:rPr lang="en-US" sz="186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Programador Front-end/backend y Documentación</a:t>
            </a:r>
          </a:p>
          <a:p>
            <a:pPr algn="just">
              <a:lnSpc>
                <a:spcPts val="2128"/>
              </a:lnSpc>
            </a:pPr>
          </a:p>
        </p:txBody>
      </p:sp>
      <p:sp>
        <p:nvSpPr>
          <p:cNvPr name="Freeform 31" id="31"/>
          <p:cNvSpPr/>
          <p:nvPr/>
        </p:nvSpPr>
        <p:spPr>
          <a:xfrm flipH="false" flipV="false" rot="-10800000">
            <a:off x="14501436" y="6623726"/>
            <a:ext cx="3329977" cy="3329977"/>
          </a:xfrm>
          <a:custGeom>
            <a:avLst/>
            <a:gdLst/>
            <a:ahLst/>
            <a:cxnLst/>
            <a:rect r="r" b="b" t="t" l="l"/>
            <a:pathLst>
              <a:path h="3329977" w="3329977">
                <a:moveTo>
                  <a:pt x="0" y="0"/>
                </a:moveTo>
                <a:lnTo>
                  <a:pt x="3329978" y="0"/>
                </a:lnTo>
                <a:lnTo>
                  <a:pt x="3329978" y="3329977"/>
                </a:lnTo>
                <a:lnTo>
                  <a:pt x="0" y="332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379705" y="333297"/>
            <a:ext cx="3329977" cy="3329977"/>
          </a:xfrm>
          <a:custGeom>
            <a:avLst/>
            <a:gdLst/>
            <a:ahLst/>
            <a:cxnLst/>
            <a:rect r="r" b="b" t="t" l="l"/>
            <a:pathLst>
              <a:path h="3329977" w="3329977">
                <a:moveTo>
                  <a:pt x="0" y="0"/>
                </a:moveTo>
                <a:lnTo>
                  <a:pt x="3329977" y="0"/>
                </a:lnTo>
                <a:lnTo>
                  <a:pt x="3329977" y="3329977"/>
                </a:lnTo>
                <a:lnTo>
                  <a:pt x="0" y="3329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249631" y="1024668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7403B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INTRANET - CSAH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1249631" y="1024668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7403B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INTRANET - CSAH</a:t>
            </a:r>
          </a:p>
        </p:txBody>
      </p:sp>
      <p:sp>
        <p:nvSpPr>
          <p:cNvPr name="AutoShape 13" id="13"/>
          <p:cNvSpPr/>
          <p:nvPr/>
        </p:nvSpPr>
        <p:spPr>
          <a:xfrm flipV="true">
            <a:off x="1243983" y="1491393"/>
            <a:ext cx="4014720" cy="4762"/>
          </a:xfrm>
          <a:prstGeom prst="line">
            <a:avLst/>
          </a:prstGeom>
          <a:ln cap="rnd" w="9525">
            <a:solidFill>
              <a:srgbClr val="27403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866067" y="3123769"/>
            <a:ext cx="6055138" cy="6055138"/>
          </a:xfrm>
          <a:custGeom>
            <a:avLst/>
            <a:gdLst/>
            <a:ahLst/>
            <a:cxnLst/>
            <a:rect r="r" b="b" t="t" l="l"/>
            <a:pathLst>
              <a:path h="6055138" w="6055138">
                <a:moveTo>
                  <a:pt x="0" y="0"/>
                </a:moveTo>
                <a:lnTo>
                  <a:pt x="6055138" y="0"/>
                </a:lnTo>
                <a:lnTo>
                  <a:pt x="6055138" y="6055137"/>
                </a:lnTo>
                <a:lnTo>
                  <a:pt x="0" y="60551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664704" y="2278896"/>
            <a:ext cx="7551066" cy="572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27"/>
              </a:lnSpc>
            </a:pPr>
            <a:r>
              <a:rPr lang="en-US" sz="3883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DESCRIPCIÓN DEL PROYECTO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289914" y="3123769"/>
            <a:ext cx="6055138" cy="6055138"/>
          </a:xfrm>
          <a:custGeom>
            <a:avLst/>
            <a:gdLst/>
            <a:ahLst/>
            <a:cxnLst/>
            <a:rect r="r" b="b" t="t" l="l"/>
            <a:pathLst>
              <a:path h="6055138" w="6055138">
                <a:moveTo>
                  <a:pt x="0" y="0"/>
                </a:moveTo>
                <a:lnTo>
                  <a:pt x="6055137" y="0"/>
                </a:lnTo>
                <a:lnTo>
                  <a:pt x="6055137" y="6055137"/>
                </a:lnTo>
                <a:lnTo>
                  <a:pt x="0" y="60551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056053" y="3370350"/>
            <a:ext cx="5675166" cy="481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5"/>
              </a:lnSpc>
            </a:pPr>
            <a:r>
              <a:rPr lang="en-US" b="true" sz="2789" i="true">
                <a:solidFill>
                  <a:srgbClr val="27403B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Problema o dolor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56053" y="4335740"/>
            <a:ext cx="5675166" cy="394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5"/>
              </a:lnSpc>
            </a:pPr>
            <a:r>
              <a:rPr lang="en-US" sz="27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Gestión de información crítica mediante planillas Excel dispersas y registros en papel, lo que genera duplicidad, riesgo de pérdida de datos y falta de trazabilidad histórica. </a:t>
            </a:r>
          </a:p>
          <a:p>
            <a:pPr algn="ctr">
              <a:lnSpc>
                <a:spcPts val="3905"/>
              </a:lnSpc>
            </a:pPr>
            <a:r>
              <a:rPr lang="en-US" sz="27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Procesos académicos manuales.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79899" y="3436031"/>
            <a:ext cx="5675166" cy="481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5"/>
              </a:lnSpc>
            </a:pPr>
            <a:r>
              <a:rPr lang="en-US" b="true" sz="2789" i="true">
                <a:solidFill>
                  <a:srgbClr val="27403B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Propuesta de solución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79899" y="4335740"/>
            <a:ext cx="5675166" cy="4444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5"/>
              </a:lnSpc>
            </a:pPr>
            <a:r>
              <a:rPr lang="en-US" sz="27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Implementar una aplicación web, centralizada con base de datos relacional y segura en la nube. Integrar módulos para todos los actores (Alumnos/Apoderados, Docentes, Administradores) digitalizando y automatizando funciones académicas.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240628" y="5183990"/>
            <a:ext cx="1729863" cy="1154676"/>
            <a:chOff x="0" y="0"/>
            <a:chExt cx="2306484" cy="153956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2700"/>
              <a:ext cx="2281174" cy="1514094"/>
            </a:xfrm>
            <a:custGeom>
              <a:avLst/>
              <a:gdLst/>
              <a:ahLst/>
              <a:cxnLst/>
              <a:rect r="r" b="b" t="t" l="l"/>
              <a:pathLst>
                <a:path h="1514094" w="2281174">
                  <a:moveTo>
                    <a:pt x="0" y="378587"/>
                  </a:moveTo>
                  <a:lnTo>
                    <a:pt x="1519809" y="378587"/>
                  </a:lnTo>
                  <a:lnTo>
                    <a:pt x="1519809" y="0"/>
                  </a:lnTo>
                  <a:lnTo>
                    <a:pt x="2281174" y="757047"/>
                  </a:lnTo>
                  <a:lnTo>
                    <a:pt x="1519809" y="1514094"/>
                  </a:lnTo>
                  <a:lnTo>
                    <a:pt x="1519809" y="1135634"/>
                  </a:lnTo>
                  <a:lnTo>
                    <a:pt x="0" y="1135634"/>
                  </a:lnTo>
                  <a:close/>
                </a:path>
              </a:pathLst>
            </a:custGeom>
            <a:solidFill>
              <a:srgbClr val="508484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71"/>
              <a:ext cx="2306447" cy="1539409"/>
            </a:xfrm>
            <a:custGeom>
              <a:avLst/>
              <a:gdLst/>
              <a:ahLst/>
              <a:cxnLst/>
              <a:rect r="r" b="b" t="t" l="l"/>
              <a:pathLst>
                <a:path h="1539409" w="2306447">
                  <a:moveTo>
                    <a:pt x="12700" y="378516"/>
                  </a:moveTo>
                  <a:lnTo>
                    <a:pt x="1532509" y="378516"/>
                  </a:lnTo>
                  <a:lnTo>
                    <a:pt x="1532509" y="391216"/>
                  </a:lnTo>
                  <a:lnTo>
                    <a:pt x="1519809" y="391216"/>
                  </a:lnTo>
                  <a:lnTo>
                    <a:pt x="1519809" y="12629"/>
                  </a:lnTo>
                  <a:cubicBezTo>
                    <a:pt x="1519809" y="7549"/>
                    <a:pt x="1522857" y="2850"/>
                    <a:pt x="1527683" y="945"/>
                  </a:cubicBezTo>
                  <a:cubicBezTo>
                    <a:pt x="1532509" y="-960"/>
                    <a:pt x="1537843" y="56"/>
                    <a:pt x="1541526" y="3612"/>
                  </a:cubicBezTo>
                  <a:lnTo>
                    <a:pt x="2302764" y="760659"/>
                  </a:lnTo>
                  <a:cubicBezTo>
                    <a:pt x="2305177" y="763072"/>
                    <a:pt x="2306447" y="766247"/>
                    <a:pt x="2306447" y="769676"/>
                  </a:cubicBezTo>
                  <a:cubicBezTo>
                    <a:pt x="2306447" y="773105"/>
                    <a:pt x="2305050" y="776280"/>
                    <a:pt x="2302764" y="778693"/>
                  </a:cubicBezTo>
                  <a:lnTo>
                    <a:pt x="1541399" y="1535740"/>
                  </a:lnTo>
                  <a:cubicBezTo>
                    <a:pt x="1537716" y="1539296"/>
                    <a:pt x="1532255" y="1540439"/>
                    <a:pt x="1527556" y="1538407"/>
                  </a:cubicBezTo>
                  <a:cubicBezTo>
                    <a:pt x="1522857" y="1536375"/>
                    <a:pt x="1519682" y="1531803"/>
                    <a:pt x="1519682" y="1526723"/>
                  </a:cubicBezTo>
                  <a:lnTo>
                    <a:pt x="1519682" y="1148263"/>
                  </a:lnTo>
                  <a:lnTo>
                    <a:pt x="1532382" y="1148263"/>
                  </a:lnTo>
                  <a:lnTo>
                    <a:pt x="1532382" y="1160963"/>
                  </a:lnTo>
                  <a:lnTo>
                    <a:pt x="12700" y="1160963"/>
                  </a:lnTo>
                  <a:cubicBezTo>
                    <a:pt x="5715" y="1160963"/>
                    <a:pt x="0" y="1155248"/>
                    <a:pt x="0" y="1148263"/>
                  </a:cubicBezTo>
                  <a:lnTo>
                    <a:pt x="0" y="391216"/>
                  </a:lnTo>
                  <a:cubicBezTo>
                    <a:pt x="0" y="384231"/>
                    <a:pt x="5715" y="378516"/>
                    <a:pt x="12700" y="378516"/>
                  </a:cubicBezTo>
                  <a:moveTo>
                    <a:pt x="12700" y="403916"/>
                  </a:moveTo>
                  <a:lnTo>
                    <a:pt x="12700" y="391216"/>
                  </a:lnTo>
                  <a:lnTo>
                    <a:pt x="25400" y="391216"/>
                  </a:lnTo>
                  <a:lnTo>
                    <a:pt x="25400" y="1148263"/>
                  </a:lnTo>
                  <a:lnTo>
                    <a:pt x="12700" y="1148263"/>
                  </a:lnTo>
                  <a:lnTo>
                    <a:pt x="12700" y="1135563"/>
                  </a:lnTo>
                  <a:lnTo>
                    <a:pt x="1532509" y="1135563"/>
                  </a:lnTo>
                  <a:cubicBezTo>
                    <a:pt x="1539494" y="1135563"/>
                    <a:pt x="1545209" y="1141278"/>
                    <a:pt x="1545209" y="1148263"/>
                  </a:cubicBezTo>
                  <a:lnTo>
                    <a:pt x="1545209" y="1526850"/>
                  </a:lnTo>
                  <a:lnTo>
                    <a:pt x="1532509" y="1526850"/>
                  </a:lnTo>
                  <a:lnTo>
                    <a:pt x="1523492" y="1517833"/>
                  </a:lnTo>
                  <a:lnTo>
                    <a:pt x="2284857" y="760659"/>
                  </a:lnTo>
                  <a:lnTo>
                    <a:pt x="2293874" y="769676"/>
                  </a:lnTo>
                  <a:lnTo>
                    <a:pt x="2284857" y="778693"/>
                  </a:lnTo>
                  <a:lnTo>
                    <a:pt x="1523492" y="21646"/>
                  </a:lnTo>
                  <a:lnTo>
                    <a:pt x="1532509" y="12629"/>
                  </a:lnTo>
                  <a:lnTo>
                    <a:pt x="1545209" y="12629"/>
                  </a:lnTo>
                  <a:lnTo>
                    <a:pt x="1545209" y="391216"/>
                  </a:lnTo>
                  <a:cubicBezTo>
                    <a:pt x="1545209" y="398201"/>
                    <a:pt x="1539494" y="403916"/>
                    <a:pt x="1532509" y="403916"/>
                  </a:cubicBezTo>
                  <a:lnTo>
                    <a:pt x="12700" y="403916"/>
                  </a:lnTo>
                  <a:close/>
                </a:path>
              </a:pathLst>
            </a:custGeom>
            <a:solidFill>
              <a:srgbClr val="172C5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2388597" y="1081818"/>
            <a:ext cx="4712109" cy="1178028"/>
            <a:chOff x="0" y="0"/>
            <a:chExt cx="6282812" cy="1570704"/>
          </a:xfrm>
        </p:grpSpPr>
        <p:sp>
          <p:nvSpPr>
            <p:cNvPr name="Freeform 25" id="25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2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1600"/>
            <a:ext cx="18288000" cy="10081419"/>
            <a:chOff x="0" y="0"/>
            <a:chExt cx="24384000" cy="1344189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441892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307197" y="307228"/>
              <a:ext cx="23748659" cy="12779386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08200" y="722393"/>
              <a:ext cx="23011770" cy="11982790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3408441" y="2716642"/>
            <a:ext cx="11536158" cy="1204007"/>
            <a:chOff x="0" y="0"/>
            <a:chExt cx="36003197" cy="37575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003046" cy="3757549"/>
            </a:xfrm>
            <a:custGeom>
              <a:avLst/>
              <a:gdLst/>
              <a:ahLst/>
              <a:cxnLst/>
              <a:rect r="r" b="b" t="t" l="l"/>
              <a:pathLst>
                <a:path h="3757549" w="36003046">
                  <a:moveTo>
                    <a:pt x="0" y="375755"/>
                  </a:moveTo>
                  <a:cubicBezTo>
                    <a:pt x="0" y="168309"/>
                    <a:pt x="287217" y="0"/>
                    <a:pt x="641222" y="0"/>
                  </a:cubicBezTo>
                  <a:lnTo>
                    <a:pt x="35361826" y="0"/>
                  </a:lnTo>
                  <a:cubicBezTo>
                    <a:pt x="35715829" y="0"/>
                    <a:pt x="36003046" y="168309"/>
                    <a:pt x="36003046" y="375755"/>
                  </a:cubicBezTo>
                  <a:lnTo>
                    <a:pt x="36003046" y="3381794"/>
                  </a:lnTo>
                  <a:cubicBezTo>
                    <a:pt x="36003046" y="3589240"/>
                    <a:pt x="35715829" y="3757549"/>
                    <a:pt x="35361826" y="3757549"/>
                  </a:cubicBezTo>
                  <a:lnTo>
                    <a:pt x="641222" y="3757549"/>
                  </a:lnTo>
                  <a:cubicBezTo>
                    <a:pt x="287217" y="3757549"/>
                    <a:pt x="0" y="3589415"/>
                    <a:pt x="0" y="3381794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3689903" y="2761138"/>
            <a:ext cx="11021578" cy="1048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3"/>
              </a:lnSpc>
            </a:pPr>
            <a:r>
              <a:rPr lang="en-US" sz="182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Diseñar e implementar un sistema de gestión académica que centralice los registros del colegio, automatizando procesos administrativos y pedagógicos para mejorar el control y disponibilidad de la información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408441" y="4934210"/>
            <a:ext cx="11536158" cy="1596869"/>
            <a:chOff x="0" y="0"/>
            <a:chExt cx="36003197" cy="498366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003046" cy="4983621"/>
            </a:xfrm>
            <a:custGeom>
              <a:avLst/>
              <a:gdLst/>
              <a:ahLst/>
              <a:cxnLst/>
              <a:rect r="r" b="b" t="t" l="l"/>
              <a:pathLst>
                <a:path h="4983621" w="36003046">
                  <a:moveTo>
                    <a:pt x="0" y="498362"/>
                  </a:moveTo>
                  <a:cubicBezTo>
                    <a:pt x="0" y="223227"/>
                    <a:pt x="287217" y="0"/>
                    <a:pt x="641222" y="0"/>
                  </a:cubicBezTo>
                  <a:lnTo>
                    <a:pt x="35361826" y="0"/>
                  </a:lnTo>
                  <a:cubicBezTo>
                    <a:pt x="35715829" y="0"/>
                    <a:pt x="36003046" y="223227"/>
                    <a:pt x="36003046" y="498362"/>
                  </a:cubicBezTo>
                  <a:lnTo>
                    <a:pt x="36003046" y="4485259"/>
                  </a:lnTo>
                  <a:cubicBezTo>
                    <a:pt x="36003046" y="4760394"/>
                    <a:pt x="35715829" y="4983621"/>
                    <a:pt x="35361826" y="4983621"/>
                  </a:cubicBezTo>
                  <a:lnTo>
                    <a:pt x="641222" y="4983621"/>
                  </a:lnTo>
                  <a:cubicBezTo>
                    <a:pt x="287217" y="4983621"/>
                    <a:pt x="0" y="4760627"/>
                    <a:pt x="0" y="4485259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3483564" y="5053526"/>
            <a:ext cx="11461035" cy="160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0669" indent="-180334" lvl="1">
              <a:lnSpc>
                <a:spcPts val="2572"/>
              </a:lnSpc>
              <a:buFont typeface="Arial"/>
              <a:buChar char="•"/>
            </a:pPr>
            <a:r>
              <a:rPr lang="en-US" sz="167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Migrar registros históricos desde planillas Excel a una base de datos estructurada.</a:t>
            </a:r>
          </a:p>
          <a:p>
            <a:pPr algn="l" marL="360669" indent="-180334" lvl="1">
              <a:lnSpc>
                <a:spcPts val="2572"/>
              </a:lnSpc>
              <a:buFont typeface="Arial"/>
              <a:buChar char="•"/>
            </a:pPr>
            <a:r>
              <a:rPr lang="en-US" sz="167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Desarrollar una aplicación web escalable (Django) con roles de usuario definidos y seguros.</a:t>
            </a:r>
          </a:p>
          <a:p>
            <a:pPr algn="l" marL="360669" indent="-180334" lvl="1">
              <a:lnSpc>
                <a:spcPts val="2572"/>
              </a:lnSpc>
              <a:buFont typeface="Arial"/>
              <a:buChar char="•"/>
            </a:pPr>
            <a:r>
              <a:rPr lang="en-US" sz="167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Implementar funcionalidades críticas: Portal de pagos, Gestión de notas y Dashboard administrativo</a:t>
            </a:r>
          </a:p>
          <a:p>
            <a:pPr algn="l" marL="360669" indent="-180334" lvl="1">
              <a:lnSpc>
                <a:spcPts val="2572"/>
              </a:lnSpc>
              <a:buFont typeface="Arial"/>
              <a:buChar char="•"/>
            </a:pPr>
            <a:r>
              <a:rPr lang="en-US" sz="167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Desarrollar Distintas vistas para los usuarios de: Profesor, Estudiante, Administrador, Finanzas</a:t>
            </a:r>
          </a:p>
          <a:p>
            <a:pPr algn="l">
              <a:lnSpc>
                <a:spcPts val="2572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5713643" y="1974617"/>
            <a:ext cx="6515910" cy="510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0"/>
              </a:lnSpc>
            </a:pPr>
            <a:r>
              <a:rPr lang="en-US" sz="3351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Objetivo General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13643" y="4150787"/>
            <a:ext cx="6515910" cy="510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0"/>
              </a:lnSpc>
            </a:pPr>
            <a:r>
              <a:rPr lang="en-US" sz="3351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Objetivos Específicos</a:t>
            </a:r>
          </a:p>
        </p:txBody>
      </p: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12887231" y="796589"/>
            <a:ext cx="4712109" cy="1178028"/>
            <a:chOff x="0" y="0"/>
            <a:chExt cx="6282812" cy="1570704"/>
          </a:xfrm>
        </p:grpSpPr>
        <p:sp>
          <p:nvSpPr>
            <p:cNvPr name="Freeform 21" id="21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713643" y="6659942"/>
            <a:ext cx="6515910" cy="510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0"/>
              </a:lnSpc>
            </a:pPr>
            <a:r>
              <a:rPr lang="en-US" sz="3351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Épicas principales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3483564" y="7303764"/>
            <a:ext cx="11536158" cy="1596869"/>
            <a:chOff x="0" y="0"/>
            <a:chExt cx="36003197" cy="498366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003046" cy="4983621"/>
            </a:xfrm>
            <a:custGeom>
              <a:avLst/>
              <a:gdLst/>
              <a:ahLst/>
              <a:cxnLst/>
              <a:rect r="r" b="b" t="t" l="l"/>
              <a:pathLst>
                <a:path h="4983621" w="36003046">
                  <a:moveTo>
                    <a:pt x="0" y="498362"/>
                  </a:moveTo>
                  <a:cubicBezTo>
                    <a:pt x="0" y="223227"/>
                    <a:pt x="287217" y="0"/>
                    <a:pt x="641222" y="0"/>
                  </a:cubicBezTo>
                  <a:lnTo>
                    <a:pt x="35361826" y="0"/>
                  </a:lnTo>
                  <a:cubicBezTo>
                    <a:pt x="35715829" y="0"/>
                    <a:pt x="36003046" y="223227"/>
                    <a:pt x="36003046" y="498362"/>
                  </a:cubicBezTo>
                  <a:lnTo>
                    <a:pt x="36003046" y="4485259"/>
                  </a:lnTo>
                  <a:cubicBezTo>
                    <a:pt x="36003046" y="4760394"/>
                    <a:pt x="35715829" y="4983621"/>
                    <a:pt x="35361826" y="4983621"/>
                  </a:cubicBezTo>
                  <a:lnTo>
                    <a:pt x="641222" y="4983621"/>
                  </a:lnTo>
                  <a:cubicBezTo>
                    <a:pt x="287217" y="4983621"/>
                    <a:pt x="0" y="4760627"/>
                    <a:pt x="0" y="4485259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3483564" y="7456164"/>
            <a:ext cx="11759722" cy="1606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0669" indent="-180334" lvl="1">
              <a:lnSpc>
                <a:spcPts val="2572"/>
              </a:lnSpc>
              <a:buFont typeface="Arial"/>
              <a:buChar char="•"/>
            </a:pPr>
            <a:r>
              <a:rPr lang="en-US" sz="167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Usuarios tengan cuentas para acceder al sistema </a:t>
            </a:r>
          </a:p>
          <a:p>
            <a:pPr algn="l" marL="360669" indent="-180334" lvl="1">
              <a:lnSpc>
                <a:spcPts val="2572"/>
              </a:lnSpc>
              <a:buFont typeface="Arial"/>
              <a:buChar char="•"/>
            </a:pPr>
            <a:r>
              <a:rPr lang="en-US" sz="167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El administrador pueda ver y modificar los datos de los usuarios</a:t>
            </a:r>
          </a:p>
          <a:p>
            <a:pPr algn="l" marL="360669" indent="-180334" lvl="1">
              <a:lnSpc>
                <a:spcPts val="2572"/>
              </a:lnSpc>
              <a:buFont typeface="Arial"/>
              <a:buChar char="•"/>
            </a:pPr>
            <a:r>
              <a:rPr lang="en-US" sz="167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Apoderados puedan ver la información académicas de sus hijos (notas, pruebas y pagar cuotas)</a:t>
            </a:r>
          </a:p>
          <a:p>
            <a:pPr algn="l" marL="360669" indent="-180334" lvl="1">
              <a:lnSpc>
                <a:spcPts val="2572"/>
              </a:lnSpc>
              <a:buFont typeface="Arial"/>
              <a:buChar char="•"/>
            </a:pPr>
            <a:r>
              <a:rPr lang="en-US" sz="167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Profesores poder agilizar sus procesos (Poner notas, crear asignaturas y poner fechas evaluativas)</a:t>
            </a:r>
          </a:p>
          <a:p>
            <a:pPr algn="l">
              <a:lnSpc>
                <a:spcPts val="2572"/>
              </a:lnSpc>
            </a:pP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0" y="81600"/>
            <a:ext cx="3329977" cy="3329977"/>
          </a:xfrm>
          <a:custGeom>
            <a:avLst/>
            <a:gdLst/>
            <a:ahLst/>
            <a:cxnLst/>
            <a:rect r="r" b="b" t="t" l="l"/>
            <a:pathLst>
              <a:path h="3329977" w="3329977">
                <a:moveTo>
                  <a:pt x="0" y="0"/>
                </a:moveTo>
                <a:lnTo>
                  <a:pt x="3329977" y="0"/>
                </a:lnTo>
                <a:lnTo>
                  <a:pt x="3329977" y="3329977"/>
                </a:lnTo>
                <a:lnTo>
                  <a:pt x="0" y="33299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249631" y="1024668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7403B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INTRANET - CSAH</a:t>
            </a:r>
          </a:p>
        </p:txBody>
      </p:sp>
      <p:sp>
        <p:nvSpPr>
          <p:cNvPr name="AutoShape 28" id="28"/>
          <p:cNvSpPr/>
          <p:nvPr/>
        </p:nvSpPr>
        <p:spPr>
          <a:xfrm flipV="true">
            <a:off x="1243983" y="1491393"/>
            <a:ext cx="4014720" cy="4762"/>
          </a:xfrm>
          <a:prstGeom prst="line">
            <a:avLst/>
          </a:prstGeom>
          <a:ln cap="rnd" w="9525">
            <a:solidFill>
              <a:srgbClr val="27403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9" id="29"/>
          <p:cNvSpPr/>
          <p:nvPr/>
        </p:nvSpPr>
        <p:spPr>
          <a:xfrm flipH="false" flipV="false" rot="-10800000">
            <a:off x="14944599" y="6833041"/>
            <a:ext cx="3329977" cy="3329977"/>
          </a:xfrm>
          <a:custGeom>
            <a:avLst/>
            <a:gdLst/>
            <a:ahLst/>
            <a:cxnLst/>
            <a:rect r="r" b="b" t="t" l="l"/>
            <a:pathLst>
              <a:path h="3329977" w="3329977">
                <a:moveTo>
                  <a:pt x="0" y="0"/>
                </a:moveTo>
                <a:lnTo>
                  <a:pt x="3329977" y="0"/>
                </a:lnTo>
                <a:lnTo>
                  <a:pt x="3329977" y="3329978"/>
                </a:lnTo>
                <a:lnTo>
                  <a:pt x="0" y="33299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55" y="103274"/>
            <a:ext cx="18286245" cy="10080452"/>
            <a:chOff x="0" y="0"/>
            <a:chExt cx="24381660" cy="1344060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1660" cy="13440602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307168" y="307199"/>
              <a:ext cx="23746380" cy="12778160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08132" y="722324"/>
              <a:ext cx="23009562" cy="11981640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2903295" y="3248060"/>
            <a:ext cx="13368861" cy="1861397"/>
            <a:chOff x="0" y="0"/>
            <a:chExt cx="36003197" cy="50128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003046" cy="5012813"/>
            </a:xfrm>
            <a:custGeom>
              <a:avLst/>
              <a:gdLst/>
              <a:ahLst/>
              <a:cxnLst/>
              <a:rect r="r" b="b" t="t" l="l"/>
              <a:pathLst>
                <a:path h="5012813" w="36003046">
                  <a:moveTo>
                    <a:pt x="0" y="501281"/>
                  </a:moveTo>
                  <a:cubicBezTo>
                    <a:pt x="0" y="224535"/>
                    <a:pt x="287217" y="0"/>
                    <a:pt x="641222" y="0"/>
                  </a:cubicBezTo>
                  <a:lnTo>
                    <a:pt x="35361826" y="0"/>
                  </a:lnTo>
                  <a:cubicBezTo>
                    <a:pt x="35715829" y="0"/>
                    <a:pt x="36003046" y="224535"/>
                    <a:pt x="36003046" y="501281"/>
                  </a:cubicBezTo>
                  <a:lnTo>
                    <a:pt x="36003046" y="4511532"/>
                  </a:lnTo>
                  <a:cubicBezTo>
                    <a:pt x="36003046" y="4788279"/>
                    <a:pt x="35715829" y="5012813"/>
                    <a:pt x="35361826" y="5012813"/>
                  </a:cubicBezTo>
                  <a:lnTo>
                    <a:pt x="641222" y="5012813"/>
                  </a:lnTo>
                  <a:cubicBezTo>
                    <a:pt x="287217" y="5012813"/>
                    <a:pt x="0" y="4788513"/>
                    <a:pt x="0" y="4511532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3229472" y="3310218"/>
            <a:ext cx="12772532" cy="2023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5536" indent="-227768" lvl="1">
              <a:lnSpc>
                <a:spcPts val="3249"/>
              </a:lnSpc>
              <a:buFont typeface="Arial"/>
              <a:buChar char="•"/>
            </a:pPr>
            <a:r>
              <a:rPr lang="en-US" sz="21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Módulo Administrativo: Dashboard con métricas, gestión de usuarios y cursos.</a:t>
            </a:r>
          </a:p>
          <a:p>
            <a:pPr algn="l" marL="455536" indent="-227768" lvl="1">
              <a:lnSpc>
                <a:spcPts val="3249"/>
              </a:lnSpc>
              <a:buFont typeface="Arial"/>
              <a:buChar char="•"/>
            </a:pPr>
            <a:r>
              <a:rPr lang="en-US" sz="21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Módulo Financiero: Visualización y aprobación de pagos.</a:t>
            </a:r>
          </a:p>
          <a:p>
            <a:pPr algn="l" marL="455536" indent="-227768" lvl="1">
              <a:lnSpc>
                <a:spcPts val="3249"/>
              </a:lnSpc>
              <a:buFont typeface="Arial"/>
              <a:buChar char="•"/>
            </a:pPr>
            <a:r>
              <a:rPr lang="en-US" sz="21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Módulo Profesores : Ver cursos, asignar pruebas, poner notas</a:t>
            </a:r>
          </a:p>
          <a:p>
            <a:pPr algn="l" marL="455536" indent="-227768" lvl="1">
              <a:lnSpc>
                <a:spcPts val="3249"/>
              </a:lnSpc>
              <a:buFont typeface="Arial"/>
              <a:buChar char="•"/>
            </a:pPr>
            <a:r>
              <a:rPr lang="en-US" sz="21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Módulo alumno: Ver notas, horarios, pagos, pruebas y calendario.</a:t>
            </a:r>
          </a:p>
          <a:p>
            <a:pPr algn="l">
              <a:lnSpc>
                <a:spcPts val="324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4449637" y="1868436"/>
            <a:ext cx="9545603" cy="57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883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Alcances y limitaciones del proyecto</a:t>
            </a:r>
          </a:p>
        </p:txBody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2937427" y="780782"/>
            <a:ext cx="4712109" cy="1178028"/>
            <a:chOff x="0" y="0"/>
            <a:chExt cx="6282812" cy="1570704"/>
          </a:xfrm>
        </p:grpSpPr>
        <p:sp>
          <p:nvSpPr>
            <p:cNvPr name="Freeform 17" id="17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903295" y="2599341"/>
            <a:ext cx="2965799" cy="57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883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Alcances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903295" y="6201134"/>
            <a:ext cx="13368861" cy="1861397"/>
            <a:chOff x="0" y="0"/>
            <a:chExt cx="36003197" cy="50128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003046" cy="5012813"/>
            </a:xfrm>
            <a:custGeom>
              <a:avLst/>
              <a:gdLst/>
              <a:ahLst/>
              <a:cxnLst/>
              <a:rect r="r" b="b" t="t" l="l"/>
              <a:pathLst>
                <a:path h="5012813" w="36003046">
                  <a:moveTo>
                    <a:pt x="0" y="501281"/>
                  </a:moveTo>
                  <a:cubicBezTo>
                    <a:pt x="0" y="224535"/>
                    <a:pt x="287217" y="0"/>
                    <a:pt x="641222" y="0"/>
                  </a:cubicBezTo>
                  <a:lnTo>
                    <a:pt x="35361826" y="0"/>
                  </a:lnTo>
                  <a:cubicBezTo>
                    <a:pt x="35715829" y="0"/>
                    <a:pt x="36003046" y="224535"/>
                    <a:pt x="36003046" y="501281"/>
                  </a:cubicBezTo>
                  <a:lnTo>
                    <a:pt x="36003046" y="4511532"/>
                  </a:lnTo>
                  <a:cubicBezTo>
                    <a:pt x="36003046" y="4788279"/>
                    <a:pt x="35715829" y="5012813"/>
                    <a:pt x="35361826" y="5012813"/>
                  </a:cubicBezTo>
                  <a:lnTo>
                    <a:pt x="641222" y="5012813"/>
                  </a:lnTo>
                  <a:cubicBezTo>
                    <a:pt x="287217" y="5012813"/>
                    <a:pt x="0" y="4788513"/>
                    <a:pt x="0" y="4511532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3201460" y="6411005"/>
            <a:ext cx="12772532" cy="2023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5536" indent="-227768" lvl="1">
              <a:lnSpc>
                <a:spcPts val="3249"/>
              </a:lnSpc>
              <a:buFont typeface="Arial"/>
              <a:buChar char="•"/>
            </a:pPr>
            <a:r>
              <a:rPr lang="en-US" sz="21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El sistema requiere conexión a internet para operar (Basado en la nube).</a:t>
            </a:r>
          </a:p>
          <a:p>
            <a:pPr algn="l" marL="455536" indent="-227768" lvl="1">
              <a:lnSpc>
                <a:spcPts val="3249"/>
              </a:lnSpc>
              <a:buFont typeface="Arial"/>
              <a:buChar char="•"/>
            </a:pPr>
            <a:r>
              <a:rPr lang="en-US" sz="21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 carga inicial de datos históricos depende de la calidad de los Excel entregados por el colegio.</a:t>
            </a:r>
          </a:p>
          <a:p>
            <a:pPr algn="l" marL="455536" indent="-227768" lvl="1">
              <a:lnSpc>
                <a:spcPts val="3249"/>
              </a:lnSpc>
              <a:buFont typeface="Arial"/>
              <a:buChar char="•"/>
            </a:pPr>
            <a:r>
              <a:rPr lang="en-US" sz="21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curva de aprendizaje</a:t>
            </a:r>
          </a:p>
          <a:p>
            <a:pPr algn="l">
              <a:lnSpc>
                <a:spcPts val="3249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2985149" y="5552736"/>
            <a:ext cx="2965799" cy="572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883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Limitaciones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83609" y="103274"/>
            <a:ext cx="2901540" cy="2901540"/>
          </a:xfrm>
          <a:custGeom>
            <a:avLst/>
            <a:gdLst/>
            <a:ahLst/>
            <a:cxnLst/>
            <a:rect r="r" b="b" t="t" l="l"/>
            <a:pathLst>
              <a:path h="2901540" w="2901540">
                <a:moveTo>
                  <a:pt x="0" y="0"/>
                </a:moveTo>
                <a:lnTo>
                  <a:pt x="2901540" y="0"/>
                </a:lnTo>
                <a:lnTo>
                  <a:pt x="2901540" y="2901540"/>
                </a:lnTo>
                <a:lnTo>
                  <a:pt x="0" y="29015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49631" y="1024668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7403B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INTRANET - CSAH</a:t>
            </a:r>
          </a:p>
        </p:txBody>
      </p:sp>
      <p:sp>
        <p:nvSpPr>
          <p:cNvPr name="AutoShape 25" id="25"/>
          <p:cNvSpPr/>
          <p:nvPr/>
        </p:nvSpPr>
        <p:spPr>
          <a:xfrm flipV="true">
            <a:off x="1243983" y="1491393"/>
            <a:ext cx="4014720" cy="4762"/>
          </a:xfrm>
          <a:prstGeom prst="line">
            <a:avLst/>
          </a:prstGeom>
          <a:ln cap="rnd" w="9525">
            <a:solidFill>
              <a:srgbClr val="27403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6" id="26"/>
          <p:cNvSpPr/>
          <p:nvPr/>
        </p:nvSpPr>
        <p:spPr>
          <a:xfrm flipH="false" flipV="false" rot="-10800000">
            <a:off x="14857160" y="6752886"/>
            <a:ext cx="3430840" cy="3430840"/>
          </a:xfrm>
          <a:custGeom>
            <a:avLst/>
            <a:gdLst/>
            <a:ahLst/>
            <a:cxnLst/>
            <a:rect r="r" b="b" t="t" l="l"/>
            <a:pathLst>
              <a:path h="3430840" w="3430840">
                <a:moveTo>
                  <a:pt x="0" y="0"/>
                </a:moveTo>
                <a:lnTo>
                  <a:pt x="3430840" y="0"/>
                </a:lnTo>
                <a:lnTo>
                  <a:pt x="3430840" y="3430840"/>
                </a:lnTo>
                <a:lnTo>
                  <a:pt x="0" y="3430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55" y="103274"/>
            <a:ext cx="18286245" cy="10080452"/>
            <a:chOff x="0" y="0"/>
            <a:chExt cx="24381660" cy="1344060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1660" cy="13440602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307168" y="307199"/>
              <a:ext cx="23746380" cy="12778160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08132" y="722324"/>
              <a:ext cx="23009562" cy="11981640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880354" y="3973080"/>
            <a:ext cx="16230600" cy="1910895"/>
            <a:chOff x="0" y="0"/>
            <a:chExt cx="34397610" cy="40497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397466" cy="4049733"/>
            </a:xfrm>
            <a:custGeom>
              <a:avLst/>
              <a:gdLst/>
              <a:ahLst/>
              <a:cxnLst/>
              <a:rect r="r" b="b" t="t" l="l"/>
              <a:pathLst>
                <a:path h="4049733" w="34397466">
                  <a:moveTo>
                    <a:pt x="0" y="404973"/>
                  </a:moveTo>
                  <a:cubicBezTo>
                    <a:pt x="0" y="181396"/>
                    <a:pt x="274408" y="0"/>
                    <a:pt x="612626" y="0"/>
                  </a:cubicBezTo>
                  <a:lnTo>
                    <a:pt x="33784843" y="0"/>
                  </a:lnTo>
                  <a:cubicBezTo>
                    <a:pt x="34123058" y="0"/>
                    <a:pt x="34397466" y="181396"/>
                    <a:pt x="34397466" y="404973"/>
                  </a:cubicBezTo>
                  <a:lnTo>
                    <a:pt x="34397466" y="3644759"/>
                  </a:lnTo>
                  <a:cubicBezTo>
                    <a:pt x="34397466" y="3868336"/>
                    <a:pt x="34123058" y="4049733"/>
                    <a:pt x="33784843" y="4049733"/>
                  </a:cubicBezTo>
                  <a:lnTo>
                    <a:pt x="612626" y="4049733"/>
                  </a:lnTo>
                  <a:cubicBezTo>
                    <a:pt x="274408" y="4049733"/>
                    <a:pt x="0" y="3868525"/>
                    <a:pt x="0" y="3644759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2937427" y="780782"/>
            <a:ext cx="4712109" cy="1178028"/>
            <a:chOff x="0" y="0"/>
            <a:chExt cx="6282812" cy="1570704"/>
          </a:xfrm>
        </p:grpSpPr>
        <p:sp>
          <p:nvSpPr>
            <p:cNvPr name="Freeform 15" id="15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907910" y="1886617"/>
            <a:ext cx="14175487" cy="1134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883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Metodología de trabajo para el desarrollo del proyecto</a:t>
            </a:r>
          </a:p>
          <a:p>
            <a:pPr algn="ctr">
              <a:lnSpc>
                <a:spcPts val="4427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020968" y="2818393"/>
            <a:ext cx="4796483" cy="414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6"/>
              </a:lnSpc>
            </a:pPr>
            <a:r>
              <a:rPr lang="en-US" sz="2786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Metodología: Ágil (Scrum)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4202382"/>
            <a:ext cx="15955641" cy="142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6"/>
              </a:lnSpc>
              <a:spcBef>
                <a:spcPct val="0"/>
              </a:spcBef>
            </a:pPr>
            <a:r>
              <a:rPr lang="en-US" b="true" sz="206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Sprints: </a:t>
            </a:r>
            <a:r>
              <a:rPr lang="en-US" sz="20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Ciclos de desarrollo incrementales.</a:t>
            </a:r>
          </a:p>
          <a:p>
            <a:pPr algn="l">
              <a:lnSpc>
                <a:spcPts val="2896"/>
              </a:lnSpc>
              <a:spcBef>
                <a:spcPct val="0"/>
              </a:spcBef>
            </a:pPr>
            <a:r>
              <a:rPr lang="en-US" b="true" sz="206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Daily Meetings: </a:t>
            </a:r>
            <a:r>
              <a:rPr lang="en-US" sz="20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Reuniones de 15 minutos para sincronización del equipo.</a:t>
            </a:r>
          </a:p>
          <a:p>
            <a:pPr algn="l">
              <a:lnSpc>
                <a:spcPts val="2896"/>
              </a:lnSpc>
              <a:spcBef>
                <a:spcPct val="0"/>
              </a:spcBef>
            </a:pPr>
            <a:r>
              <a:rPr lang="en-US" b="true" sz="206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Herramientas: </a:t>
            </a:r>
            <a:r>
              <a:rPr lang="en-US" sz="20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Trello para las evidencias y mostrar una trazabilidad completa del proyecto y Discord para comunicación.</a:t>
            </a:r>
          </a:p>
          <a:p>
            <a:pPr algn="l">
              <a:lnSpc>
                <a:spcPts val="2896"/>
              </a:lnSpc>
              <a:spcBef>
                <a:spcPct val="0"/>
              </a:spcBef>
            </a:pPr>
            <a:r>
              <a:rPr lang="en-US" b="true" sz="206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Sprint Review:</a:t>
            </a:r>
            <a:r>
              <a:rPr lang="en-US" sz="206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Validación constante con el cliente (Director).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521401" y="6088991"/>
            <a:ext cx="9925420" cy="656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i="true">
                <a:solidFill>
                  <a:srgbClr val="27403B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"Para nosotros, la metodología fue vital, no fue solo teoría, fue la herramienta que nos permitió organizarnos y  desarrollar el proyecto de forma correcta.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755" y="103274"/>
            <a:ext cx="3329977" cy="3329977"/>
          </a:xfrm>
          <a:custGeom>
            <a:avLst/>
            <a:gdLst/>
            <a:ahLst/>
            <a:cxnLst/>
            <a:rect r="r" b="b" t="t" l="l"/>
            <a:pathLst>
              <a:path h="3329977" w="3329977">
                <a:moveTo>
                  <a:pt x="0" y="0"/>
                </a:moveTo>
                <a:lnTo>
                  <a:pt x="3329977" y="0"/>
                </a:lnTo>
                <a:lnTo>
                  <a:pt x="3329977" y="3329978"/>
                </a:lnTo>
                <a:lnTo>
                  <a:pt x="0" y="33299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249631" y="1024668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7403B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INTRANET - CSAH</a:t>
            </a:r>
          </a:p>
        </p:txBody>
      </p:sp>
      <p:sp>
        <p:nvSpPr>
          <p:cNvPr name="AutoShape 22" id="22"/>
          <p:cNvSpPr/>
          <p:nvPr/>
        </p:nvSpPr>
        <p:spPr>
          <a:xfrm flipV="true">
            <a:off x="1243983" y="1491393"/>
            <a:ext cx="4014720" cy="4762"/>
          </a:xfrm>
          <a:prstGeom prst="line">
            <a:avLst/>
          </a:prstGeom>
          <a:ln cap="rnd" w="9525">
            <a:solidFill>
              <a:srgbClr val="27403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3" id="23"/>
          <p:cNvSpPr/>
          <p:nvPr/>
        </p:nvSpPr>
        <p:spPr>
          <a:xfrm flipH="false" flipV="false" rot="-10800000">
            <a:off x="14848001" y="6745572"/>
            <a:ext cx="3439999" cy="3439999"/>
          </a:xfrm>
          <a:custGeom>
            <a:avLst/>
            <a:gdLst/>
            <a:ahLst/>
            <a:cxnLst/>
            <a:rect r="r" b="b" t="t" l="l"/>
            <a:pathLst>
              <a:path h="3439999" w="3439999">
                <a:moveTo>
                  <a:pt x="0" y="0"/>
                </a:moveTo>
                <a:lnTo>
                  <a:pt x="3439999" y="0"/>
                </a:lnTo>
                <a:lnTo>
                  <a:pt x="3439999" y="3439999"/>
                </a:lnTo>
                <a:lnTo>
                  <a:pt x="0" y="34399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1600"/>
            <a:ext cx="18288000" cy="10081419"/>
            <a:chOff x="0" y="0"/>
            <a:chExt cx="24384000" cy="1344189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441892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307197" y="307228"/>
              <a:ext cx="23748659" cy="12779386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08200" y="722393"/>
              <a:ext cx="23011770" cy="11982790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3878583" y="780782"/>
            <a:ext cx="3770953" cy="942739"/>
            <a:chOff x="0" y="0"/>
            <a:chExt cx="6282812" cy="1570704"/>
          </a:xfrm>
        </p:grpSpPr>
        <p:sp>
          <p:nvSpPr>
            <p:cNvPr name="Freeform 13" id="1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597256" y="3102977"/>
            <a:ext cx="9006773" cy="1060404"/>
            <a:chOff x="0" y="0"/>
            <a:chExt cx="34397610" cy="40497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397466" cy="4049733"/>
            </a:xfrm>
            <a:custGeom>
              <a:avLst/>
              <a:gdLst/>
              <a:ahLst/>
              <a:cxnLst/>
              <a:rect r="r" b="b" t="t" l="l"/>
              <a:pathLst>
                <a:path h="4049733" w="34397466">
                  <a:moveTo>
                    <a:pt x="0" y="404973"/>
                  </a:moveTo>
                  <a:cubicBezTo>
                    <a:pt x="0" y="181396"/>
                    <a:pt x="274408" y="0"/>
                    <a:pt x="612626" y="0"/>
                  </a:cubicBezTo>
                  <a:lnTo>
                    <a:pt x="33784843" y="0"/>
                  </a:lnTo>
                  <a:cubicBezTo>
                    <a:pt x="34123058" y="0"/>
                    <a:pt x="34397466" y="181396"/>
                    <a:pt x="34397466" y="404973"/>
                  </a:cubicBezTo>
                  <a:lnTo>
                    <a:pt x="34397466" y="3644759"/>
                  </a:lnTo>
                  <a:cubicBezTo>
                    <a:pt x="34397466" y="3868336"/>
                    <a:pt x="34123058" y="4049733"/>
                    <a:pt x="33784843" y="4049733"/>
                  </a:cubicBezTo>
                  <a:lnTo>
                    <a:pt x="612626" y="4049733"/>
                  </a:lnTo>
                  <a:cubicBezTo>
                    <a:pt x="274408" y="4049733"/>
                    <a:pt x="0" y="3868525"/>
                    <a:pt x="0" y="3644759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45233" y="4543121"/>
            <a:ext cx="17004303" cy="1806707"/>
          </a:xfrm>
          <a:custGeom>
            <a:avLst/>
            <a:gdLst/>
            <a:ahLst/>
            <a:cxnLst/>
            <a:rect r="r" b="b" t="t" l="l"/>
            <a:pathLst>
              <a:path h="1806707" w="17004303">
                <a:moveTo>
                  <a:pt x="0" y="0"/>
                </a:moveTo>
                <a:lnTo>
                  <a:pt x="17004303" y="0"/>
                </a:lnTo>
                <a:lnTo>
                  <a:pt x="17004303" y="1806707"/>
                </a:lnTo>
                <a:lnTo>
                  <a:pt x="0" y="18067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710100" y="1885050"/>
            <a:ext cx="14483023" cy="42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5"/>
              </a:lnSpc>
            </a:pPr>
            <a:r>
              <a:rPr lang="en-US" b="true" sz="2820" spc="908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CRONOGRAMA PARA EL DESARROLLO DEL PROYECTO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51629" y="3371241"/>
            <a:ext cx="806739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7403B"/>
                </a:solidFill>
                <a:latin typeface="Calibri (MS)"/>
                <a:ea typeface="Calibri (MS)"/>
                <a:cs typeface="Calibri (MS)"/>
                <a:sym typeface="Calibri (MS)"/>
              </a:rPr>
              <a:t>Sprint 1 Planificación:  Semana 1 - Semana 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597256" y="6585600"/>
            <a:ext cx="9100256" cy="52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se definieron los roles del equipo, se levantaron y validaron los requerimientos, se realizaron reuniones con el cliente y se construyó el product backlog junto a las historias de usuario.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0" y="136962"/>
            <a:ext cx="2966015" cy="2966015"/>
          </a:xfrm>
          <a:custGeom>
            <a:avLst/>
            <a:gdLst/>
            <a:ahLst/>
            <a:cxnLst/>
            <a:rect r="r" b="b" t="t" l="l"/>
            <a:pathLst>
              <a:path h="2966015" w="2966015">
                <a:moveTo>
                  <a:pt x="0" y="0"/>
                </a:moveTo>
                <a:lnTo>
                  <a:pt x="2966015" y="0"/>
                </a:lnTo>
                <a:lnTo>
                  <a:pt x="2966015" y="2966015"/>
                </a:lnTo>
                <a:lnTo>
                  <a:pt x="0" y="29660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249631" y="1024668"/>
            <a:ext cx="430595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7403B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INTRANET - CSAH</a:t>
            </a:r>
          </a:p>
        </p:txBody>
      </p:sp>
      <p:sp>
        <p:nvSpPr>
          <p:cNvPr name="AutoShape 22" id="22"/>
          <p:cNvSpPr/>
          <p:nvPr/>
        </p:nvSpPr>
        <p:spPr>
          <a:xfrm flipV="true">
            <a:off x="1243983" y="1491393"/>
            <a:ext cx="4014720" cy="4762"/>
          </a:xfrm>
          <a:prstGeom prst="line">
            <a:avLst/>
          </a:prstGeom>
          <a:ln cap="rnd" w="9525">
            <a:solidFill>
              <a:srgbClr val="27403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3" id="23"/>
          <p:cNvSpPr/>
          <p:nvPr/>
        </p:nvSpPr>
        <p:spPr>
          <a:xfrm flipH="false" flipV="false" rot="-10800000">
            <a:off x="14958023" y="6769324"/>
            <a:ext cx="3329977" cy="3329977"/>
          </a:xfrm>
          <a:custGeom>
            <a:avLst/>
            <a:gdLst/>
            <a:ahLst/>
            <a:cxnLst/>
            <a:rect r="r" b="b" t="t" l="l"/>
            <a:pathLst>
              <a:path h="3329977" w="3329977">
                <a:moveTo>
                  <a:pt x="0" y="0"/>
                </a:moveTo>
                <a:lnTo>
                  <a:pt x="3329977" y="0"/>
                </a:lnTo>
                <a:lnTo>
                  <a:pt x="3329977" y="3329977"/>
                </a:lnTo>
                <a:lnTo>
                  <a:pt x="0" y="3329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1600"/>
            <a:ext cx="18288000" cy="10081419"/>
            <a:chOff x="0" y="0"/>
            <a:chExt cx="24384000" cy="1344189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441892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307197" y="307228"/>
              <a:ext cx="23748659" cy="12779386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08200" y="722393"/>
              <a:ext cx="23011770" cy="11982790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3878583" y="780782"/>
            <a:ext cx="3770953" cy="942739"/>
            <a:chOff x="0" y="0"/>
            <a:chExt cx="6282812" cy="1570704"/>
          </a:xfrm>
        </p:grpSpPr>
        <p:sp>
          <p:nvSpPr>
            <p:cNvPr name="Freeform 13" id="1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448225" y="2441057"/>
            <a:ext cx="9006773" cy="1060404"/>
            <a:chOff x="0" y="0"/>
            <a:chExt cx="34397610" cy="40497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397466" cy="4049733"/>
            </a:xfrm>
            <a:custGeom>
              <a:avLst/>
              <a:gdLst/>
              <a:ahLst/>
              <a:cxnLst/>
              <a:rect r="r" b="b" t="t" l="l"/>
              <a:pathLst>
                <a:path h="4049733" w="34397466">
                  <a:moveTo>
                    <a:pt x="0" y="404973"/>
                  </a:moveTo>
                  <a:cubicBezTo>
                    <a:pt x="0" y="181396"/>
                    <a:pt x="274408" y="0"/>
                    <a:pt x="612626" y="0"/>
                  </a:cubicBezTo>
                  <a:lnTo>
                    <a:pt x="33784843" y="0"/>
                  </a:lnTo>
                  <a:cubicBezTo>
                    <a:pt x="34123058" y="0"/>
                    <a:pt x="34397466" y="181396"/>
                    <a:pt x="34397466" y="404973"/>
                  </a:cubicBezTo>
                  <a:lnTo>
                    <a:pt x="34397466" y="3644759"/>
                  </a:lnTo>
                  <a:cubicBezTo>
                    <a:pt x="34397466" y="3868336"/>
                    <a:pt x="34123058" y="4049733"/>
                    <a:pt x="33784843" y="4049733"/>
                  </a:cubicBezTo>
                  <a:lnTo>
                    <a:pt x="612626" y="4049733"/>
                  </a:lnTo>
                  <a:cubicBezTo>
                    <a:pt x="274408" y="4049733"/>
                    <a:pt x="0" y="3868525"/>
                    <a:pt x="0" y="3644759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3315437" y="3635924"/>
            <a:ext cx="11774410" cy="5857769"/>
          </a:xfrm>
          <a:custGeom>
            <a:avLst/>
            <a:gdLst/>
            <a:ahLst/>
            <a:cxnLst/>
            <a:rect r="r" b="b" t="t" l="l"/>
            <a:pathLst>
              <a:path h="5857769" w="11774410">
                <a:moveTo>
                  <a:pt x="0" y="0"/>
                </a:moveTo>
                <a:lnTo>
                  <a:pt x="11774409" y="0"/>
                </a:lnTo>
                <a:lnTo>
                  <a:pt x="11774409" y="5857768"/>
                </a:lnTo>
                <a:lnTo>
                  <a:pt x="0" y="58577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710100" y="1885050"/>
            <a:ext cx="14483023" cy="42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5"/>
              </a:lnSpc>
            </a:pPr>
            <a:r>
              <a:rPr lang="en-US" b="true" sz="2820" spc="908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CRONOGRAMA PARA EL DESARROLLO DEL PROYECTO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32970" y="2717999"/>
            <a:ext cx="7725576" cy="449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2"/>
              </a:lnSpc>
            </a:pPr>
            <a:r>
              <a:rPr lang="en-US" sz="2585">
                <a:solidFill>
                  <a:srgbClr val="27403B"/>
                </a:solidFill>
                <a:latin typeface="Calibri (MS)"/>
                <a:ea typeface="Calibri (MS)"/>
                <a:cs typeface="Calibri (MS)"/>
                <a:sym typeface="Calibri (MS)"/>
              </a:rPr>
              <a:t>Sprint 2 Desarrollo:</a:t>
            </a:r>
            <a:r>
              <a:rPr lang="en-US" sz="2585">
                <a:solidFill>
                  <a:srgbClr val="27403B"/>
                </a:solidFill>
                <a:latin typeface="Calibri (MS)"/>
                <a:ea typeface="Calibri (MS)"/>
                <a:cs typeface="Calibri (MS)"/>
                <a:sym typeface="Calibri (MS)"/>
              </a:rPr>
              <a:t> Semana 5 - Semana 15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205167" y="4437207"/>
            <a:ext cx="2265086" cy="2939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4"/>
              </a:lnSpc>
              <a:spcBef>
                <a:spcPct val="0"/>
              </a:spcBef>
            </a:pPr>
            <a:r>
              <a:rPr lang="en-US" sz="1674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diseño de diagramas, mockups e interfaces, se implementó la base de datos local y se desarrollaron los módulos principales del sistema junto con su lógica backend.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-10800000">
            <a:off x="15089846" y="6901147"/>
            <a:ext cx="3198154" cy="3198154"/>
          </a:xfrm>
          <a:custGeom>
            <a:avLst/>
            <a:gdLst/>
            <a:ahLst/>
            <a:cxnLst/>
            <a:rect r="r" b="b" t="t" l="l"/>
            <a:pathLst>
              <a:path h="3198154" w="3198154">
                <a:moveTo>
                  <a:pt x="0" y="0"/>
                </a:moveTo>
                <a:lnTo>
                  <a:pt x="3198154" y="0"/>
                </a:lnTo>
                <a:lnTo>
                  <a:pt x="3198154" y="3198154"/>
                </a:lnTo>
                <a:lnTo>
                  <a:pt x="0" y="31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0" y="81600"/>
            <a:ext cx="3315437" cy="3315437"/>
          </a:xfrm>
          <a:custGeom>
            <a:avLst/>
            <a:gdLst/>
            <a:ahLst/>
            <a:cxnLst/>
            <a:rect r="r" b="b" t="t" l="l"/>
            <a:pathLst>
              <a:path h="3315437" w="3315437">
                <a:moveTo>
                  <a:pt x="0" y="0"/>
                </a:moveTo>
                <a:lnTo>
                  <a:pt x="3315437" y="0"/>
                </a:lnTo>
                <a:lnTo>
                  <a:pt x="3315437" y="3315436"/>
                </a:lnTo>
                <a:lnTo>
                  <a:pt x="0" y="33154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49631" y="1024668"/>
            <a:ext cx="430595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7403B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INTRANET - CSAH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1600"/>
            <a:ext cx="18288000" cy="10081419"/>
            <a:chOff x="0" y="0"/>
            <a:chExt cx="24384000" cy="1344189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441892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307197" y="307228"/>
              <a:ext cx="23748659" cy="12779386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08200" y="722393"/>
              <a:ext cx="23011770" cy="11982790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3878583" y="780782"/>
            <a:ext cx="3770953" cy="942739"/>
            <a:chOff x="0" y="0"/>
            <a:chExt cx="6282812" cy="1570704"/>
          </a:xfrm>
        </p:grpSpPr>
        <p:sp>
          <p:nvSpPr>
            <p:cNvPr name="Freeform 13" id="1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871810" y="3178447"/>
            <a:ext cx="9006773" cy="1060404"/>
            <a:chOff x="0" y="0"/>
            <a:chExt cx="34397610" cy="40497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397466" cy="4049733"/>
            </a:xfrm>
            <a:custGeom>
              <a:avLst/>
              <a:gdLst/>
              <a:ahLst/>
              <a:cxnLst/>
              <a:rect r="r" b="b" t="t" l="l"/>
              <a:pathLst>
                <a:path h="4049733" w="34397466">
                  <a:moveTo>
                    <a:pt x="0" y="404973"/>
                  </a:moveTo>
                  <a:cubicBezTo>
                    <a:pt x="0" y="181396"/>
                    <a:pt x="274408" y="0"/>
                    <a:pt x="612626" y="0"/>
                  </a:cubicBezTo>
                  <a:lnTo>
                    <a:pt x="33784843" y="0"/>
                  </a:lnTo>
                  <a:cubicBezTo>
                    <a:pt x="34123058" y="0"/>
                    <a:pt x="34397466" y="181396"/>
                    <a:pt x="34397466" y="404973"/>
                  </a:cubicBezTo>
                  <a:lnTo>
                    <a:pt x="34397466" y="3644759"/>
                  </a:lnTo>
                  <a:cubicBezTo>
                    <a:pt x="34397466" y="3868336"/>
                    <a:pt x="34123058" y="4049733"/>
                    <a:pt x="33784843" y="4049733"/>
                  </a:cubicBezTo>
                  <a:lnTo>
                    <a:pt x="612626" y="4049733"/>
                  </a:lnTo>
                  <a:cubicBezTo>
                    <a:pt x="274408" y="4049733"/>
                    <a:pt x="0" y="3868525"/>
                    <a:pt x="0" y="3644759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17185" y="4705576"/>
            <a:ext cx="17032351" cy="1320007"/>
          </a:xfrm>
          <a:custGeom>
            <a:avLst/>
            <a:gdLst/>
            <a:ahLst/>
            <a:cxnLst/>
            <a:rect r="r" b="b" t="t" l="l"/>
            <a:pathLst>
              <a:path h="1320007" w="17032351">
                <a:moveTo>
                  <a:pt x="0" y="0"/>
                </a:moveTo>
                <a:lnTo>
                  <a:pt x="17032351" y="0"/>
                </a:lnTo>
                <a:lnTo>
                  <a:pt x="17032351" y="1320007"/>
                </a:lnTo>
                <a:lnTo>
                  <a:pt x="0" y="13200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710100" y="2124148"/>
            <a:ext cx="14483023" cy="42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5"/>
              </a:lnSpc>
            </a:pPr>
            <a:r>
              <a:rPr lang="en-US" b="true" sz="2820" spc="908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CRONOGRAMA PARA EL DESARROLLO DEL PROYECTO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878235" y="3455389"/>
            <a:ext cx="7725576" cy="449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2"/>
              </a:lnSpc>
            </a:pPr>
            <a:r>
              <a:rPr lang="en-US" sz="2585">
                <a:solidFill>
                  <a:srgbClr val="27403B"/>
                </a:solidFill>
                <a:latin typeface="Calibri (MS)"/>
                <a:ea typeface="Calibri (MS)"/>
                <a:cs typeface="Calibri (MS)"/>
                <a:sym typeface="Calibri (MS)"/>
              </a:rPr>
              <a:t>Sprint 3 Despliegue: Semana 16 - Semana 18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13834" y="6463733"/>
            <a:ext cx="5475555" cy="116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4"/>
              </a:lnSpc>
              <a:spcBef>
                <a:spcPct val="0"/>
              </a:spcBef>
            </a:pPr>
            <a:r>
              <a:rPr lang="en-US" sz="1674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despliegue del sistema en la nube, se configuró el servidor y se ejecutaron pruebas de funcionamiento para asegurar la calidad del producto final.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-10800000">
            <a:off x="15007330" y="6818631"/>
            <a:ext cx="3280670" cy="3280670"/>
          </a:xfrm>
          <a:custGeom>
            <a:avLst/>
            <a:gdLst/>
            <a:ahLst/>
            <a:cxnLst/>
            <a:rect r="r" b="b" t="t" l="l"/>
            <a:pathLst>
              <a:path h="3280670" w="3280670">
                <a:moveTo>
                  <a:pt x="0" y="0"/>
                </a:moveTo>
                <a:lnTo>
                  <a:pt x="3280670" y="0"/>
                </a:lnTo>
                <a:lnTo>
                  <a:pt x="3280670" y="3280670"/>
                </a:lnTo>
                <a:lnTo>
                  <a:pt x="0" y="32806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0" y="136962"/>
            <a:ext cx="3375577" cy="3375577"/>
          </a:xfrm>
          <a:custGeom>
            <a:avLst/>
            <a:gdLst/>
            <a:ahLst/>
            <a:cxnLst/>
            <a:rect r="r" b="b" t="t" l="l"/>
            <a:pathLst>
              <a:path h="3375577" w="3375577">
                <a:moveTo>
                  <a:pt x="0" y="0"/>
                </a:moveTo>
                <a:lnTo>
                  <a:pt x="3375577" y="0"/>
                </a:lnTo>
                <a:lnTo>
                  <a:pt x="3375577" y="3375577"/>
                </a:lnTo>
                <a:lnTo>
                  <a:pt x="0" y="33755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49631" y="1024668"/>
            <a:ext cx="430595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7403B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INTRANET - CSAH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9239"/>
            <a:ext cx="18288000" cy="10081419"/>
            <a:chOff x="0" y="0"/>
            <a:chExt cx="24384000" cy="1344189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441892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307197" y="307228"/>
              <a:ext cx="23748659" cy="12779386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08200" y="705526"/>
              <a:ext cx="23011770" cy="11982790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3684740" y="780782"/>
            <a:ext cx="3964795" cy="991199"/>
            <a:chOff x="0" y="0"/>
            <a:chExt cx="6282812" cy="1570704"/>
          </a:xfrm>
        </p:grpSpPr>
        <p:sp>
          <p:nvSpPr>
            <p:cNvPr name="Freeform 13" id="1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02120" y="2376059"/>
            <a:ext cx="16620836" cy="7022303"/>
          </a:xfrm>
          <a:custGeom>
            <a:avLst/>
            <a:gdLst/>
            <a:ahLst/>
            <a:cxnLst/>
            <a:rect r="r" b="b" t="t" l="l"/>
            <a:pathLst>
              <a:path h="7022303" w="16620836">
                <a:moveTo>
                  <a:pt x="0" y="0"/>
                </a:moveTo>
                <a:lnTo>
                  <a:pt x="16620836" y="0"/>
                </a:lnTo>
                <a:lnTo>
                  <a:pt x="16620836" y="7022303"/>
                </a:lnTo>
                <a:lnTo>
                  <a:pt x="0" y="70223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904783" y="1496155"/>
            <a:ext cx="12615510" cy="367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1"/>
              </a:lnSpc>
            </a:pPr>
            <a:r>
              <a:rPr lang="en-US" b="true" sz="2457" spc="791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ARQUITECTURA DEL SOFTWARE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-10800000">
            <a:off x="15007330" y="6818631"/>
            <a:ext cx="3280670" cy="3280670"/>
          </a:xfrm>
          <a:custGeom>
            <a:avLst/>
            <a:gdLst/>
            <a:ahLst/>
            <a:cxnLst/>
            <a:rect r="r" b="b" t="t" l="l"/>
            <a:pathLst>
              <a:path h="3280670" w="3280670">
                <a:moveTo>
                  <a:pt x="0" y="0"/>
                </a:moveTo>
                <a:lnTo>
                  <a:pt x="3280670" y="0"/>
                </a:lnTo>
                <a:lnTo>
                  <a:pt x="3280670" y="3280670"/>
                </a:lnTo>
                <a:lnTo>
                  <a:pt x="0" y="32806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0" y="28226"/>
            <a:ext cx="3396934" cy="3396934"/>
          </a:xfrm>
          <a:custGeom>
            <a:avLst/>
            <a:gdLst/>
            <a:ahLst/>
            <a:cxnLst/>
            <a:rect r="r" b="b" t="t" l="l"/>
            <a:pathLst>
              <a:path h="3396934" w="3396934">
                <a:moveTo>
                  <a:pt x="0" y="0"/>
                </a:moveTo>
                <a:lnTo>
                  <a:pt x="3396934" y="0"/>
                </a:lnTo>
                <a:lnTo>
                  <a:pt x="3396934" y="3396933"/>
                </a:lnTo>
                <a:lnTo>
                  <a:pt x="0" y="33969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49631" y="1024668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7403B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INTRANET - CSAH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28176" y="138120"/>
            <a:ext cx="18159824" cy="10010761"/>
            <a:chOff x="0" y="0"/>
            <a:chExt cx="24213098" cy="1334768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213098" cy="13347681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305044" y="305075"/>
              <a:ext cx="23582211" cy="1268981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03237" y="700581"/>
              <a:ext cx="22850486" cy="11898805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5400000">
              <a:off x="19592974" y="0"/>
              <a:ext cx="4620125" cy="4620125"/>
            </a:xfrm>
            <a:custGeom>
              <a:avLst/>
              <a:gdLst/>
              <a:ahLst/>
              <a:cxnLst/>
              <a:rect r="r" b="b" t="t" l="l"/>
              <a:pathLst>
                <a:path h="4620125" w="4620125">
                  <a:moveTo>
                    <a:pt x="0" y="0"/>
                  </a:moveTo>
                  <a:lnTo>
                    <a:pt x="4620124" y="0"/>
                  </a:lnTo>
                  <a:lnTo>
                    <a:pt x="4620124" y="4620125"/>
                  </a:lnTo>
                  <a:lnTo>
                    <a:pt x="0" y="4620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49631" y="1024668"/>
            <a:ext cx="409999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7403B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INTRANET - CSAH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1243983" y="1491393"/>
            <a:ext cx="4078797" cy="4763"/>
          </a:xfrm>
          <a:prstGeom prst="line">
            <a:avLst/>
          </a:prstGeom>
          <a:ln cap="rnd" w="9525">
            <a:solidFill>
              <a:srgbClr val="27403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243983" y="1691331"/>
            <a:ext cx="4712109" cy="1178028"/>
            <a:chOff x="0" y="0"/>
            <a:chExt cx="6282812" cy="1570704"/>
          </a:xfrm>
        </p:grpSpPr>
        <p:sp>
          <p:nvSpPr>
            <p:cNvPr name="Freeform 16" id="16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2"/>
              </a:stretch>
            </a:blipFill>
          </p:spPr>
        </p:sp>
      </p:grpSp>
      <p:sp>
        <p:nvSpPr>
          <p:cNvPr name="Freeform 17" id="17">
            <a:hlinkClick r:id="rId6" tooltip="https://drive.google.com/file/d/1i6_fM7g3rUWgaOqdQ1ZIUKQBdYd3KP4Z/view?usp=sharing"/>
          </p:cNvPr>
          <p:cNvSpPr/>
          <p:nvPr/>
        </p:nvSpPr>
        <p:spPr>
          <a:xfrm flipH="false" flipV="false" rot="0">
            <a:off x="8994339" y="853292"/>
            <a:ext cx="7751828" cy="8809744"/>
          </a:xfrm>
          <a:custGeom>
            <a:avLst/>
            <a:gdLst/>
            <a:ahLst/>
            <a:cxnLst/>
            <a:rect r="r" b="b" t="t" l="l"/>
            <a:pathLst>
              <a:path h="8809744" w="7751828">
                <a:moveTo>
                  <a:pt x="0" y="0"/>
                </a:moveTo>
                <a:lnTo>
                  <a:pt x="7751828" y="0"/>
                </a:lnTo>
                <a:lnTo>
                  <a:pt x="7751828" y="8809744"/>
                </a:lnTo>
                <a:lnTo>
                  <a:pt x="0" y="88097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435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173430" y="4721955"/>
            <a:ext cx="5724404" cy="42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5"/>
              </a:lnSpc>
            </a:pPr>
            <a:r>
              <a:rPr lang="en-US" b="true" sz="2820" spc="908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MODELO DE DATOS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325196" y="80622"/>
            <a:ext cx="17831414" cy="9829722"/>
            <a:chOff x="0" y="0"/>
            <a:chExt cx="23775218" cy="1310629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775218" cy="13106296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9527" y="299558"/>
              <a:ext cx="23155740" cy="12460330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90519" y="704358"/>
              <a:ext cx="22437248" cy="11683622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sp>
        <p:nvSpPr>
          <p:cNvPr name="AutoShape 12" id="12"/>
          <p:cNvSpPr/>
          <p:nvPr/>
        </p:nvSpPr>
        <p:spPr>
          <a:xfrm flipV="true">
            <a:off x="1243983" y="1491393"/>
            <a:ext cx="4014720" cy="4762"/>
          </a:xfrm>
          <a:prstGeom prst="line">
            <a:avLst/>
          </a:prstGeom>
          <a:ln cap="rnd" w="9525">
            <a:solidFill>
              <a:srgbClr val="27403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2763989" y="896115"/>
            <a:ext cx="4712109" cy="1178028"/>
            <a:chOff x="0" y="0"/>
            <a:chExt cx="6282812" cy="1570704"/>
          </a:xfrm>
        </p:grpSpPr>
        <p:sp>
          <p:nvSpPr>
            <p:cNvPr name="Freeform 14" id="14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318535" y="3347152"/>
            <a:ext cx="12673466" cy="665230"/>
            <a:chOff x="0" y="0"/>
            <a:chExt cx="34397610" cy="18055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397466" cy="1805512"/>
            </a:xfrm>
            <a:custGeom>
              <a:avLst/>
              <a:gdLst/>
              <a:ahLst/>
              <a:cxnLst/>
              <a:rect r="r" b="b" t="t" l="l"/>
              <a:pathLst>
                <a:path h="1805512" w="34397466">
                  <a:moveTo>
                    <a:pt x="0" y="180551"/>
                  </a:moveTo>
                  <a:cubicBezTo>
                    <a:pt x="0" y="80873"/>
                    <a:pt x="274408" y="0"/>
                    <a:pt x="612626" y="0"/>
                  </a:cubicBezTo>
                  <a:lnTo>
                    <a:pt x="33784843" y="0"/>
                  </a:lnTo>
                  <a:cubicBezTo>
                    <a:pt x="34123058" y="0"/>
                    <a:pt x="34397466" y="80873"/>
                    <a:pt x="34397466" y="180551"/>
                  </a:cubicBezTo>
                  <a:lnTo>
                    <a:pt x="34397466" y="1624961"/>
                  </a:lnTo>
                  <a:cubicBezTo>
                    <a:pt x="34397466" y="1724639"/>
                    <a:pt x="34123058" y="1805512"/>
                    <a:pt x="33784843" y="1805512"/>
                  </a:cubicBezTo>
                  <a:lnTo>
                    <a:pt x="612626" y="1805512"/>
                  </a:lnTo>
                  <a:cubicBezTo>
                    <a:pt x="274408" y="1805512"/>
                    <a:pt x="0" y="1724723"/>
                    <a:pt x="0" y="1624961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2631564" y="3393102"/>
            <a:ext cx="577945" cy="590449"/>
          </a:xfrm>
          <a:custGeom>
            <a:avLst/>
            <a:gdLst/>
            <a:ahLst/>
            <a:cxnLst/>
            <a:rect r="r" b="b" t="t" l="l"/>
            <a:pathLst>
              <a:path h="590449" w="577945">
                <a:moveTo>
                  <a:pt x="0" y="0"/>
                </a:moveTo>
                <a:lnTo>
                  <a:pt x="577945" y="0"/>
                </a:lnTo>
                <a:lnTo>
                  <a:pt x="577945" y="590449"/>
                </a:lnTo>
                <a:lnTo>
                  <a:pt x="0" y="5904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81" t="0" r="-1081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766136" y="3375725"/>
            <a:ext cx="603188" cy="603188"/>
          </a:xfrm>
          <a:custGeom>
            <a:avLst/>
            <a:gdLst/>
            <a:ahLst/>
            <a:cxnLst/>
            <a:rect r="r" b="b" t="t" l="l"/>
            <a:pathLst>
              <a:path h="603188" w="603188">
                <a:moveTo>
                  <a:pt x="0" y="0"/>
                </a:moveTo>
                <a:lnTo>
                  <a:pt x="603188" y="0"/>
                </a:lnTo>
                <a:lnTo>
                  <a:pt x="603188" y="603189"/>
                </a:lnTo>
                <a:lnTo>
                  <a:pt x="0" y="603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396880" y="3371866"/>
            <a:ext cx="422984" cy="596802"/>
          </a:xfrm>
          <a:custGeom>
            <a:avLst/>
            <a:gdLst/>
            <a:ahLst/>
            <a:cxnLst/>
            <a:rect r="r" b="b" t="t" l="l"/>
            <a:pathLst>
              <a:path h="596802" w="422984">
                <a:moveTo>
                  <a:pt x="0" y="0"/>
                </a:moveTo>
                <a:lnTo>
                  <a:pt x="422984" y="0"/>
                </a:lnTo>
                <a:lnTo>
                  <a:pt x="422984" y="596802"/>
                </a:lnTo>
                <a:lnTo>
                  <a:pt x="0" y="5968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2318535" y="4459801"/>
            <a:ext cx="12673466" cy="665230"/>
            <a:chOff x="0" y="0"/>
            <a:chExt cx="34397610" cy="18055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397466" cy="1805512"/>
            </a:xfrm>
            <a:custGeom>
              <a:avLst/>
              <a:gdLst/>
              <a:ahLst/>
              <a:cxnLst/>
              <a:rect r="r" b="b" t="t" l="l"/>
              <a:pathLst>
                <a:path h="1805512" w="34397466">
                  <a:moveTo>
                    <a:pt x="0" y="180551"/>
                  </a:moveTo>
                  <a:cubicBezTo>
                    <a:pt x="0" y="80873"/>
                    <a:pt x="274408" y="0"/>
                    <a:pt x="612626" y="0"/>
                  </a:cubicBezTo>
                  <a:lnTo>
                    <a:pt x="33784843" y="0"/>
                  </a:lnTo>
                  <a:cubicBezTo>
                    <a:pt x="34123058" y="0"/>
                    <a:pt x="34397466" y="80873"/>
                    <a:pt x="34397466" y="180551"/>
                  </a:cubicBezTo>
                  <a:lnTo>
                    <a:pt x="34397466" y="1624961"/>
                  </a:lnTo>
                  <a:cubicBezTo>
                    <a:pt x="34397466" y="1724639"/>
                    <a:pt x="34123058" y="1805512"/>
                    <a:pt x="33784843" y="1805512"/>
                  </a:cubicBezTo>
                  <a:lnTo>
                    <a:pt x="612626" y="1805512"/>
                  </a:lnTo>
                  <a:cubicBezTo>
                    <a:pt x="274408" y="1805512"/>
                    <a:pt x="0" y="1724723"/>
                    <a:pt x="0" y="1624961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318535" y="5572450"/>
            <a:ext cx="12673466" cy="665230"/>
            <a:chOff x="0" y="0"/>
            <a:chExt cx="34397610" cy="180552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397466" cy="1805512"/>
            </a:xfrm>
            <a:custGeom>
              <a:avLst/>
              <a:gdLst/>
              <a:ahLst/>
              <a:cxnLst/>
              <a:rect r="r" b="b" t="t" l="l"/>
              <a:pathLst>
                <a:path h="1805512" w="34397466">
                  <a:moveTo>
                    <a:pt x="0" y="180551"/>
                  </a:moveTo>
                  <a:cubicBezTo>
                    <a:pt x="0" y="80873"/>
                    <a:pt x="274408" y="0"/>
                    <a:pt x="612626" y="0"/>
                  </a:cubicBezTo>
                  <a:lnTo>
                    <a:pt x="33784843" y="0"/>
                  </a:lnTo>
                  <a:cubicBezTo>
                    <a:pt x="34123058" y="0"/>
                    <a:pt x="34397466" y="80873"/>
                    <a:pt x="34397466" y="180551"/>
                  </a:cubicBezTo>
                  <a:lnTo>
                    <a:pt x="34397466" y="1624961"/>
                  </a:lnTo>
                  <a:cubicBezTo>
                    <a:pt x="34397466" y="1724639"/>
                    <a:pt x="34123058" y="1805512"/>
                    <a:pt x="33784843" y="1805512"/>
                  </a:cubicBezTo>
                  <a:lnTo>
                    <a:pt x="612626" y="1805512"/>
                  </a:lnTo>
                  <a:cubicBezTo>
                    <a:pt x="274408" y="1805512"/>
                    <a:pt x="0" y="1724723"/>
                    <a:pt x="0" y="1624961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318535" y="6685099"/>
            <a:ext cx="12673466" cy="665230"/>
            <a:chOff x="0" y="0"/>
            <a:chExt cx="34397610" cy="18055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4397466" cy="1805512"/>
            </a:xfrm>
            <a:custGeom>
              <a:avLst/>
              <a:gdLst/>
              <a:ahLst/>
              <a:cxnLst/>
              <a:rect r="r" b="b" t="t" l="l"/>
              <a:pathLst>
                <a:path h="1805512" w="34397466">
                  <a:moveTo>
                    <a:pt x="0" y="180551"/>
                  </a:moveTo>
                  <a:cubicBezTo>
                    <a:pt x="0" y="80873"/>
                    <a:pt x="274408" y="0"/>
                    <a:pt x="612626" y="0"/>
                  </a:cubicBezTo>
                  <a:lnTo>
                    <a:pt x="33784843" y="0"/>
                  </a:lnTo>
                  <a:cubicBezTo>
                    <a:pt x="34123058" y="0"/>
                    <a:pt x="34397466" y="80873"/>
                    <a:pt x="34397466" y="180551"/>
                  </a:cubicBezTo>
                  <a:lnTo>
                    <a:pt x="34397466" y="1624961"/>
                  </a:lnTo>
                  <a:cubicBezTo>
                    <a:pt x="34397466" y="1724639"/>
                    <a:pt x="34123058" y="1805512"/>
                    <a:pt x="33784843" y="1805512"/>
                  </a:cubicBezTo>
                  <a:lnTo>
                    <a:pt x="612626" y="1805512"/>
                  </a:lnTo>
                  <a:cubicBezTo>
                    <a:pt x="274408" y="1805512"/>
                    <a:pt x="0" y="1724723"/>
                    <a:pt x="0" y="1624961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318535" y="7644347"/>
            <a:ext cx="12673466" cy="665230"/>
            <a:chOff x="0" y="0"/>
            <a:chExt cx="34397610" cy="180552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397466" cy="1805512"/>
            </a:xfrm>
            <a:custGeom>
              <a:avLst/>
              <a:gdLst/>
              <a:ahLst/>
              <a:cxnLst/>
              <a:rect r="r" b="b" t="t" l="l"/>
              <a:pathLst>
                <a:path h="1805512" w="34397466">
                  <a:moveTo>
                    <a:pt x="0" y="180551"/>
                  </a:moveTo>
                  <a:cubicBezTo>
                    <a:pt x="0" y="80873"/>
                    <a:pt x="274408" y="0"/>
                    <a:pt x="612626" y="0"/>
                  </a:cubicBezTo>
                  <a:lnTo>
                    <a:pt x="33784843" y="0"/>
                  </a:lnTo>
                  <a:cubicBezTo>
                    <a:pt x="34123058" y="0"/>
                    <a:pt x="34397466" y="80873"/>
                    <a:pt x="34397466" y="180551"/>
                  </a:cubicBezTo>
                  <a:lnTo>
                    <a:pt x="34397466" y="1624961"/>
                  </a:lnTo>
                  <a:cubicBezTo>
                    <a:pt x="34397466" y="1724639"/>
                    <a:pt x="34123058" y="1805512"/>
                    <a:pt x="33784843" y="1805512"/>
                  </a:cubicBezTo>
                  <a:lnTo>
                    <a:pt x="612626" y="1805512"/>
                  </a:lnTo>
                  <a:cubicBezTo>
                    <a:pt x="274408" y="1805512"/>
                    <a:pt x="0" y="1724723"/>
                    <a:pt x="0" y="1624961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13574823" y="4551670"/>
            <a:ext cx="525480" cy="525480"/>
          </a:xfrm>
          <a:custGeom>
            <a:avLst/>
            <a:gdLst/>
            <a:ahLst/>
            <a:cxnLst/>
            <a:rect r="r" b="b" t="t" l="l"/>
            <a:pathLst>
              <a:path h="525480" w="525480">
                <a:moveTo>
                  <a:pt x="0" y="0"/>
                </a:moveTo>
                <a:lnTo>
                  <a:pt x="525480" y="0"/>
                </a:lnTo>
                <a:lnTo>
                  <a:pt x="525480" y="525480"/>
                </a:lnTo>
                <a:lnTo>
                  <a:pt x="0" y="5254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203087" y="4551670"/>
            <a:ext cx="647898" cy="516294"/>
          </a:xfrm>
          <a:custGeom>
            <a:avLst/>
            <a:gdLst/>
            <a:ahLst/>
            <a:cxnLst/>
            <a:rect r="r" b="b" t="t" l="l"/>
            <a:pathLst>
              <a:path h="516294" w="647898">
                <a:moveTo>
                  <a:pt x="0" y="0"/>
                </a:moveTo>
                <a:lnTo>
                  <a:pt x="647898" y="0"/>
                </a:lnTo>
                <a:lnTo>
                  <a:pt x="647898" y="516293"/>
                </a:lnTo>
                <a:lnTo>
                  <a:pt x="0" y="5162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2517315" y="5558972"/>
            <a:ext cx="655194" cy="655194"/>
          </a:xfrm>
          <a:custGeom>
            <a:avLst/>
            <a:gdLst/>
            <a:ahLst/>
            <a:cxnLst/>
            <a:rect r="r" b="b" t="t" l="l"/>
            <a:pathLst>
              <a:path h="655194" w="655194">
                <a:moveTo>
                  <a:pt x="0" y="0"/>
                </a:moveTo>
                <a:lnTo>
                  <a:pt x="655194" y="0"/>
                </a:lnTo>
                <a:lnTo>
                  <a:pt x="655194" y="655194"/>
                </a:lnTo>
                <a:lnTo>
                  <a:pt x="0" y="6551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248226" y="5586589"/>
            <a:ext cx="1649377" cy="599961"/>
          </a:xfrm>
          <a:custGeom>
            <a:avLst/>
            <a:gdLst/>
            <a:ahLst/>
            <a:cxnLst/>
            <a:rect r="r" b="b" t="t" l="l"/>
            <a:pathLst>
              <a:path h="599961" w="1649377">
                <a:moveTo>
                  <a:pt x="0" y="0"/>
                </a:moveTo>
                <a:lnTo>
                  <a:pt x="1649377" y="0"/>
                </a:lnTo>
                <a:lnTo>
                  <a:pt x="1649377" y="599961"/>
                </a:lnTo>
                <a:lnTo>
                  <a:pt x="0" y="5999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790889" y="6639104"/>
            <a:ext cx="757046" cy="757046"/>
          </a:xfrm>
          <a:custGeom>
            <a:avLst/>
            <a:gdLst/>
            <a:ahLst/>
            <a:cxnLst/>
            <a:rect r="r" b="b" t="t" l="l"/>
            <a:pathLst>
              <a:path h="757046" w="757046">
                <a:moveTo>
                  <a:pt x="0" y="0"/>
                </a:moveTo>
                <a:lnTo>
                  <a:pt x="757046" y="0"/>
                </a:lnTo>
                <a:lnTo>
                  <a:pt x="757046" y="757047"/>
                </a:lnTo>
                <a:lnTo>
                  <a:pt x="0" y="7570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3505709" y="6713843"/>
            <a:ext cx="594595" cy="594595"/>
          </a:xfrm>
          <a:custGeom>
            <a:avLst/>
            <a:gdLst/>
            <a:ahLst/>
            <a:cxnLst/>
            <a:rect r="r" b="b" t="t" l="l"/>
            <a:pathLst>
              <a:path h="594595" w="594595">
                <a:moveTo>
                  <a:pt x="0" y="0"/>
                </a:moveTo>
                <a:lnTo>
                  <a:pt x="594594" y="0"/>
                </a:lnTo>
                <a:lnTo>
                  <a:pt x="594594" y="594595"/>
                </a:lnTo>
                <a:lnTo>
                  <a:pt x="0" y="59459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0900998" y="7644261"/>
            <a:ext cx="1131467" cy="633622"/>
          </a:xfrm>
          <a:custGeom>
            <a:avLst/>
            <a:gdLst/>
            <a:ahLst/>
            <a:cxnLst/>
            <a:rect r="r" b="b" t="t" l="l"/>
            <a:pathLst>
              <a:path h="633622" w="1131467">
                <a:moveTo>
                  <a:pt x="0" y="0"/>
                </a:moveTo>
                <a:lnTo>
                  <a:pt x="1131467" y="0"/>
                </a:lnTo>
                <a:lnTo>
                  <a:pt x="1131467" y="633621"/>
                </a:lnTo>
                <a:lnTo>
                  <a:pt x="0" y="63362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3127139" y="3371866"/>
            <a:ext cx="742561" cy="611685"/>
          </a:xfrm>
          <a:custGeom>
            <a:avLst/>
            <a:gdLst/>
            <a:ahLst/>
            <a:cxnLst/>
            <a:rect r="r" b="b" t="t" l="l"/>
            <a:pathLst>
              <a:path h="611685" w="742561">
                <a:moveTo>
                  <a:pt x="0" y="0"/>
                </a:moveTo>
                <a:lnTo>
                  <a:pt x="742561" y="0"/>
                </a:lnTo>
                <a:lnTo>
                  <a:pt x="742561" y="611685"/>
                </a:lnTo>
                <a:lnTo>
                  <a:pt x="0" y="61168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4176666" y="6685099"/>
            <a:ext cx="671942" cy="671942"/>
          </a:xfrm>
          <a:custGeom>
            <a:avLst/>
            <a:gdLst/>
            <a:ahLst/>
            <a:cxnLst/>
            <a:rect r="r" b="b" t="t" l="l"/>
            <a:pathLst>
              <a:path h="671942" w="671942">
                <a:moveTo>
                  <a:pt x="0" y="0"/>
                </a:moveTo>
                <a:lnTo>
                  <a:pt x="671942" y="0"/>
                </a:lnTo>
                <a:lnTo>
                  <a:pt x="671942" y="671942"/>
                </a:lnTo>
                <a:lnTo>
                  <a:pt x="0" y="67194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2175939" y="7549297"/>
            <a:ext cx="855330" cy="855330"/>
          </a:xfrm>
          <a:custGeom>
            <a:avLst/>
            <a:gdLst/>
            <a:ahLst/>
            <a:cxnLst/>
            <a:rect r="r" b="b" t="t" l="l"/>
            <a:pathLst>
              <a:path h="855330" w="855330">
                <a:moveTo>
                  <a:pt x="0" y="0"/>
                </a:moveTo>
                <a:lnTo>
                  <a:pt x="855330" y="0"/>
                </a:lnTo>
                <a:lnTo>
                  <a:pt x="855330" y="855330"/>
                </a:lnTo>
                <a:lnTo>
                  <a:pt x="0" y="85533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829338" y="2177727"/>
            <a:ext cx="14483023" cy="42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5"/>
              </a:lnSpc>
            </a:pPr>
            <a:r>
              <a:rPr lang="en-US" b="true" sz="2820" spc="908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TECNOLOGÍAS UTILIZADAS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-10800000">
            <a:off x="14819864" y="6573597"/>
            <a:ext cx="3336746" cy="3336746"/>
          </a:xfrm>
          <a:custGeom>
            <a:avLst/>
            <a:gdLst/>
            <a:ahLst/>
            <a:cxnLst/>
            <a:rect r="r" b="b" t="t" l="l"/>
            <a:pathLst>
              <a:path h="3336746" w="3336746">
                <a:moveTo>
                  <a:pt x="0" y="0"/>
                </a:moveTo>
                <a:lnTo>
                  <a:pt x="3336746" y="0"/>
                </a:lnTo>
                <a:lnTo>
                  <a:pt x="3336746" y="3336747"/>
                </a:lnTo>
                <a:lnTo>
                  <a:pt x="0" y="333674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325196" y="80622"/>
            <a:ext cx="3329977" cy="3329977"/>
          </a:xfrm>
          <a:custGeom>
            <a:avLst/>
            <a:gdLst/>
            <a:ahLst/>
            <a:cxnLst/>
            <a:rect r="r" b="b" t="t" l="l"/>
            <a:pathLst>
              <a:path h="3329977" w="3329977">
                <a:moveTo>
                  <a:pt x="0" y="0"/>
                </a:moveTo>
                <a:lnTo>
                  <a:pt x="3329978" y="0"/>
                </a:lnTo>
                <a:lnTo>
                  <a:pt x="3329978" y="3329977"/>
                </a:lnTo>
                <a:lnTo>
                  <a:pt x="0" y="332997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3174743" y="7773428"/>
            <a:ext cx="1765333" cy="372927"/>
          </a:xfrm>
          <a:custGeom>
            <a:avLst/>
            <a:gdLst/>
            <a:ahLst/>
            <a:cxnLst/>
            <a:rect r="r" b="b" t="t" l="l"/>
            <a:pathLst>
              <a:path h="372927" w="1765333">
                <a:moveTo>
                  <a:pt x="0" y="0"/>
                </a:moveTo>
                <a:lnTo>
                  <a:pt x="1765333" y="0"/>
                </a:lnTo>
                <a:lnTo>
                  <a:pt x="1765333" y="372927"/>
                </a:lnTo>
                <a:lnTo>
                  <a:pt x="0" y="37292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2459697" y="3462490"/>
            <a:ext cx="8859958" cy="38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6"/>
              </a:lnSpc>
              <a:spcBef>
                <a:spcPct val="0"/>
              </a:spcBef>
            </a:pPr>
            <a:r>
              <a:rPr lang="en-US" sz="224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Lenguajes para el desarrollo:  Python, JavaScript, HTML5, CSS.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318535" y="4566569"/>
            <a:ext cx="7894880" cy="38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6"/>
              </a:lnSpc>
              <a:spcBef>
                <a:spcPct val="0"/>
              </a:spcBef>
            </a:pPr>
            <a:r>
              <a:rPr lang="en-US" sz="224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Frameworks/Librerías principales: Django, Bootstrap.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459697" y="5687788"/>
            <a:ext cx="6611152" cy="38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6"/>
              </a:lnSpc>
              <a:spcBef>
                <a:spcPct val="0"/>
              </a:spcBef>
            </a:pPr>
            <a:r>
              <a:rPr lang="en-US" sz="224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lang="en-US" sz="224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ase de Datos: PostgreSQL/AWS Lightsail BD.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318535" y="6800437"/>
            <a:ext cx="7711510" cy="38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6"/>
              </a:lnSpc>
              <a:spcBef>
                <a:spcPct val="0"/>
              </a:spcBef>
            </a:pPr>
            <a:r>
              <a:rPr lang="en-US" sz="224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lang="en-US" sz="224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erramientas: Git/GitHub , Trello (Gestión), VS Code.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404946" y="7759685"/>
            <a:ext cx="7129239" cy="38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6"/>
              </a:lnSpc>
              <a:spcBef>
                <a:spcPct val="0"/>
              </a:spcBef>
            </a:pPr>
            <a:r>
              <a:rPr lang="en-US" sz="224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224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espliegue de proyecto: Hostinger &amp; VPS, Cpanel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49631" y="1024668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7403B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INTRANET - CSAH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9525" y="80622"/>
            <a:ext cx="18156610" cy="10008989"/>
            <a:chOff x="0" y="0"/>
            <a:chExt cx="24208813" cy="1334531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208813" cy="1334531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304990" y="305021"/>
              <a:ext cx="23578037" cy="12687573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03112" y="521609"/>
              <a:ext cx="22846442" cy="12092294"/>
              <a:chOff x="0" y="0"/>
              <a:chExt cx="6247007" cy="330645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306451"/>
              </a:xfrm>
              <a:custGeom>
                <a:avLst/>
                <a:gdLst/>
                <a:ahLst/>
                <a:cxnLst/>
                <a:rect r="r" b="b" t="t" l="l"/>
                <a:pathLst>
                  <a:path h="3306451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306451"/>
                    </a:lnTo>
                    <a:lnTo>
                      <a:pt x="0" y="330645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33502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sp>
        <p:nvSpPr>
          <p:cNvPr name="AutoShape 12" id="12"/>
          <p:cNvSpPr/>
          <p:nvPr/>
        </p:nvSpPr>
        <p:spPr>
          <a:xfrm flipV="true">
            <a:off x="1243983" y="1491393"/>
            <a:ext cx="4014720" cy="4762"/>
          </a:xfrm>
          <a:prstGeom prst="line">
            <a:avLst/>
          </a:prstGeom>
          <a:ln cap="rnd" w="9525">
            <a:solidFill>
              <a:srgbClr val="27403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2763989" y="896115"/>
            <a:ext cx="4712109" cy="1178028"/>
            <a:chOff x="0" y="0"/>
            <a:chExt cx="6282812" cy="1570704"/>
          </a:xfrm>
        </p:grpSpPr>
        <p:sp>
          <p:nvSpPr>
            <p:cNvPr name="Freeform 14" id="14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49631" y="2653947"/>
            <a:ext cx="16009669" cy="5925885"/>
            <a:chOff x="0" y="0"/>
            <a:chExt cx="42003121" cy="1554720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002943" cy="15547062"/>
            </a:xfrm>
            <a:custGeom>
              <a:avLst/>
              <a:gdLst/>
              <a:ahLst/>
              <a:cxnLst/>
              <a:rect r="r" b="b" t="t" l="l"/>
              <a:pathLst>
                <a:path h="15547062" w="42002943">
                  <a:moveTo>
                    <a:pt x="0" y="1554706"/>
                  </a:moveTo>
                  <a:cubicBezTo>
                    <a:pt x="0" y="696386"/>
                    <a:pt x="335082" y="0"/>
                    <a:pt x="748081" y="0"/>
                  </a:cubicBezTo>
                  <a:lnTo>
                    <a:pt x="41254868" y="0"/>
                  </a:lnTo>
                  <a:cubicBezTo>
                    <a:pt x="41667863" y="0"/>
                    <a:pt x="42002943" y="696386"/>
                    <a:pt x="42002943" y="1554706"/>
                  </a:cubicBezTo>
                  <a:lnTo>
                    <a:pt x="42002943" y="13992355"/>
                  </a:lnTo>
                  <a:cubicBezTo>
                    <a:pt x="42002943" y="14850675"/>
                    <a:pt x="41667863" y="15547062"/>
                    <a:pt x="41254868" y="15547062"/>
                  </a:cubicBezTo>
                  <a:lnTo>
                    <a:pt x="748081" y="15547062"/>
                  </a:lnTo>
                  <a:cubicBezTo>
                    <a:pt x="335082" y="15547062"/>
                    <a:pt x="0" y="14851400"/>
                    <a:pt x="0" y="13992355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2093426" y="2924363"/>
            <a:ext cx="4949067" cy="2560285"/>
          </a:xfrm>
          <a:custGeom>
            <a:avLst/>
            <a:gdLst/>
            <a:ahLst/>
            <a:cxnLst/>
            <a:rect r="r" b="b" t="t" l="l"/>
            <a:pathLst>
              <a:path h="2560285" w="4949067">
                <a:moveTo>
                  <a:pt x="0" y="0"/>
                </a:moveTo>
                <a:lnTo>
                  <a:pt x="4949067" y="0"/>
                </a:lnTo>
                <a:lnTo>
                  <a:pt x="4949067" y="2560285"/>
                </a:lnTo>
                <a:lnTo>
                  <a:pt x="0" y="2560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953670" y="2924363"/>
            <a:ext cx="5070368" cy="2560285"/>
          </a:xfrm>
          <a:custGeom>
            <a:avLst/>
            <a:gdLst/>
            <a:ahLst/>
            <a:cxnLst/>
            <a:rect r="r" b="b" t="t" l="l"/>
            <a:pathLst>
              <a:path h="2560285" w="5070368">
                <a:moveTo>
                  <a:pt x="0" y="0"/>
                </a:moveTo>
                <a:lnTo>
                  <a:pt x="5070367" y="0"/>
                </a:lnTo>
                <a:lnTo>
                  <a:pt x="5070367" y="2560285"/>
                </a:lnTo>
                <a:lnTo>
                  <a:pt x="0" y="25602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763712" y="2924363"/>
            <a:ext cx="5120569" cy="2560285"/>
          </a:xfrm>
          <a:custGeom>
            <a:avLst/>
            <a:gdLst/>
            <a:ahLst/>
            <a:cxnLst/>
            <a:rect r="r" b="b" t="t" l="l"/>
            <a:pathLst>
              <a:path h="2560285" w="5120569">
                <a:moveTo>
                  <a:pt x="0" y="0"/>
                </a:moveTo>
                <a:lnTo>
                  <a:pt x="5120569" y="0"/>
                </a:lnTo>
                <a:lnTo>
                  <a:pt x="5120569" y="2560285"/>
                </a:lnTo>
                <a:lnTo>
                  <a:pt x="0" y="25602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763712" y="5718105"/>
            <a:ext cx="5189958" cy="1850782"/>
          </a:xfrm>
          <a:custGeom>
            <a:avLst/>
            <a:gdLst/>
            <a:ahLst/>
            <a:cxnLst/>
            <a:rect r="r" b="b" t="t" l="l"/>
            <a:pathLst>
              <a:path h="1850782" w="5189958">
                <a:moveTo>
                  <a:pt x="0" y="0"/>
                </a:moveTo>
                <a:lnTo>
                  <a:pt x="5189958" y="0"/>
                </a:lnTo>
                <a:lnTo>
                  <a:pt x="5189958" y="1850782"/>
                </a:lnTo>
                <a:lnTo>
                  <a:pt x="0" y="18507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227"/>
            </a:stretch>
          </a:blipFill>
        </p:spPr>
      </p:sp>
      <p:pic>
        <p:nvPicPr>
          <p:cNvPr name="Picture 21" id="21">
            <a:hlinkClick action="ppaction://media"/>
          </p:cNvPr>
          <p:cNvPicPr>
            <a:picLocks noChangeAspect="true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7"/>
          <a:srcRect l="0" t="8422" r="0" b="2768"/>
          <a:stretch>
            <a:fillRect/>
          </a:stretch>
        </p:blipFill>
        <p:spPr>
          <a:xfrm flipH="false" flipV="false" rot="0">
            <a:off x="12093426" y="5718105"/>
            <a:ext cx="4949067" cy="2472301"/>
          </a:xfrm>
          <a:prstGeom prst="rect">
            <a:avLst/>
          </a:prstGeom>
        </p:spPr>
      </p:pic>
      <p:pic>
        <p:nvPicPr>
          <p:cNvPr name="Picture 22" id="22">
            <a:hlinkClick action="ppaction://media"/>
          </p:cNvPr>
          <p:cNvPicPr>
            <a:picLocks noChangeAspect="true"/>
          </p:cNvPicPr>
          <p:nvPr>
            <a:videoFile r:link="rId11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10"/>
          <a:srcRect l="17054" t="12703" r="19802" b="32562"/>
          <a:stretch>
            <a:fillRect/>
          </a:stretch>
        </p:blipFill>
        <p:spPr>
          <a:xfrm flipH="false" flipV="false" rot="0">
            <a:off x="6953670" y="5718105"/>
            <a:ext cx="5070368" cy="2472301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902488" y="1924120"/>
            <a:ext cx="14483023" cy="42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5"/>
              </a:lnSpc>
            </a:pPr>
            <a:r>
              <a:rPr lang="en-US" b="true" sz="2820" spc="908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TRAZABILIDAD DEL DESARROLLO-GIT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0" y="80622"/>
            <a:ext cx="3183282" cy="3183282"/>
          </a:xfrm>
          <a:custGeom>
            <a:avLst/>
            <a:gdLst/>
            <a:ahLst/>
            <a:cxnLst/>
            <a:rect r="r" b="b" t="t" l="l"/>
            <a:pathLst>
              <a:path h="3183282" w="3183282">
                <a:moveTo>
                  <a:pt x="0" y="0"/>
                </a:moveTo>
                <a:lnTo>
                  <a:pt x="3183282" y="0"/>
                </a:lnTo>
                <a:lnTo>
                  <a:pt x="3183282" y="3183281"/>
                </a:lnTo>
                <a:lnTo>
                  <a:pt x="0" y="318328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249631" y="1024668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7403B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INTRANET - CSAH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</p:childTnLst>
        </p:cTn>
      </p:par>
    </p:tnLst>
  </p:timing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55581" y="80622"/>
            <a:ext cx="18001029" cy="10014757"/>
            <a:chOff x="0" y="0"/>
            <a:chExt cx="24001373" cy="1335301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001373" cy="13353010"/>
              <a:chOff x="0" y="0"/>
              <a:chExt cx="6682492" cy="371776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82492" cy="3717761"/>
              </a:xfrm>
              <a:custGeom>
                <a:avLst/>
                <a:gdLst/>
                <a:ahLst/>
                <a:cxnLst/>
                <a:rect r="r" b="b" t="t" l="l"/>
                <a:pathLst>
                  <a:path h="3717761" w="6682492">
                    <a:moveTo>
                      <a:pt x="0" y="0"/>
                    </a:moveTo>
                    <a:lnTo>
                      <a:pt x="6682492" y="0"/>
                    </a:lnTo>
                    <a:lnTo>
                      <a:pt x="6682492" y="3717761"/>
                    </a:lnTo>
                    <a:lnTo>
                      <a:pt x="0" y="371776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82492" cy="3746337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9527" y="340677"/>
              <a:ext cx="23320216" cy="12665925"/>
              <a:chOff x="0" y="0"/>
              <a:chExt cx="6492843" cy="352646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92844" cy="3526463"/>
              </a:xfrm>
              <a:custGeom>
                <a:avLst/>
                <a:gdLst/>
                <a:ahLst/>
                <a:cxnLst/>
                <a:rect r="r" b="b" t="t" l="l"/>
                <a:pathLst>
                  <a:path h="3526463" w="6492844">
                    <a:moveTo>
                      <a:pt x="0" y="0"/>
                    </a:moveTo>
                    <a:lnTo>
                      <a:pt x="6492844" y="0"/>
                    </a:lnTo>
                    <a:lnTo>
                      <a:pt x="6492844" y="3526463"/>
                    </a:lnTo>
                    <a:lnTo>
                      <a:pt x="0" y="352646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92843" cy="3555038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90519" y="663239"/>
              <a:ext cx="22622284" cy="11971455"/>
              <a:chOff x="0" y="0"/>
              <a:chExt cx="6298524" cy="333310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98524" cy="3333107"/>
              </a:xfrm>
              <a:custGeom>
                <a:avLst/>
                <a:gdLst/>
                <a:ahLst/>
                <a:cxnLst/>
                <a:rect r="r" b="b" t="t" l="l"/>
                <a:pathLst>
                  <a:path h="3333107" w="6298524">
                    <a:moveTo>
                      <a:pt x="0" y="0"/>
                    </a:moveTo>
                    <a:lnTo>
                      <a:pt x="6298524" y="0"/>
                    </a:lnTo>
                    <a:lnTo>
                      <a:pt x="6298524" y="3333107"/>
                    </a:lnTo>
                    <a:lnTo>
                      <a:pt x="0" y="333310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98524" cy="3361682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1249631" y="1024668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7403B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INTRANET - CSAH</a:t>
            </a:r>
          </a:p>
        </p:txBody>
      </p:sp>
      <p:sp>
        <p:nvSpPr>
          <p:cNvPr name="AutoShape 13" id="13"/>
          <p:cNvSpPr/>
          <p:nvPr/>
        </p:nvSpPr>
        <p:spPr>
          <a:xfrm flipV="true">
            <a:off x="1243983" y="1491393"/>
            <a:ext cx="4014720" cy="4762"/>
          </a:xfrm>
          <a:prstGeom prst="line">
            <a:avLst/>
          </a:prstGeom>
          <a:ln cap="rnd" w="9525">
            <a:solidFill>
              <a:srgbClr val="27403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2763989" y="896115"/>
            <a:ext cx="4712109" cy="1178028"/>
            <a:chOff x="0" y="0"/>
            <a:chExt cx="6282812" cy="1570704"/>
          </a:xfrm>
        </p:grpSpPr>
        <p:sp>
          <p:nvSpPr>
            <p:cNvPr name="Freeform 15" id="15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829338" y="2177727"/>
            <a:ext cx="14483023" cy="421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5"/>
              </a:lnSpc>
            </a:pPr>
            <a:r>
              <a:rPr lang="en-US" b="true" sz="2820" spc="908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TRAZABILIDAD DEL DESARROLLO-TRELLO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77527" y="2779467"/>
            <a:ext cx="16598570" cy="5705842"/>
            <a:chOff x="0" y="0"/>
            <a:chExt cx="43548167" cy="149699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547984" cy="14969758"/>
            </a:xfrm>
            <a:custGeom>
              <a:avLst/>
              <a:gdLst/>
              <a:ahLst/>
              <a:cxnLst/>
              <a:rect r="r" b="b" t="t" l="l"/>
              <a:pathLst>
                <a:path h="14969758" w="43547984">
                  <a:moveTo>
                    <a:pt x="0" y="1496976"/>
                  </a:moveTo>
                  <a:cubicBezTo>
                    <a:pt x="0" y="670528"/>
                    <a:pt x="347407" y="0"/>
                    <a:pt x="775598" y="0"/>
                  </a:cubicBezTo>
                  <a:lnTo>
                    <a:pt x="42772391" y="0"/>
                  </a:lnTo>
                  <a:cubicBezTo>
                    <a:pt x="43200579" y="0"/>
                    <a:pt x="43547984" y="670528"/>
                    <a:pt x="43547984" y="1496976"/>
                  </a:cubicBezTo>
                  <a:lnTo>
                    <a:pt x="43547984" y="13472782"/>
                  </a:lnTo>
                  <a:cubicBezTo>
                    <a:pt x="43547984" y="14299231"/>
                    <a:pt x="43200579" y="14969758"/>
                    <a:pt x="42772391" y="14969758"/>
                  </a:cubicBezTo>
                  <a:lnTo>
                    <a:pt x="775598" y="14969758"/>
                  </a:lnTo>
                  <a:cubicBezTo>
                    <a:pt x="347407" y="14969758"/>
                    <a:pt x="0" y="14299930"/>
                    <a:pt x="0" y="13472782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5788403" y="3066530"/>
            <a:ext cx="8713553" cy="5011206"/>
          </a:xfrm>
          <a:custGeom>
            <a:avLst/>
            <a:gdLst/>
            <a:ahLst/>
            <a:cxnLst/>
            <a:rect r="r" b="b" t="t" l="l"/>
            <a:pathLst>
              <a:path h="5011206" w="8713553">
                <a:moveTo>
                  <a:pt x="0" y="0"/>
                </a:moveTo>
                <a:lnTo>
                  <a:pt x="8713553" y="0"/>
                </a:lnTo>
                <a:lnTo>
                  <a:pt x="8713553" y="5011206"/>
                </a:lnTo>
                <a:lnTo>
                  <a:pt x="0" y="50112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6719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28700" y="3066530"/>
            <a:ext cx="4759703" cy="5011206"/>
          </a:xfrm>
          <a:custGeom>
            <a:avLst/>
            <a:gdLst/>
            <a:ahLst/>
            <a:cxnLst/>
            <a:rect r="r" b="b" t="t" l="l"/>
            <a:pathLst>
              <a:path h="5011206" w="4759703">
                <a:moveTo>
                  <a:pt x="0" y="0"/>
                </a:moveTo>
                <a:lnTo>
                  <a:pt x="4759703" y="0"/>
                </a:lnTo>
                <a:lnTo>
                  <a:pt x="4759703" y="5011206"/>
                </a:lnTo>
                <a:lnTo>
                  <a:pt x="0" y="50112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501956" y="3066530"/>
            <a:ext cx="2886071" cy="5011206"/>
          </a:xfrm>
          <a:custGeom>
            <a:avLst/>
            <a:gdLst/>
            <a:ahLst/>
            <a:cxnLst/>
            <a:rect r="r" b="b" t="t" l="l"/>
            <a:pathLst>
              <a:path h="5011206" w="2886071">
                <a:moveTo>
                  <a:pt x="0" y="0"/>
                </a:moveTo>
                <a:lnTo>
                  <a:pt x="2886071" y="0"/>
                </a:lnTo>
                <a:lnTo>
                  <a:pt x="2886071" y="5011206"/>
                </a:lnTo>
                <a:lnTo>
                  <a:pt x="0" y="50112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54063" b="-26729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23082"/>
            <a:ext cx="17451709" cy="9630621"/>
            <a:chOff x="0" y="0"/>
            <a:chExt cx="23268945" cy="1284082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1362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30679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70297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1362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69"/>
                  </a:lnTo>
                  <a:lnTo>
                    <a:pt x="0" y="4439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5400000">
              <a:off x="18828976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66956" y="8534344"/>
            <a:ext cx="415855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7403B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INTRANET - CSAH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1265658" y="9001069"/>
            <a:ext cx="922139" cy="4762"/>
          </a:xfrm>
          <a:prstGeom prst="line">
            <a:avLst/>
          </a:prstGeom>
          <a:ln cap="rnd" w="9525">
            <a:solidFill>
              <a:srgbClr val="27403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1814833" y="7924688"/>
            <a:ext cx="5334445" cy="1333612"/>
            <a:chOff x="0" y="0"/>
            <a:chExt cx="6282812" cy="1570704"/>
          </a:xfrm>
        </p:grpSpPr>
        <p:sp>
          <p:nvSpPr>
            <p:cNvPr name="Freeform 17" id="17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2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7502869" y="4897135"/>
            <a:ext cx="2846615" cy="3434829"/>
          </a:xfrm>
          <a:custGeom>
            <a:avLst/>
            <a:gdLst/>
            <a:ahLst/>
            <a:cxnLst/>
            <a:rect r="r" b="b" t="t" l="l"/>
            <a:pathLst>
              <a:path h="3434829" w="2846615">
                <a:moveTo>
                  <a:pt x="0" y="0"/>
                </a:moveTo>
                <a:lnTo>
                  <a:pt x="2846615" y="0"/>
                </a:lnTo>
                <a:lnTo>
                  <a:pt x="2846615" y="3434829"/>
                </a:lnTo>
                <a:lnTo>
                  <a:pt x="0" y="34348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080433" y="5793630"/>
            <a:ext cx="1794795" cy="1794795"/>
          </a:xfrm>
          <a:custGeom>
            <a:avLst/>
            <a:gdLst/>
            <a:ahLst/>
            <a:cxnLst/>
            <a:rect r="r" b="b" t="t" l="l"/>
            <a:pathLst>
              <a:path h="1794795" w="1794795">
                <a:moveTo>
                  <a:pt x="0" y="0"/>
                </a:moveTo>
                <a:lnTo>
                  <a:pt x="1794794" y="0"/>
                </a:lnTo>
                <a:lnTo>
                  <a:pt x="1794794" y="1794794"/>
                </a:lnTo>
                <a:lnTo>
                  <a:pt x="0" y="17947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462945" y="5512848"/>
            <a:ext cx="2075576" cy="2075576"/>
          </a:xfrm>
          <a:custGeom>
            <a:avLst/>
            <a:gdLst/>
            <a:ahLst/>
            <a:cxnLst/>
            <a:rect r="r" b="b" t="t" l="l"/>
            <a:pathLst>
              <a:path h="2075576" w="2075576">
                <a:moveTo>
                  <a:pt x="0" y="0"/>
                </a:moveTo>
                <a:lnTo>
                  <a:pt x="2075576" y="0"/>
                </a:lnTo>
                <a:lnTo>
                  <a:pt x="2075576" y="2075576"/>
                </a:lnTo>
                <a:lnTo>
                  <a:pt x="0" y="20755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056257" y="2760463"/>
            <a:ext cx="14175487" cy="1134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7"/>
              </a:lnSpc>
            </a:pPr>
            <a:r>
              <a:rPr lang="en-US" sz="3883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DEMOSTRACIÓN DEL RESULTADO DEL PROYECTO</a:t>
            </a:r>
          </a:p>
          <a:p>
            <a:pPr algn="ctr">
              <a:lnSpc>
                <a:spcPts val="4427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5477213" y="4043997"/>
            <a:ext cx="7256693" cy="30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6"/>
              </a:lnSpc>
            </a:pPr>
            <a:r>
              <a:rPr lang="en-US" sz="1988" u="sng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  <a:hlinkClick r:id="rId10" tooltip="https://portal.hipona.cl/inicioSesion/login/?next=/"/>
              </a:rPr>
              <a:t>Portal Intranet - Colegio San Agustín de Hipona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-127613" y="5127996"/>
            <a:ext cx="7256693" cy="30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6"/>
              </a:lnSpc>
            </a:pPr>
            <a:r>
              <a:rPr lang="en-US" sz="1988" u="sng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  <a:hlinkClick r:id="rId11" tooltip="https://trello.com/b/PHe8N8IB/intranet-colegio-san-agustin-de-hipona-fase-2"/>
              </a:rPr>
              <a:t>Tablero de trello Fase 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49484" y="5278446"/>
            <a:ext cx="7256693" cy="30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6"/>
              </a:lnSpc>
            </a:pPr>
            <a:r>
              <a:rPr lang="en-US" sz="1988" u="sng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  <a:hlinkClick r:id="rId12" tooltip="https://github.com/Date2099/capstone_803D_Equipo3_KevinCartagen_WillyCastro_FelipeHuencho"/>
              </a:rPr>
              <a:t>Repositorio Github del proyecto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374685" y="4401955"/>
            <a:ext cx="3461749" cy="400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i="true">
                <a:solidFill>
                  <a:srgbClr val="27403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https://portal.hipona.cl/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196721" y="3141551"/>
            <a:ext cx="14483023" cy="561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1"/>
              </a:lnSpc>
            </a:pPr>
            <a:r>
              <a:rPr lang="en-US" b="true" sz="3720" spc="1198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RESULTADOS OBTENIDOS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065470" y="4155623"/>
            <a:ext cx="14745525" cy="2233314"/>
            <a:chOff x="0" y="0"/>
            <a:chExt cx="39710641" cy="60144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9710475" cy="6014399"/>
            </a:xfrm>
            <a:custGeom>
              <a:avLst/>
              <a:gdLst/>
              <a:ahLst/>
              <a:cxnLst/>
              <a:rect r="r" b="b" t="t" l="l"/>
              <a:pathLst>
                <a:path h="6014399" w="39710475">
                  <a:moveTo>
                    <a:pt x="0" y="601440"/>
                  </a:moveTo>
                  <a:cubicBezTo>
                    <a:pt x="0" y="269398"/>
                    <a:pt x="316793" y="0"/>
                    <a:pt x="707252" y="0"/>
                  </a:cubicBezTo>
                  <a:lnTo>
                    <a:pt x="39003225" y="0"/>
                  </a:lnTo>
                  <a:cubicBezTo>
                    <a:pt x="39393682" y="0"/>
                    <a:pt x="39710475" y="269398"/>
                    <a:pt x="39710475" y="601440"/>
                  </a:cubicBezTo>
                  <a:lnTo>
                    <a:pt x="39710475" y="5412959"/>
                  </a:lnTo>
                  <a:cubicBezTo>
                    <a:pt x="39710475" y="5745002"/>
                    <a:pt x="39393682" y="6014399"/>
                    <a:pt x="39003225" y="6014399"/>
                  </a:cubicBezTo>
                  <a:lnTo>
                    <a:pt x="707252" y="6014399"/>
                  </a:lnTo>
                  <a:cubicBezTo>
                    <a:pt x="316793" y="6014399"/>
                    <a:pt x="0" y="5745282"/>
                    <a:pt x="0" y="5412959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394338" y="4571452"/>
            <a:ext cx="14087789" cy="161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5536" indent="-227768" lvl="1">
              <a:lnSpc>
                <a:spcPts val="3249"/>
              </a:lnSpc>
              <a:buFont typeface="Arial"/>
              <a:buChar char="•"/>
            </a:pPr>
            <a:r>
              <a:rPr lang="en-US" sz="21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Automatización: Procesos que tardaban horas (revisar pagos en Excel) ahora son instantáneos.</a:t>
            </a:r>
          </a:p>
          <a:p>
            <a:pPr algn="l" marL="455536" indent="-227768" lvl="1">
              <a:lnSpc>
                <a:spcPts val="3249"/>
              </a:lnSpc>
              <a:buFont typeface="Arial"/>
              <a:buChar char="•"/>
            </a:pPr>
            <a:r>
              <a:rPr lang="en-US" sz="21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Seguridad: Datos encriptados y acceso por roles, garantizando la seguridad a toda costa.</a:t>
            </a:r>
          </a:p>
          <a:p>
            <a:pPr algn="l" marL="455536" indent="-227768" lvl="1">
              <a:lnSpc>
                <a:spcPts val="3249"/>
              </a:lnSpc>
              <a:buFont typeface="Arial"/>
              <a:buChar char="•"/>
            </a:pPr>
            <a:r>
              <a:rPr lang="en-US" sz="21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Interfaz: Una experiencia de usuario (UX) moderna y responsiva (móvil y PC).</a:t>
            </a:r>
          </a:p>
          <a:p>
            <a:pPr algn="l">
              <a:lnSpc>
                <a:spcPts val="324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49631" y="1024668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7403B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INTRANET - CSAH</a:t>
            </a:r>
          </a:p>
        </p:txBody>
      </p:sp>
      <p:sp>
        <p:nvSpPr>
          <p:cNvPr name="AutoShape 18" id="18"/>
          <p:cNvSpPr/>
          <p:nvPr/>
        </p:nvSpPr>
        <p:spPr>
          <a:xfrm flipV="true">
            <a:off x="1243983" y="1491393"/>
            <a:ext cx="4014720" cy="4762"/>
          </a:xfrm>
          <a:prstGeom prst="line">
            <a:avLst/>
          </a:prstGeom>
          <a:ln cap="rnd" w="9525">
            <a:solidFill>
              <a:srgbClr val="27403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2427952" y="1028700"/>
            <a:ext cx="4712109" cy="1178028"/>
            <a:chOff x="0" y="0"/>
            <a:chExt cx="6282812" cy="1570704"/>
          </a:xfrm>
        </p:grpSpPr>
        <p:sp>
          <p:nvSpPr>
            <p:cNvPr name="Freeform 20" id="20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2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4475523" y="6593852"/>
            <a:ext cx="9925420" cy="1323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i="true">
                <a:solidFill>
                  <a:srgbClr val="27403B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Estos tres pilares consolidan la Transformación Digital del colegio, migrando de procesos manuales y vulnerables a un ecosistema centralizado que garantiza la integridad de la información, digitalización y optimiza el tiempo de toda la comunidad educativa.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103372" y="2357700"/>
            <a:ext cx="14483023" cy="1095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1"/>
              </a:lnSpc>
            </a:pPr>
            <a:r>
              <a:rPr lang="en-US" b="true" sz="3720" spc="1198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OBSTÁCULOS PRESENTADOS DURANTE EL DESARROLLO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0471" y="1263145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7403B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INTRANET - CSAH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1254823" y="1729870"/>
            <a:ext cx="4014720" cy="4762"/>
          </a:xfrm>
          <a:prstGeom prst="line">
            <a:avLst/>
          </a:prstGeom>
          <a:ln cap="rnd" w="9525">
            <a:solidFill>
              <a:srgbClr val="27403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2547191" y="1028700"/>
            <a:ext cx="4712109" cy="1178028"/>
            <a:chOff x="0" y="0"/>
            <a:chExt cx="6282812" cy="1570704"/>
          </a:xfrm>
        </p:grpSpPr>
        <p:sp>
          <p:nvSpPr>
            <p:cNvPr name="Freeform 17" id="17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803361" y="7696182"/>
            <a:ext cx="12673466" cy="1123964"/>
            <a:chOff x="0" y="0"/>
            <a:chExt cx="34397610" cy="30506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397466" cy="3050572"/>
            </a:xfrm>
            <a:custGeom>
              <a:avLst/>
              <a:gdLst/>
              <a:ahLst/>
              <a:cxnLst/>
              <a:rect r="r" b="b" t="t" l="l"/>
              <a:pathLst>
                <a:path h="3050572" w="34397466">
                  <a:moveTo>
                    <a:pt x="0" y="305057"/>
                  </a:moveTo>
                  <a:cubicBezTo>
                    <a:pt x="0" y="136642"/>
                    <a:pt x="274408" y="0"/>
                    <a:pt x="612626" y="0"/>
                  </a:cubicBezTo>
                  <a:lnTo>
                    <a:pt x="33784843" y="0"/>
                  </a:lnTo>
                  <a:cubicBezTo>
                    <a:pt x="34123058" y="0"/>
                    <a:pt x="34397466" y="136642"/>
                    <a:pt x="34397466" y="305057"/>
                  </a:cubicBezTo>
                  <a:lnTo>
                    <a:pt x="34397466" y="2745514"/>
                  </a:lnTo>
                  <a:cubicBezTo>
                    <a:pt x="34397466" y="2913930"/>
                    <a:pt x="34123058" y="3050572"/>
                    <a:pt x="33784843" y="3050572"/>
                  </a:cubicBezTo>
                  <a:lnTo>
                    <a:pt x="612626" y="3050572"/>
                  </a:lnTo>
                  <a:cubicBezTo>
                    <a:pt x="274408" y="3050572"/>
                    <a:pt x="0" y="2914072"/>
                    <a:pt x="0" y="2745514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952336" y="7955236"/>
            <a:ext cx="12524490" cy="56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6"/>
              </a:lnSpc>
              <a:spcBef>
                <a:spcPct val="0"/>
              </a:spcBef>
            </a:pPr>
            <a:r>
              <a:rPr lang="en-US" sz="164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Refinamiento de las polític</a:t>
            </a:r>
            <a:r>
              <a:rPr lang="en-US" sz="164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as de seguridad en el control de versiones (Git), implementando mejores prácticas para la protección de variables de entorno y limpieza de historial.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09869" y="3878488"/>
            <a:ext cx="1609424" cy="860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4"/>
              </a:lnSpc>
              <a:spcBef>
                <a:spcPct val="0"/>
              </a:spcBef>
            </a:pPr>
            <a:r>
              <a:rPr lang="en-US" sz="2474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TÉCNICOS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561699" y="5482847"/>
            <a:ext cx="1305764" cy="422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4"/>
              </a:lnSpc>
              <a:spcBef>
                <a:spcPct val="0"/>
              </a:spcBef>
            </a:pPr>
            <a:r>
              <a:rPr lang="en-US" sz="2474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EQUIPO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455016" y="7273314"/>
            <a:ext cx="1437680" cy="422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4"/>
              </a:lnSpc>
              <a:spcBef>
                <a:spcPct val="0"/>
              </a:spcBef>
            </a:pPr>
            <a:r>
              <a:rPr lang="en-US" sz="2474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GESTIÓN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2811174" y="5903837"/>
            <a:ext cx="12673466" cy="1123964"/>
            <a:chOff x="0" y="0"/>
            <a:chExt cx="34397610" cy="305060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4397466" cy="3050572"/>
            </a:xfrm>
            <a:custGeom>
              <a:avLst/>
              <a:gdLst/>
              <a:ahLst/>
              <a:cxnLst/>
              <a:rect r="r" b="b" t="t" l="l"/>
              <a:pathLst>
                <a:path h="3050572" w="34397466">
                  <a:moveTo>
                    <a:pt x="0" y="305057"/>
                  </a:moveTo>
                  <a:cubicBezTo>
                    <a:pt x="0" y="136642"/>
                    <a:pt x="274408" y="0"/>
                    <a:pt x="612626" y="0"/>
                  </a:cubicBezTo>
                  <a:lnTo>
                    <a:pt x="33784843" y="0"/>
                  </a:lnTo>
                  <a:cubicBezTo>
                    <a:pt x="34123058" y="0"/>
                    <a:pt x="34397466" y="136642"/>
                    <a:pt x="34397466" y="305057"/>
                  </a:cubicBezTo>
                  <a:lnTo>
                    <a:pt x="34397466" y="2745514"/>
                  </a:lnTo>
                  <a:cubicBezTo>
                    <a:pt x="34397466" y="2913930"/>
                    <a:pt x="34123058" y="3050572"/>
                    <a:pt x="33784843" y="3050572"/>
                  </a:cubicBezTo>
                  <a:lnTo>
                    <a:pt x="612626" y="3050572"/>
                  </a:lnTo>
                  <a:cubicBezTo>
                    <a:pt x="274408" y="3050572"/>
                    <a:pt x="0" y="2914072"/>
                    <a:pt x="0" y="2745514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2807267" y="6162891"/>
            <a:ext cx="12665652" cy="56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6"/>
              </a:lnSpc>
              <a:spcBef>
                <a:spcPct val="0"/>
              </a:spcBef>
            </a:pPr>
            <a:r>
              <a:rPr lang="en-US" sz="164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Indisponibilid</a:t>
            </a:r>
            <a:r>
              <a:rPr lang="en-US" sz="164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 imprevista de un recurso clave (Developer), requiriendo una redistribución ágil de tareas para cubrir el desarrollo de Base de Datos sin afectar el MVP.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2811174" y="4301357"/>
            <a:ext cx="12673466" cy="1123964"/>
            <a:chOff x="0" y="0"/>
            <a:chExt cx="34397610" cy="305060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4397466" cy="3050572"/>
            </a:xfrm>
            <a:custGeom>
              <a:avLst/>
              <a:gdLst/>
              <a:ahLst/>
              <a:cxnLst/>
              <a:rect r="r" b="b" t="t" l="l"/>
              <a:pathLst>
                <a:path h="3050572" w="34397466">
                  <a:moveTo>
                    <a:pt x="0" y="305057"/>
                  </a:moveTo>
                  <a:cubicBezTo>
                    <a:pt x="0" y="136642"/>
                    <a:pt x="274408" y="0"/>
                    <a:pt x="612626" y="0"/>
                  </a:cubicBezTo>
                  <a:lnTo>
                    <a:pt x="33784843" y="0"/>
                  </a:lnTo>
                  <a:cubicBezTo>
                    <a:pt x="34123058" y="0"/>
                    <a:pt x="34397466" y="136642"/>
                    <a:pt x="34397466" y="305057"/>
                  </a:cubicBezTo>
                  <a:lnTo>
                    <a:pt x="34397466" y="2745514"/>
                  </a:lnTo>
                  <a:cubicBezTo>
                    <a:pt x="34397466" y="2913930"/>
                    <a:pt x="34123058" y="3050572"/>
                    <a:pt x="33784843" y="3050572"/>
                  </a:cubicBezTo>
                  <a:lnTo>
                    <a:pt x="612626" y="3050572"/>
                  </a:lnTo>
                  <a:cubicBezTo>
                    <a:pt x="274408" y="3050572"/>
                    <a:pt x="0" y="2914072"/>
                    <a:pt x="0" y="2745514"/>
                  </a:cubicBezTo>
                  <a:close/>
                </a:path>
              </a:pathLst>
            </a:custGeom>
            <a:solidFill>
              <a:srgbClr val="B5EFE3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3598490" y="4708420"/>
            <a:ext cx="11098832" cy="281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4"/>
              </a:lnSpc>
              <a:spcBef>
                <a:spcPct val="0"/>
              </a:spcBef>
            </a:pPr>
            <a:r>
              <a:rPr lang="en-US" sz="167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Inconsistencias en la migración de datos (Excel) y latencia en la recepción de la base de datos oficial.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510712" y="4018147"/>
            <a:ext cx="13019115" cy="2288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9"/>
              </a:lnSpc>
            </a:pPr>
            <a:r>
              <a:rPr lang="en-US" b="true" sz="7868" spc="2533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PREGUNTAS DE LA COMISIÓN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1028706" y="1685112"/>
            <a:ext cx="4014720" cy="4762"/>
          </a:xfrm>
          <a:prstGeom prst="line">
            <a:avLst/>
          </a:prstGeom>
          <a:ln cap="rnd" w="9525">
            <a:solidFill>
              <a:srgbClr val="27403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2492992" y="1028700"/>
            <a:ext cx="4712109" cy="1178028"/>
            <a:chOff x="0" y="0"/>
            <a:chExt cx="6282812" cy="1570704"/>
          </a:xfrm>
        </p:grpSpPr>
        <p:sp>
          <p:nvSpPr>
            <p:cNvPr name="Freeform 16" id="16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2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379705" y="333297"/>
            <a:ext cx="3329977" cy="3329977"/>
          </a:xfrm>
          <a:custGeom>
            <a:avLst/>
            <a:gdLst/>
            <a:ahLst/>
            <a:cxnLst/>
            <a:rect r="r" b="b" t="t" l="l"/>
            <a:pathLst>
              <a:path h="3329977" w="3329977">
                <a:moveTo>
                  <a:pt x="0" y="0"/>
                </a:moveTo>
                <a:lnTo>
                  <a:pt x="3329977" y="0"/>
                </a:lnTo>
                <a:lnTo>
                  <a:pt x="3329977" y="3329977"/>
                </a:lnTo>
                <a:lnTo>
                  <a:pt x="0" y="3329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34354" y="1218387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7403B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INTRANET - CSAH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312014" y="4499190"/>
            <a:ext cx="13663973" cy="223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8"/>
              </a:lnSpc>
            </a:pPr>
            <a:r>
              <a:rPr lang="en-US" b="true" sz="13601" spc="68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GRACIAS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12014" y="3294756"/>
            <a:ext cx="13663973" cy="155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MUCHAS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9631" y="1024668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7403B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INTRANET - CSAH</a:t>
            </a:r>
          </a:p>
        </p:txBody>
      </p:sp>
      <p:sp>
        <p:nvSpPr>
          <p:cNvPr name="AutoShape 17" id="17"/>
          <p:cNvSpPr/>
          <p:nvPr/>
        </p:nvSpPr>
        <p:spPr>
          <a:xfrm flipV="true">
            <a:off x="1243983" y="1491393"/>
            <a:ext cx="4014720" cy="4762"/>
          </a:xfrm>
          <a:prstGeom prst="line">
            <a:avLst/>
          </a:prstGeom>
          <a:ln cap="rnd" w="9525">
            <a:solidFill>
              <a:srgbClr val="27403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2388597" y="1081818"/>
            <a:ext cx="4712109" cy="1178028"/>
            <a:chOff x="0" y="0"/>
            <a:chExt cx="6282812" cy="1570704"/>
          </a:xfrm>
        </p:grpSpPr>
        <p:sp>
          <p:nvSpPr>
            <p:cNvPr name="Freeform 19" id="19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2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DAG7ILu15BU</dc:identifier>
  <dcterms:modified xsi:type="dcterms:W3CDTF">2011-08-01T06:04:30Z</dcterms:modified>
  <cp:revision>1</cp:revision>
  <dc:title>Presentación Final Capstone - Equipo 7</dc:title>
</cp:coreProperties>
</file>